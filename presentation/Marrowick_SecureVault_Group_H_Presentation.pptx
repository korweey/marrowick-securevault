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E8138C9-7961-4EA1-2BFA-A04D29E183CB}">
          <p14:sldIdLst>
            <p14:sldId id="256"/>
            <p14:sldId id="257"/>
            <p14:sldId id="258"/>
            <p14:sldId id="259"/>
            <p14:sldId id="260"/>
          </p14:sldIdLst>
        </p14:section>
        <p14:section name="Solution" id="{E1FC8A29-1B2E-56DF-D54F-02840E61DDF2}">
          <p14:sldIdLst>
            <p14:sldId id="261"/>
          </p14:sldIdLst>
        </p14:section>
        <p14:section name="Controls tested" id="{4A9A8C02-02B5-FAB1-44BA-4F4AE1E761A4}">
          <p14:sldIdLst>
            <p14:sldId id="262"/>
            <p14:sldId id="263"/>
            <p14:sldId id="264"/>
            <p14:sldId id="265"/>
            <p14:sldId id="266"/>
          </p14:sldIdLst>
        </p14:section>
        <p14:section name="Governance" id="{0BC0FB5F-9229-06A9-0BA2-860C717CCB29}">
          <p14:sldIdLst>
            <p14:sldId id="267"/>
            <p14:sldId id="268"/>
            <p14:sldId id="269"/>
          </p14:sldIdLst>
        </p14:section>
        <p14:section name="Close" id="{BA4EB102-FF26-024C-D78C-5A9911E37242}">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13C"/>
                </a:solidFill>
                <a:latin typeface="+mn-lt"/>
              </a:defRPr>
            </a:pPr>
            <a:r>
              <a:rPr lang="en-US" sz="1400" b="0" i="0" u="none" strike="noStrike">
                <a:solidFill>
                  <a:srgbClr val="13213C"/>
                </a:solidFill>
                <a:latin typeface="+mn-lt"/>
              </a:rPr>
              <a:t>Findings by PII type (24 matches across the 14 rows)</a:t>
            </a:r>
          </a:p>
        </c:rich>
      </c:tx>
      <c:overlay val="0"/>
    </c:title>
    <c:autoTitleDeleted val="0"/>
    <c:plotArea>
      <c:layout/>
      <c:barChart>
        <c:barDir val="bar"/>
        <c:grouping val="clustered"/>
        <c:varyColors val="0"/>
        <c:ser>
          <c:idx val="0"/>
          <c:order val="0"/>
          <c:tx>
            <c:strRef>
              <c:f>Sheet1!$B$1</c:f>
              <c:strCache>
                <c:ptCount val="1"/>
                <c:pt idx="0">
                  <c:v>Matches</c:v>
                </c:pt>
              </c:strCache>
            </c:strRef>
          </c:tx>
          <c:spPr>
            <a:solidFill>
              <a:srgbClr val="1D6F8A"/>
            </a:solidFill>
            <a:effectLst/>
          </c:spPr>
          <c:invertIfNegative val="0"/>
          <c:dLbls>
            <c:numFmt formatCode="#,##0" sourceLinked="0"/>
            <c:spPr>
              <a:noFill/>
              <a:ln>
                <a:noFill/>
              </a:ln>
              <a:effectLst/>
            </c:spPr>
            <c:txPr>
              <a:bodyPr/>
              <a:lstStyle/>
              <a:p>
                <a:pPr>
                  <a:defRPr sz="1200" b="0" i="0" u="none" strike="noStrike">
                    <a:solidFill>
                      <a:srgbClr val="13213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Health card</c:v>
                </c:pt>
                <c:pt idx="1">
                  <c:v>Email</c:v>
                </c:pt>
                <c:pt idx="2">
                  <c:v>Street address</c:v>
                </c:pt>
                <c:pt idx="3">
                  <c:v>SIN</c:v>
                </c:pt>
              </c:strCache>
            </c:strRef>
          </c:cat>
          <c:val>
            <c:numRef>
              <c:f>Sheet1!$B$2:$B$5</c:f>
              <c:numCache>
                <c:formatCode>General</c:formatCode>
                <c:ptCount val="4"/>
                <c:pt idx="0">
                  <c:v>10</c:v>
                </c:pt>
                <c:pt idx="1">
                  <c:v>8</c:v>
                </c:pt>
                <c:pt idx="2">
                  <c:v>5</c:v>
                </c:pt>
                <c:pt idx="3">
                  <c:v>1</c:v>
                </c:pt>
              </c:numCache>
            </c:numRef>
          </c:val>
          <c:extLst>
            <c:ext xmlns:c16="http://schemas.microsoft.com/office/drawing/2014/chart" uri="{C3380CC4-5D6E-409C-BE32-E72D297353CC}">
              <c16:uniqueId val="{00000000-EC8C-4878-BC1D-0B53576FFBA5}"/>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3213C"/>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1957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Qawiyy (0:00 to 0:20).
Good afternoon. We are Group H. I am Qawiyy, the cloud security engineer who built and deployed the platform, and this is Saheedat, our security test and compliance analyst, who tested every control. Our project is Marrowick SecureVault: the guardrails around a health analytics data lake.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Qawiyy (0:20 to 0:35).
We split the work by role. I built and deployed every component. Saheedat tested every control, analysed the results against the brief and mapped them to compliance principles. We each present the parts we owned.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Qawiyy (0:35 to 0:45).
Here is our plan. We start with the problem, then the architecture, then each control with its evidence, including a live run of the PII gate. We finish with governance, lessons and your questions.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Qawiyy (0:45 to 1:25).
Marrowick is a fictional health analytics vendor. Three clinics send 615 encounter records. Fourteen of those rows have personal information pasted into a free text notes field, which is exactly what happens in real intake. The platform faces four risks: identifiers in free text, one clinic seeing another clinic's data, encryption that can be weakened, and no proof of who accessed what. Our job was not the analytics. It was the guardrails, and proving they hold.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Qawiyy (1:25 to 1:50).
We set four objectives, each with a pass condition we could test: enforced encryption, an automated PII gate, separation between clinics and between roles, and an audit trail. Around those we built a governance package.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Qawiyy (1:50 to 2:40).
Each clinic uploads a CSV into its own folder in the raw bucket. A Step Functions workflow runs a Lambda that scans the batch. A clean batch is copied to the curated zone; a batch with PII is copied to quarantine and the security team gets an SNS email. A Glue crawler catalogs only the curated zone, and analysts query it through role scoped Athena views. CloudTrail runs underneath everything and we query its logs with Athena. One customer managed KMS key encrypts all three zones.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Qawiyy (2:40 to 3:20).
Every tenant bucket uses our customer managed key. The key policy separates duties: a human operator administers the key while the pipeline role can only use it, and rotation is automatic every year. But default encryption can be overridden on upload, so each bucket policy denies non HTTPS traffic, non KMS uploads and any other key. Here is the proof: an upload that asked for weaker SSE-S3 encryption was refused. Saheedat ran this test. Over to Saheedat.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Saheedat (3:20 to 4:30).
[Switch to the AWS console and start the execution on the Clinic B raw file.]
This is the hard gate. The Lambda checks every free text field for health card numbers, SIN formatted numbers, emails and street addresses. It found PII, so the Choice state sends the batch to quarantine, notifies the security team, and the run ends in a deliberate failure called PIIDetected. PromoteToCurated never ran.
[Switch to the inbox.] Here is the alert. It lists the flagged encounter IDs and the finding types, but never the PII values, so the alert itself cannot leak data.
If the live run fails, play clip 4 from the demo video and keep talking.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Saheedat (4:30 to 4:55).
I checked every detection against the instructor answer key. All fourteen seeded rows were flagged and no clean row was flagged, so precision and recall are both 1.00. Health card numbers and emails were the most common leaks. After a data steward redacted only the flagged notes and resubmitted a version 2 file, the same gate promoted all three batches.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Saheedat (4:55 to 5:40).
Lake Formation is blocked in the Learner Lab, so we enforced the same rules with role scoped Athena views and tested them by actually attempting the forbidden queries. The clinic analyst sees only Clinic A, 191 rows. Asking for Clinic B returns nothing. Asking for the notes field, the one that leaked PII, is refused with COLUMN_NOT_FOUND. The corporate analyst sees all three clinics but neither notes nor patient references, so they cannot link one patient across clinics. Seven of seven passed.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Saheedat (5:40 to 6:20).
We query CloudTrail with Athena. Question one: who accessed Clinic C's curated data? You can see the pipeline copying it in, the Glue crawler reading it, then three analyst queries, each with identity, time and service. Question two lists every bucket security change with who made it and when. Question three found an anomaly: a burst of denied Lake Formation calls, a principal repeatedly probing a security service it is not allowed to use. Times are in UTC.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Qawiyy (6:20 to 6:50).
Three things the lab blocked. IAM role creation, so everything ran as LabRole; we wrote a least privilege policy for each role and marked it design only. Lake Formation, so we used views, which are weaker; our production design pairs Lake Formation filters with an explicit deny on direct S3 access. And tagged principals, so the per tenant bucket policy rules are deployed but untested. What stayed enforced regardless: the key policy, the bucket policies and the gate itself.</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Saheedat (6:50 to 7:10).
I mapped each control to a PIPEDA principle. Safeguards, limiting collection and limiting use are strong because we tested them. Accountability and accuracy are partial. Just as important is what we do not cover: consent, individual access, retention rules and Ontario's PHIPA. This is a learning exercise, not a certification.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Saheedat (7:10 to 7:25).
If a control ever failed, the runbook covers four scenarios. For example, if PII reached curated, we contain it by moving the file to quarantine and cutting access, investigate with audit query one to see who read it, fix the pattern and retest, and then assess whether PIPEDA breach reporting applies.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Qawiyy (7:25 to 7:45).
Four lessons. Turn CloudTrail on first, because it only records from that moment. Verify every console default. Make sure a test fails for the right reason; our first encryption test passed by accident. And conventions are not controls. Next we would deploy Lake Formation and per role IAM in a full account, add Macie, alarms, masking and retention rules.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Saheedat (7:45 to 8:00).
In short: data encrypted with enforcement, PII blocked end to end with alerts, tenant and column separation tested, and every access auditable, with an honest account of what the lab did not allow. Everything is in our GitHub repository.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CCGC 5506 Data Engineering  ·  Group H  ·  Marrowick SecureVault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914400"/>
            <a:ext cx="8229600" cy="320040"/>
          </a:xfrm>
          <a:prstGeom prst="rect">
            <a:avLst/>
          </a:prstGeom>
          <a:noFill/>
          <a:ln/>
        </p:spPr>
        <p:txBody>
          <a:bodyPr wrap="square" lIns="0" tIns="0" rIns="0" bIns="0" rtlCol="0" anchor="ctr"/>
          <a:lstStyle/>
          <a:p>
            <a:pPr marL="0" indent="0">
              <a:buNone/>
            </a:pPr>
            <a:r>
              <a:rPr lang="en-US" sz="1400" b="1" kern="0" spc="200" dirty="0">
                <a:solidFill>
                  <a:schemeClr val="accent1"/>
                </a:solidFill>
              </a:rPr>
              <a:t>CCGC 5506 EMERGING TECHNOLOGY·  MIDTERM PROJECT 4  ·  GROUP H</a:t>
            </a:r>
            <a:endParaRPr lang="en-US" sz="1400" dirty="0"/>
          </a:p>
        </p:txBody>
      </p:sp>
      <p:sp>
        <p:nvSpPr>
          <p:cNvPr id="3" name="Text 1"/>
          <p:cNvSpPr txBox="1"/>
          <p:nvPr/>
        </p:nvSpPr>
        <p:spPr>
          <a:xfrm>
            <a:off x="731520" y="1371600"/>
            <a:ext cx="8229600" cy="914400"/>
          </a:xfrm>
          <a:prstGeom prst="rect">
            <a:avLst/>
          </a:prstGeom>
          <a:noFill/>
          <a:ln/>
        </p:spPr>
        <p:txBody>
          <a:bodyPr wrap="square" lIns="0" tIns="0" rIns="0" bIns="0" rtlCol="0" anchor="ctr"/>
          <a:lstStyle/>
          <a:p>
            <a:pPr marL="0" indent="0">
              <a:buNone/>
            </a:pPr>
            <a:r>
              <a:rPr lang="en-US" sz="5400" b="1" dirty="0">
                <a:solidFill>
                  <a:schemeClr val="bg1"/>
                </a:solidFill>
              </a:rPr>
              <a:t>Marrowick SecureVault</a:t>
            </a:r>
            <a:endParaRPr lang="en-US" sz="5400" dirty="0"/>
          </a:p>
        </p:txBody>
      </p:sp>
      <p:sp>
        <p:nvSpPr>
          <p:cNvPr id="4" name="Text 2"/>
          <p:cNvSpPr txBox="1"/>
          <p:nvPr/>
        </p:nvSpPr>
        <p:spPr>
          <a:xfrm>
            <a:off x="731520" y="2377440"/>
            <a:ext cx="7132320" cy="822960"/>
          </a:xfrm>
          <a:prstGeom prst="rect">
            <a:avLst/>
          </a:prstGeom>
          <a:noFill/>
          <a:ln/>
        </p:spPr>
        <p:txBody>
          <a:bodyPr wrap="square" lIns="0" tIns="0" rIns="0" bIns="0" rtlCol="0" anchor="ctr"/>
          <a:lstStyle/>
          <a:p>
            <a:pPr marL="0" indent="0">
              <a:buNone/>
            </a:pPr>
            <a:r>
              <a:rPr lang="en-US" sz="2000" dirty="0">
                <a:solidFill>
                  <a:srgbClr val="CADCEB"/>
                </a:solidFill>
              </a:rPr>
              <a:t>Governance, security and compliance guardrails for a multi tenant health analytics data lake on AWS</a:t>
            </a:r>
            <a:endParaRPr lang="en-US" sz="2000" dirty="0"/>
          </a:p>
        </p:txBody>
      </p:sp>
      <p:sp>
        <p:nvSpPr>
          <p:cNvPr id="5" name="Text 3"/>
          <p:cNvSpPr txBox="1"/>
          <p:nvPr/>
        </p:nvSpPr>
        <p:spPr>
          <a:xfrm>
            <a:off x="731520" y="3794760"/>
            <a:ext cx="3474720" cy="365760"/>
          </a:xfrm>
          <a:prstGeom prst="rect">
            <a:avLst/>
          </a:prstGeom>
          <a:noFill/>
          <a:ln/>
        </p:spPr>
        <p:txBody>
          <a:bodyPr wrap="square" lIns="0" tIns="0" rIns="0" bIns="0" rtlCol="0" anchor="ctr"/>
          <a:lstStyle/>
          <a:p>
            <a:pPr marL="0" indent="0">
              <a:buNone/>
            </a:pPr>
            <a:r>
              <a:rPr lang="en-US" sz="2000" b="1" dirty="0">
                <a:solidFill>
                  <a:schemeClr val="bg1"/>
                </a:solidFill>
              </a:rPr>
              <a:t>Qawiyy A. Rabiu</a:t>
            </a:r>
            <a:endParaRPr lang="en-US" sz="2000" dirty="0"/>
          </a:p>
        </p:txBody>
      </p:sp>
      <p:sp>
        <p:nvSpPr>
          <p:cNvPr id="6" name="Text 4"/>
          <p:cNvSpPr txBox="1"/>
          <p:nvPr/>
        </p:nvSpPr>
        <p:spPr>
          <a:xfrm>
            <a:off x="731520" y="4160520"/>
            <a:ext cx="3474720" cy="548640"/>
          </a:xfrm>
          <a:prstGeom prst="rect">
            <a:avLst/>
          </a:prstGeom>
          <a:noFill/>
          <a:ln/>
        </p:spPr>
        <p:txBody>
          <a:bodyPr wrap="square" lIns="0" tIns="0" rIns="0" bIns="0" rtlCol="0" anchor="ctr"/>
          <a:lstStyle/>
          <a:p>
            <a:pPr marL="0" indent="0">
              <a:buNone/>
            </a:pPr>
            <a:r>
              <a:rPr lang="en-US" sz="1300" dirty="0">
                <a:solidFill>
                  <a:srgbClr val="CADCEB"/>
                </a:solidFill>
              </a:rPr>
              <a:t>N10038749  </a:t>
            </a:r>
            <a:endParaRPr lang="en-US" sz="1300" dirty="0"/>
          </a:p>
        </p:txBody>
      </p:sp>
      <p:sp>
        <p:nvSpPr>
          <p:cNvPr id="7" name="Text 5"/>
          <p:cNvSpPr txBox="1"/>
          <p:nvPr/>
        </p:nvSpPr>
        <p:spPr>
          <a:xfrm>
            <a:off x="4480560" y="3794760"/>
            <a:ext cx="3474720" cy="365760"/>
          </a:xfrm>
          <a:prstGeom prst="rect">
            <a:avLst/>
          </a:prstGeom>
          <a:noFill/>
          <a:ln/>
        </p:spPr>
        <p:txBody>
          <a:bodyPr wrap="square" lIns="0" tIns="0" rIns="0" bIns="0" rtlCol="0" anchor="ctr"/>
          <a:lstStyle/>
          <a:p>
            <a:pPr marL="0" indent="0">
              <a:buNone/>
            </a:pPr>
            <a:r>
              <a:rPr lang="en-US" sz="2000" b="1" dirty="0">
                <a:solidFill>
                  <a:schemeClr val="bg1"/>
                </a:solidFill>
              </a:rPr>
              <a:t>Saheedat O. Abbas</a:t>
            </a:r>
            <a:endParaRPr lang="en-US" sz="2000" dirty="0"/>
          </a:p>
        </p:txBody>
      </p:sp>
      <p:sp>
        <p:nvSpPr>
          <p:cNvPr id="8" name="Text 6"/>
          <p:cNvSpPr txBox="1"/>
          <p:nvPr/>
        </p:nvSpPr>
        <p:spPr>
          <a:xfrm>
            <a:off x="4480560" y="4160520"/>
            <a:ext cx="3474720" cy="548640"/>
          </a:xfrm>
          <a:prstGeom prst="rect">
            <a:avLst/>
          </a:prstGeom>
          <a:noFill/>
          <a:ln/>
        </p:spPr>
        <p:txBody>
          <a:bodyPr wrap="square" lIns="0" tIns="0" rIns="0" bIns="0" rtlCol="0" anchor="ctr"/>
          <a:lstStyle/>
          <a:p>
            <a:pPr marL="0" indent="0">
              <a:buNone/>
            </a:pPr>
            <a:r>
              <a:rPr lang="en-US" sz="1300" dirty="0">
                <a:solidFill>
                  <a:srgbClr val="CADCEB"/>
                </a:solidFill>
              </a:rPr>
              <a:t>N10038753  </a:t>
            </a:r>
            <a:endParaRPr lang="en-US" sz="1300" dirty="0"/>
          </a:p>
        </p:txBody>
      </p:sp>
      <p:sp>
        <p:nvSpPr>
          <p:cNvPr id="9" name="Text 7"/>
          <p:cNvSpPr txBox="1"/>
          <p:nvPr/>
        </p:nvSpPr>
        <p:spPr>
          <a:xfrm>
            <a:off x="731520" y="6035040"/>
            <a:ext cx="8229600" cy="274320"/>
          </a:xfrm>
          <a:prstGeom prst="rect">
            <a:avLst/>
          </a:prstGeom>
          <a:noFill/>
          <a:ln/>
        </p:spPr>
        <p:txBody>
          <a:bodyPr wrap="square" lIns="0" tIns="0" rIns="0" bIns="0" rtlCol="0" anchor="ctr"/>
          <a:lstStyle/>
          <a:p>
            <a:pPr marL="0" indent="0">
              <a:buNone/>
            </a:pPr>
            <a:r>
              <a:rPr lang="en-US" sz="1200" dirty="0">
                <a:solidFill>
                  <a:srgbClr val="8FA3BC"/>
                </a:solidFill>
              </a:rPr>
              <a:t>Humber Polytechnic  · October 23, 2026  </a:t>
            </a:r>
            <a:endParaRPr lang="en-US" sz="1200" dirty="0"/>
          </a:p>
        </p:txBody>
      </p:sp>
      <p:sp>
        <p:nvSpPr>
          <p:cNvPr id="10" name="Shape 8"/>
          <p:cNvSpPr/>
          <p:nvPr/>
        </p:nvSpPr>
        <p:spPr>
          <a:xfrm>
            <a:off x="8732520" y="1463040"/>
            <a:ext cx="2743200" cy="2743200"/>
          </a:xfrm>
          <a:prstGeom prst="ellipse">
            <a:avLst/>
          </a:prstGeom>
          <a:solidFill>
            <a:srgbClr val="1E3254"/>
          </a:solidFill>
          <a:ln/>
        </p:spPr>
        <p:txBody>
          <a:bodyPr/>
          <a:lstStyle/>
          <a:p>
            <a:endParaRPr lang="en-CA"/>
          </a:p>
        </p:txBody>
      </p:sp>
      <p:pic>
        <p:nvPicPr>
          <p:cNvPr id="11" name="shield icon" descr="preencoded.png"/>
          <p:cNvPicPr>
            <a:picLocks noChangeAspect="1"/>
          </p:cNvPicPr>
          <p:nvPr/>
        </p:nvPicPr>
        <p:blipFill>
          <a:blip r:embed="rId3"/>
          <a:stretch>
            <a:fillRect/>
          </a:stretch>
        </p:blipFill>
        <p:spPr>
          <a:xfrm>
            <a:off x="9418320" y="214884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Meet Group H</a:t>
            </a:r>
            <a:endParaRPr lang="en-US" sz="3200" dirty="0"/>
          </a:p>
        </p:txBody>
      </p:sp>
      <p:sp>
        <p:nvSpPr>
          <p:cNvPr id="3" name="team card 1"/>
          <p:cNvSpPr/>
          <p:nvPr/>
        </p:nvSpPr>
        <p:spPr>
          <a:xfrm>
            <a:off x="548640" y="1325880"/>
            <a:ext cx="5349240" cy="4754880"/>
          </a:xfrm>
          <a:prstGeom prst="roundRect">
            <a:avLst>
              <a:gd name="adj" fmla="val 1538"/>
            </a:avLst>
          </a:prstGeom>
          <a:solidFill>
            <a:schemeClr val="bg2"/>
          </a:solidFill>
          <a:ln/>
        </p:spPr>
        <p:txBody>
          <a:bodyPr/>
          <a:lstStyle/>
          <a:p>
            <a:endParaRPr lang="en-CA"/>
          </a:p>
        </p:txBody>
      </p:sp>
      <p:sp>
        <p:nvSpPr>
          <p:cNvPr id="4" name="team 1 circle"/>
          <p:cNvSpPr/>
          <p:nvPr/>
        </p:nvSpPr>
        <p:spPr>
          <a:xfrm>
            <a:off x="868680" y="1600200"/>
            <a:ext cx="822960" cy="822960"/>
          </a:xfrm>
          <a:prstGeom prst="ellipse">
            <a:avLst/>
          </a:prstGeom>
          <a:solidFill>
            <a:schemeClr val="tx2"/>
          </a:solidFill>
          <a:ln/>
        </p:spPr>
        <p:txBody>
          <a:bodyPr/>
          <a:lstStyle/>
          <a:p>
            <a:endParaRPr lang="en-CA"/>
          </a:p>
        </p:txBody>
      </p:sp>
      <p:pic>
        <p:nvPicPr>
          <p:cNvPr id="5" name="team 1 icon" descr="preencoded.png"/>
          <p:cNvPicPr>
            <a:picLocks noChangeAspect="1"/>
          </p:cNvPicPr>
          <p:nvPr/>
        </p:nvPicPr>
        <p:blipFill>
          <a:blip r:embed="rId3"/>
          <a:stretch>
            <a:fillRect/>
          </a:stretch>
        </p:blipFill>
        <p:spPr>
          <a:xfrm>
            <a:off x="1074420" y="1805940"/>
            <a:ext cx="411480" cy="411480"/>
          </a:xfrm>
          <a:prstGeom prst="rect">
            <a:avLst/>
          </a:prstGeom>
        </p:spPr>
      </p:pic>
      <p:sp>
        <p:nvSpPr>
          <p:cNvPr id="6" name="Text 3"/>
          <p:cNvSpPr txBox="1"/>
          <p:nvPr/>
        </p:nvSpPr>
        <p:spPr>
          <a:xfrm>
            <a:off x="1874520" y="1600200"/>
            <a:ext cx="3840480" cy="411480"/>
          </a:xfrm>
          <a:prstGeom prst="rect">
            <a:avLst/>
          </a:prstGeom>
          <a:noFill/>
          <a:ln/>
        </p:spPr>
        <p:txBody>
          <a:bodyPr wrap="square" lIns="0" tIns="0" rIns="0" bIns="0" rtlCol="0" anchor="ctr"/>
          <a:lstStyle/>
          <a:p>
            <a:pPr marL="0" indent="0">
              <a:buNone/>
            </a:pPr>
            <a:r>
              <a:rPr lang="en-US" sz="2200" b="1" dirty="0">
                <a:solidFill>
                  <a:schemeClr val="tx1"/>
                </a:solidFill>
              </a:rPr>
              <a:t>Qawiyy A. Rabiu</a:t>
            </a:r>
            <a:endParaRPr lang="en-US" sz="2200" dirty="0"/>
          </a:p>
        </p:txBody>
      </p:sp>
      <p:sp>
        <p:nvSpPr>
          <p:cNvPr id="7" name="Text 4"/>
          <p:cNvSpPr txBox="1"/>
          <p:nvPr/>
        </p:nvSpPr>
        <p:spPr>
          <a:xfrm>
            <a:off x="1874520" y="2011680"/>
            <a:ext cx="3840480" cy="502920"/>
          </a:xfrm>
          <a:prstGeom prst="rect">
            <a:avLst/>
          </a:prstGeom>
          <a:noFill/>
          <a:ln/>
        </p:spPr>
        <p:txBody>
          <a:bodyPr wrap="square" lIns="0" tIns="0" rIns="0" bIns="0" rtlCol="0" anchor="ctr"/>
          <a:lstStyle/>
          <a:p>
            <a:pPr marL="0" indent="0">
              <a:buNone/>
            </a:pPr>
            <a:r>
              <a:rPr lang="en-US" sz="1300" b="1" dirty="0">
                <a:solidFill>
                  <a:schemeClr val="tx2"/>
                </a:solidFill>
              </a:rPr>
              <a:t>N10038749  ·  Cloud Security Engineer (Build and Deployment)</a:t>
            </a:r>
            <a:endParaRPr lang="en-US" sz="1300" dirty="0"/>
          </a:p>
        </p:txBody>
      </p:sp>
      <p:sp>
        <p:nvSpPr>
          <p:cNvPr id="8" name="Text 5"/>
          <p:cNvSpPr txBox="1"/>
          <p:nvPr/>
        </p:nvSpPr>
        <p:spPr>
          <a:xfrm>
            <a:off x="868680" y="2788920"/>
            <a:ext cx="475488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Built the KMS key, S3 zones, bucket policies and CloudTrail</a:t>
            </a:r>
            <a:endParaRPr lang="en-US" sz="1500" dirty="0"/>
          </a:p>
          <a:p>
            <a:pPr marL="342900" indent="-342900">
              <a:spcAft>
                <a:spcPts val="800"/>
              </a:spcAft>
              <a:buSzPct val="100000"/>
              <a:buChar char="•"/>
            </a:pPr>
            <a:r>
              <a:rPr lang="en-US" sz="1500" dirty="0">
                <a:solidFill>
                  <a:schemeClr val="tx1"/>
                </a:solidFill>
              </a:rPr>
              <a:t>Developed and deployed the PII gate: Lambda, Step Functions, SNS</a:t>
            </a:r>
            <a:endParaRPr lang="en-US" sz="1500" dirty="0"/>
          </a:p>
          <a:p>
            <a:pPr marL="342900" indent="-342900">
              <a:spcAft>
                <a:spcPts val="800"/>
              </a:spcAft>
              <a:buSzPct val="100000"/>
              <a:buChar char="•"/>
            </a:pPr>
            <a:r>
              <a:rPr lang="en-US" sz="1500" dirty="0">
                <a:solidFill>
                  <a:schemeClr val="tx1"/>
                </a:solidFill>
              </a:rPr>
              <a:t>Built the Glue catalog and Athena access views</a:t>
            </a:r>
            <a:endParaRPr lang="en-US" sz="1500" dirty="0"/>
          </a:p>
          <a:p>
            <a:pPr marL="342900" indent="-342900">
              <a:spcAft>
                <a:spcPts val="800"/>
              </a:spcAft>
              <a:buSzPct val="100000"/>
              <a:buChar char="•"/>
            </a:pPr>
            <a:r>
              <a:rPr lang="en-US" sz="1500" dirty="0">
                <a:solidFill>
                  <a:schemeClr val="tx1"/>
                </a:solidFill>
              </a:rPr>
              <a:t>Drafted the IAM policy set; set up the GitHub repository</a:t>
            </a:r>
            <a:endParaRPr lang="en-US" sz="1500" dirty="0"/>
          </a:p>
        </p:txBody>
      </p:sp>
      <p:sp>
        <p:nvSpPr>
          <p:cNvPr id="9" name="Text 6"/>
          <p:cNvSpPr txBox="1"/>
          <p:nvPr/>
        </p:nvSpPr>
        <p:spPr>
          <a:xfrm>
            <a:off x="868680" y="5440680"/>
            <a:ext cx="4754880" cy="365760"/>
          </a:xfrm>
          <a:prstGeom prst="rect">
            <a:avLst/>
          </a:prstGeom>
          <a:noFill/>
          <a:ln/>
        </p:spPr>
        <p:txBody>
          <a:bodyPr wrap="square" lIns="0" tIns="0" rIns="0" bIns="0" rtlCol="0" anchor="ctr"/>
          <a:lstStyle/>
          <a:p>
            <a:pPr marL="0" indent="0">
              <a:buNone/>
            </a:pPr>
            <a:r>
              <a:rPr lang="en-US" sz="1300" i="1" dirty="0">
                <a:solidFill>
                  <a:schemeClr val="accent5"/>
                </a:solidFill>
              </a:rPr>
              <a:t>Presents: problem, architecture, encryption, IAM, lessons</a:t>
            </a:r>
            <a:endParaRPr lang="en-US" sz="1300" dirty="0"/>
          </a:p>
        </p:txBody>
      </p:sp>
      <p:sp>
        <p:nvSpPr>
          <p:cNvPr id="10" name="team card 2"/>
          <p:cNvSpPr/>
          <p:nvPr/>
        </p:nvSpPr>
        <p:spPr>
          <a:xfrm>
            <a:off x="6263640" y="1325880"/>
            <a:ext cx="5349240" cy="4754880"/>
          </a:xfrm>
          <a:prstGeom prst="roundRect">
            <a:avLst>
              <a:gd name="adj" fmla="val 1538"/>
            </a:avLst>
          </a:prstGeom>
          <a:solidFill>
            <a:schemeClr val="bg2"/>
          </a:solidFill>
          <a:ln/>
        </p:spPr>
        <p:txBody>
          <a:bodyPr/>
          <a:lstStyle/>
          <a:p>
            <a:endParaRPr lang="en-CA"/>
          </a:p>
        </p:txBody>
      </p:sp>
      <p:sp>
        <p:nvSpPr>
          <p:cNvPr id="11" name="team 2 circle"/>
          <p:cNvSpPr/>
          <p:nvPr/>
        </p:nvSpPr>
        <p:spPr>
          <a:xfrm>
            <a:off x="6583680" y="1600200"/>
            <a:ext cx="822960" cy="822960"/>
          </a:xfrm>
          <a:prstGeom prst="ellipse">
            <a:avLst/>
          </a:prstGeom>
          <a:solidFill>
            <a:schemeClr val="tx2"/>
          </a:solidFill>
          <a:ln/>
        </p:spPr>
        <p:txBody>
          <a:bodyPr/>
          <a:lstStyle/>
          <a:p>
            <a:endParaRPr lang="en-CA"/>
          </a:p>
        </p:txBody>
      </p:sp>
      <p:pic>
        <p:nvPicPr>
          <p:cNvPr id="12" name="team 2 icon" descr="preencoded.png"/>
          <p:cNvPicPr>
            <a:picLocks noChangeAspect="1"/>
          </p:cNvPicPr>
          <p:nvPr/>
        </p:nvPicPr>
        <p:blipFill>
          <a:blip r:embed="rId4"/>
          <a:stretch>
            <a:fillRect/>
          </a:stretch>
        </p:blipFill>
        <p:spPr>
          <a:xfrm>
            <a:off x="6789420" y="1805940"/>
            <a:ext cx="411480" cy="411480"/>
          </a:xfrm>
          <a:prstGeom prst="rect">
            <a:avLst/>
          </a:prstGeom>
        </p:spPr>
      </p:pic>
      <p:sp>
        <p:nvSpPr>
          <p:cNvPr id="13" name="Text 9"/>
          <p:cNvSpPr txBox="1"/>
          <p:nvPr/>
        </p:nvSpPr>
        <p:spPr>
          <a:xfrm>
            <a:off x="7589520" y="1600200"/>
            <a:ext cx="3840480" cy="411480"/>
          </a:xfrm>
          <a:prstGeom prst="rect">
            <a:avLst/>
          </a:prstGeom>
          <a:noFill/>
          <a:ln/>
        </p:spPr>
        <p:txBody>
          <a:bodyPr wrap="square" lIns="0" tIns="0" rIns="0" bIns="0" rtlCol="0" anchor="ctr"/>
          <a:lstStyle/>
          <a:p>
            <a:pPr marL="0" indent="0">
              <a:buNone/>
            </a:pPr>
            <a:r>
              <a:rPr lang="en-US" sz="2200" b="1" dirty="0">
                <a:solidFill>
                  <a:schemeClr val="tx1"/>
                </a:solidFill>
              </a:rPr>
              <a:t>Saheedat O. Abbas</a:t>
            </a:r>
            <a:endParaRPr lang="en-US" sz="2200" dirty="0"/>
          </a:p>
        </p:txBody>
      </p:sp>
      <p:sp>
        <p:nvSpPr>
          <p:cNvPr id="14" name="Text 10"/>
          <p:cNvSpPr txBox="1"/>
          <p:nvPr/>
        </p:nvSpPr>
        <p:spPr>
          <a:xfrm>
            <a:off x="7589520" y="2011680"/>
            <a:ext cx="3840480" cy="502920"/>
          </a:xfrm>
          <a:prstGeom prst="rect">
            <a:avLst/>
          </a:prstGeom>
          <a:noFill/>
          <a:ln/>
        </p:spPr>
        <p:txBody>
          <a:bodyPr wrap="square" lIns="0" tIns="0" rIns="0" bIns="0" rtlCol="0" anchor="ctr"/>
          <a:lstStyle/>
          <a:p>
            <a:pPr marL="0" indent="0">
              <a:buNone/>
            </a:pPr>
            <a:r>
              <a:rPr lang="en-US" sz="1300" b="1" dirty="0">
                <a:solidFill>
                  <a:schemeClr val="tx2"/>
                </a:solidFill>
              </a:rPr>
              <a:t>N10038753  ·  Security Test and Compliance Analyst</a:t>
            </a:r>
            <a:endParaRPr lang="en-US" sz="1300" dirty="0"/>
          </a:p>
        </p:txBody>
      </p:sp>
      <p:sp>
        <p:nvSpPr>
          <p:cNvPr id="15" name="Text 11"/>
          <p:cNvSpPr txBox="1"/>
          <p:nvPr/>
        </p:nvSpPr>
        <p:spPr>
          <a:xfrm>
            <a:off x="6583680" y="2788920"/>
            <a:ext cx="475488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Ran the encryption enforcement test (SSE-S3 upload denied)</a:t>
            </a:r>
            <a:endParaRPr lang="en-US" sz="1500" dirty="0"/>
          </a:p>
          <a:p>
            <a:pPr marL="342900" indent="-342900">
              <a:spcAft>
                <a:spcPts val="800"/>
              </a:spcAft>
              <a:buSzPct val="100000"/>
              <a:buChar char="•"/>
            </a:pPr>
            <a:r>
              <a:rPr lang="en-US" sz="1500" dirty="0">
                <a:solidFill>
                  <a:schemeClr val="tx1"/>
                </a:solidFill>
              </a:rPr>
              <a:t>Ran all six gate tests; analysed 14 of 14 detection against the answer key</a:t>
            </a:r>
            <a:endParaRPr lang="en-US" sz="1500" dirty="0"/>
          </a:p>
          <a:p>
            <a:pPr marL="342900" indent="-342900">
              <a:spcAft>
                <a:spcPts val="800"/>
              </a:spcAft>
              <a:buSzPct val="100000"/>
              <a:buChar char="•"/>
            </a:pPr>
            <a:r>
              <a:rPr lang="en-US" sz="1500" dirty="0">
                <a:solidFill>
                  <a:schemeClr val="tx1"/>
                </a:solidFill>
              </a:rPr>
              <a:t>Ran access tests T0 to T5b and audit queries Q1 to Q3</a:t>
            </a:r>
            <a:endParaRPr lang="en-US" sz="1500" dirty="0"/>
          </a:p>
          <a:p>
            <a:pPr marL="342900" indent="-342900">
              <a:spcAft>
                <a:spcPts val="800"/>
              </a:spcAft>
              <a:buSzPct val="100000"/>
              <a:buChar char="•"/>
            </a:pPr>
            <a:r>
              <a:rPr lang="en-US" sz="1500" dirty="0">
                <a:solidFill>
                  <a:schemeClr val="tx1"/>
                </a:solidFill>
              </a:rPr>
              <a:t>Mapped controls to PIPEDA; tested the runbook scenarios; signed off</a:t>
            </a:r>
            <a:endParaRPr lang="en-US" sz="1500" dirty="0"/>
          </a:p>
        </p:txBody>
      </p:sp>
      <p:sp>
        <p:nvSpPr>
          <p:cNvPr id="16" name="Text 12"/>
          <p:cNvSpPr txBox="1"/>
          <p:nvPr/>
        </p:nvSpPr>
        <p:spPr>
          <a:xfrm>
            <a:off x="6583680" y="5440680"/>
            <a:ext cx="4754880" cy="365760"/>
          </a:xfrm>
          <a:prstGeom prst="rect">
            <a:avLst/>
          </a:prstGeom>
          <a:noFill/>
          <a:ln/>
        </p:spPr>
        <p:txBody>
          <a:bodyPr wrap="square" lIns="0" tIns="0" rIns="0" bIns="0" rtlCol="0" anchor="ctr"/>
          <a:lstStyle/>
          <a:p>
            <a:pPr marL="0" indent="0">
              <a:buNone/>
            </a:pPr>
            <a:r>
              <a:rPr lang="en-US" sz="1300" i="1" dirty="0">
                <a:solidFill>
                  <a:schemeClr val="accent5"/>
                </a:solidFill>
              </a:rPr>
              <a:t>Presents: PII gate demo, access, audit, compliance, close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Agenda</a:t>
            </a:r>
            <a:endParaRPr lang="en-US" sz="3200" dirty="0"/>
          </a:p>
        </p:txBody>
      </p:sp>
      <p:sp>
        <p:nvSpPr>
          <p:cNvPr id="3" name="Shape 1"/>
          <p:cNvSpPr/>
          <p:nvPr/>
        </p:nvSpPr>
        <p:spPr>
          <a:xfrm>
            <a:off x="548640" y="1417320"/>
            <a:ext cx="731520" cy="731520"/>
          </a:xfrm>
          <a:prstGeom prst="ellipse">
            <a:avLst/>
          </a:prstGeom>
          <a:solidFill>
            <a:schemeClr val="tx2"/>
          </a:solidFill>
          <a:ln/>
        </p:spPr>
        <p:txBody>
          <a:bodyPr/>
          <a:lstStyle/>
          <a:p>
            <a:endParaRPr lang="en-CA"/>
          </a:p>
        </p:txBody>
      </p:sp>
      <p:sp>
        <p:nvSpPr>
          <p:cNvPr id="4" name="Text 2"/>
          <p:cNvSpPr txBox="1"/>
          <p:nvPr/>
        </p:nvSpPr>
        <p:spPr>
          <a:xfrm>
            <a:off x="548640" y="1417320"/>
            <a:ext cx="731520" cy="731520"/>
          </a:xfrm>
          <a:prstGeom prst="rect">
            <a:avLst/>
          </a:prstGeom>
          <a:noFill/>
          <a:ln/>
        </p:spPr>
        <p:txBody>
          <a:bodyPr wrap="square" lIns="0" tIns="0" rIns="0" bIns="0" rtlCol="0" anchor="ctr"/>
          <a:lstStyle/>
          <a:p>
            <a:pPr marL="0" indent="0" algn="ctr">
              <a:buNone/>
            </a:pPr>
            <a:r>
              <a:rPr lang="en-US" sz="1800" b="1" dirty="0">
                <a:solidFill>
                  <a:srgbClr val="FFFFFF"/>
                </a:solidFill>
              </a:rPr>
              <a:t>01</a:t>
            </a:r>
            <a:endParaRPr lang="en-US" sz="1800" dirty="0"/>
          </a:p>
        </p:txBody>
      </p:sp>
      <p:sp>
        <p:nvSpPr>
          <p:cNvPr id="5" name="Text 3"/>
          <p:cNvSpPr txBox="1"/>
          <p:nvPr/>
        </p:nvSpPr>
        <p:spPr>
          <a:xfrm>
            <a:off x="1508760" y="1435608"/>
            <a:ext cx="4480560" cy="384048"/>
          </a:xfrm>
          <a:prstGeom prst="rect">
            <a:avLst/>
          </a:prstGeom>
          <a:noFill/>
          <a:ln/>
        </p:spPr>
        <p:txBody>
          <a:bodyPr wrap="square" lIns="0" tIns="0" rIns="0" bIns="0" rtlCol="0" anchor="ctr"/>
          <a:lstStyle/>
          <a:p>
            <a:pPr marL="0" indent="0">
              <a:buNone/>
            </a:pPr>
            <a:r>
              <a:rPr lang="en-US" sz="1900" b="1" dirty="0">
                <a:solidFill>
                  <a:schemeClr val="tx1"/>
                </a:solidFill>
              </a:rPr>
              <a:t>Problem statement and objectives</a:t>
            </a:r>
            <a:endParaRPr lang="en-US" sz="1900" dirty="0"/>
          </a:p>
        </p:txBody>
      </p:sp>
      <p:sp>
        <p:nvSpPr>
          <p:cNvPr id="6" name="Text 4"/>
          <p:cNvSpPr txBox="1"/>
          <p:nvPr/>
        </p:nvSpPr>
        <p:spPr>
          <a:xfrm>
            <a:off x="1508760" y="1819656"/>
            <a:ext cx="4480560" cy="320040"/>
          </a:xfrm>
          <a:prstGeom prst="rect">
            <a:avLst/>
          </a:prstGeom>
          <a:noFill/>
          <a:ln/>
        </p:spPr>
        <p:txBody>
          <a:bodyPr wrap="square" lIns="0" tIns="0" rIns="0" bIns="0" rtlCol="0" anchor="ctr"/>
          <a:lstStyle/>
          <a:p>
            <a:pPr marL="0" indent="0">
              <a:buNone/>
            </a:pPr>
            <a:r>
              <a:rPr lang="en-US" sz="1400" dirty="0">
                <a:solidFill>
                  <a:schemeClr val="accent5"/>
                </a:solidFill>
              </a:rPr>
              <a:t>Why Marrowick needs guardrails</a:t>
            </a:r>
            <a:endParaRPr lang="en-US" sz="1400" dirty="0"/>
          </a:p>
        </p:txBody>
      </p:sp>
      <p:sp>
        <p:nvSpPr>
          <p:cNvPr id="7" name="Shape 5"/>
          <p:cNvSpPr/>
          <p:nvPr/>
        </p:nvSpPr>
        <p:spPr>
          <a:xfrm>
            <a:off x="548640" y="2560320"/>
            <a:ext cx="731520" cy="731520"/>
          </a:xfrm>
          <a:prstGeom prst="ellipse">
            <a:avLst/>
          </a:prstGeom>
          <a:solidFill>
            <a:schemeClr val="tx2"/>
          </a:solidFill>
          <a:ln/>
        </p:spPr>
        <p:txBody>
          <a:bodyPr/>
          <a:lstStyle/>
          <a:p>
            <a:endParaRPr lang="en-CA"/>
          </a:p>
        </p:txBody>
      </p:sp>
      <p:sp>
        <p:nvSpPr>
          <p:cNvPr id="8" name="Text 6"/>
          <p:cNvSpPr txBox="1"/>
          <p:nvPr/>
        </p:nvSpPr>
        <p:spPr>
          <a:xfrm>
            <a:off x="548640" y="2560320"/>
            <a:ext cx="731520" cy="731520"/>
          </a:xfrm>
          <a:prstGeom prst="rect">
            <a:avLst/>
          </a:prstGeom>
          <a:noFill/>
          <a:ln/>
        </p:spPr>
        <p:txBody>
          <a:bodyPr wrap="square" lIns="0" tIns="0" rIns="0" bIns="0" rtlCol="0" anchor="ctr"/>
          <a:lstStyle/>
          <a:p>
            <a:pPr marL="0" indent="0" algn="ctr">
              <a:buNone/>
            </a:pPr>
            <a:r>
              <a:rPr lang="en-US" sz="1800" b="1" dirty="0">
                <a:solidFill>
                  <a:srgbClr val="FFFFFF"/>
                </a:solidFill>
              </a:rPr>
              <a:t>02</a:t>
            </a:r>
            <a:endParaRPr lang="en-US" sz="1800" dirty="0"/>
          </a:p>
        </p:txBody>
      </p:sp>
      <p:sp>
        <p:nvSpPr>
          <p:cNvPr id="9" name="Text 7"/>
          <p:cNvSpPr txBox="1"/>
          <p:nvPr/>
        </p:nvSpPr>
        <p:spPr>
          <a:xfrm>
            <a:off x="1508760" y="2578608"/>
            <a:ext cx="4480560" cy="384048"/>
          </a:xfrm>
          <a:prstGeom prst="rect">
            <a:avLst/>
          </a:prstGeom>
          <a:noFill/>
          <a:ln/>
        </p:spPr>
        <p:txBody>
          <a:bodyPr wrap="square" lIns="0" tIns="0" rIns="0" bIns="0" rtlCol="0" anchor="ctr"/>
          <a:lstStyle/>
          <a:p>
            <a:pPr marL="0" indent="0">
              <a:buNone/>
            </a:pPr>
            <a:r>
              <a:rPr lang="en-US" sz="1900" b="1" dirty="0">
                <a:solidFill>
                  <a:schemeClr val="tx1"/>
                </a:solidFill>
              </a:rPr>
              <a:t>Architecture</a:t>
            </a:r>
            <a:endParaRPr lang="en-US" sz="1900" dirty="0"/>
          </a:p>
        </p:txBody>
      </p:sp>
      <p:sp>
        <p:nvSpPr>
          <p:cNvPr id="10" name="Text 8"/>
          <p:cNvSpPr txBox="1"/>
          <p:nvPr/>
        </p:nvSpPr>
        <p:spPr>
          <a:xfrm>
            <a:off x="1508760" y="2962656"/>
            <a:ext cx="4480560" cy="320040"/>
          </a:xfrm>
          <a:prstGeom prst="rect">
            <a:avLst/>
          </a:prstGeom>
          <a:noFill/>
          <a:ln/>
        </p:spPr>
        <p:txBody>
          <a:bodyPr wrap="square" lIns="0" tIns="0" rIns="0" bIns="0" rtlCol="0" anchor="ctr"/>
          <a:lstStyle/>
          <a:p>
            <a:pPr marL="0" indent="0">
              <a:buNone/>
            </a:pPr>
            <a:r>
              <a:rPr lang="en-US" sz="1400" dirty="0">
                <a:solidFill>
                  <a:schemeClr val="accent5"/>
                </a:solidFill>
              </a:rPr>
              <a:t>How data moves through the platform</a:t>
            </a:r>
            <a:endParaRPr lang="en-US" sz="1400" dirty="0"/>
          </a:p>
        </p:txBody>
      </p:sp>
      <p:sp>
        <p:nvSpPr>
          <p:cNvPr id="11" name="Shape 9"/>
          <p:cNvSpPr/>
          <p:nvPr/>
        </p:nvSpPr>
        <p:spPr>
          <a:xfrm>
            <a:off x="548640" y="3703320"/>
            <a:ext cx="731520" cy="731520"/>
          </a:xfrm>
          <a:prstGeom prst="ellipse">
            <a:avLst/>
          </a:prstGeom>
          <a:solidFill>
            <a:schemeClr val="tx2"/>
          </a:solidFill>
          <a:ln/>
        </p:spPr>
        <p:txBody>
          <a:bodyPr/>
          <a:lstStyle/>
          <a:p>
            <a:endParaRPr lang="en-CA"/>
          </a:p>
        </p:txBody>
      </p:sp>
      <p:sp>
        <p:nvSpPr>
          <p:cNvPr id="12" name="Text 10"/>
          <p:cNvSpPr txBox="1"/>
          <p:nvPr/>
        </p:nvSpPr>
        <p:spPr>
          <a:xfrm>
            <a:off x="548640" y="3703320"/>
            <a:ext cx="731520" cy="731520"/>
          </a:xfrm>
          <a:prstGeom prst="rect">
            <a:avLst/>
          </a:prstGeom>
          <a:noFill/>
          <a:ln/>
        </p:spPr>
        <p:txBody>
          <a:bodyPr wrap="square" lIns="0" tIns="0" rIns="0" bIns="0" rtlCol="0" anchor="ctr"/>
          <a:lstStyle/>
          <a:p>
            <a:pPr marL="0" indent="0" algn="ctr">
              <a:buNone/>
            </a:pPr>
            <a:r>
              <a:rPr lang="en-US" sz="1800" b="1" dirty="0">
                <a:solidFill>
                  <a:srgbClr val="FFFFFF"/>
                </a:solidFill>
              </a:rPr>
              <a:t>03</a:t>
            </a:r>
            <a:endParaRPr lang="en-US" sz="1800" dirty="0"/>
          </a:p>
        </p:txBody>
      </p:sp>
      <p:sp>
        <p:nvSpPr>
          <p:cNvPr id="13" name="Text 11"/>
          <p:cNvSpPr txBox="1"/>
          <p:nvPr/>
        </p:nvSpPr>
        <p:spPr>
          <a:xfrm>
            <a:off x="1508760" y="3721608"/>
            <a:ext cx="4480560" cy="384048"/>
          </a:xfrm>
          <a:prstGeom prst="rect">
            <a:avLst/>
          </a:prstGeom>
          <a:noFill/>
          <a:ln/>
        </p:spPr>
        <p:txBody>
          <a:bodyPr wrap="square" lIns="0" tIns="0" rIns="0" bIns="0" rtlCol="0" anchor="ctr"/>
          <a:lstStyle/>
          <a:p>
            <a:pPr marL="0" indent="0">
              <a:buNone/>
            </a:pPr>
            <a:r>
              <a:rPr lang="en-US" sz="1900" b="1" dirty="0">
                <a:solidFill>
                  <a:schemeClr val="tx1"/>
                </a:solidFill>
              </a:rPr>
              <a:t>Encryption that is enforced</a:t>
            </a:r>
            <a:endParaRPr lang="en-US" sz="1900" dirty="0"/>
          </a:p>
        </p:txBody>
      </p:sp>
      <p:sp>
        <p:nvSpPr>
          <p:cNvPr id="14" name="Text 12"/>
          <p:cNvSpPr txBox="1"/>
          <p:nvPr/>
        </p:nvSpPr>
        <p:spPr>
          <a:xfrm>
            <a:off x="1508760" y="4105656"/>
            <a:ext cx="4480560" cy="320040"/>
          </a:xfrm>
          <a:prstGeom prst="rect">
            <a:avLst/>
          </a:prstGeom>
          <a:noFill/>
          <a:ln/>
        </p:spPr>
        <p:txBody>
          <a:bodyPr wrap="square" lIns="0" tIns="0" rIns="0" bIns="0" rtlCol="0" anchor="ctr"/>
          <a:lstStyle/>
          <a:p>
            <a:pPr marL="0" indent="0">
              <a:buNone/>
            </a:pPr>
            <a:r>
              <a:rPr lang="en-US" sz="1400" dirty="0">
                <a:solidFill>
                  <a:schemeClr val="accent5"/>
                </a:solidFill>
              </a:rPr>
              <a:t>Customer managed key and bucket policies</a:t>
            </a:r>
            <a:endParaRPr lang="en-US" sz="1400" dirty="0"/>
          </a:p>
        </p:txBody>
      </p:sp>
      <p:sp>
        <p:nvSpPr>
          <p:cNvPr id="15" name="Shape 13"/>
          <p:cNvSpPr/>
          <p:nvPr/>
        </p:nvSpPr>
        <p:spPr>
          <a:xfrm>
            <a:off x="548640" y="4846320"/>
            <a:ext cx="731520" cy="731520"/>
          </a:xfrm>
          <a:prstGeom prst="ellipse">
            <a:avLst/>
          </a:prstGeom>
          <a:solidFill>
            <a:schemeClr val="accent1"/>
          </a:solidFill>
          <a:ln/>
        </p:spPr>
        <p:txBody>
          <a:bodyPr/>
          <a:lstStyle/>
          <a:p>
            <a:endParaRPr lang="en-CA"/>
          </a:p>
        </p:txBody>
      </p:sp>
      <p:sp>
        <p:nvSpPr>
          <p:cNvPr id="16" name="Text 14"/>
          <p:cNvSpPr txBox="1"/>
          <p:nvPr/>
        </p:nvSpPr>
        <p:spPr>
          <a:xfrm>
            <a:off x="548640" y="4846320"/>
            <a:ext cx="731520" cy="731520"/>
          </a:xfrm>
          <a:prstGeom prst="rect">
            <a:avLst/>
          </a:prstGeom>
          <a:noFill/>
          <a:ln/>
        </p:spPr>
        <p:txBody>
          <a:bodyPr wrap="square" lIns="0" tIns="0" rIns="0" bIns="0" rtlCol="0" anchor="ctr"/>
          <a:lstStyle/>
          <a:p>
            <a:pPr marL="0" indent="0" algn="ctr">
              <a:buNone/>
            </a:pPr>
            <a:r>
              <a:rPr lang="en-US" sz="1800" b="1" dirty="0">
                <a:solidFill>
                  <a:srgbClr val="FFFFFF"/>
                </a:solidFill>
              </a:rPr>
              <a:t>04</a:t>
            </a:r>
            <a:endParaRPr lang="en-US" sz="1800" dirty="0"/>
          </a:p>
        </p:txBody>
      </p:sp>
      <p:sp>
        <p:nvSpPr>
          <p:cNvPr id="17" name="Text 15"/>
          <p:cNvSpPr txBox="1"/>
          <p:nvPr/>
        </p:nvSpPr>
        <p:spPr>
          <a:xfrm>
            <a:off x="1508760" y="4864608"/>
            <a:ext cx="4480560" cy="384048"/>
          </a:xfrm>
          <a:prstGeom prst="rect">
            <a:avLst/>
          </a:prstGeom>
          <a:noFill/>
          <a:ln/>
        </p:spPr>
        <p:txBody>
          <a:bodyPr wrap="square" lIns="0" tIns="0" rIns="0" bIns="0" rtlCol="0" anchor="ctr"/>
          <a:lstStyle/>
          <a:p>
            <a:pPr marL="0" indent="0">
              <a:buNone/>
            </a:pPr>
            <a:r>
              <a:rPr lang="en-US" sz="1900" b="1" dirty="0">
                <a:solidFill>
                  <a:schemeClr val="tx1"/>
                </a:solidFill>
              </a:rPr>
              <a:t>The PII gate (live demo)</a:t>
            </a:r>
            <a:endParaRPr lang="en-US" sz="1900" dirty="0"/>
          </a:p>
        </p:txBody>
      </p:sp>
      <p:sp>
        <p:nvSpPr>
          <p:cNvPr id="18" name="Text 16"/>
          <p:cNvSpPr txBox="1"/>
          <p:nvPr/>
        </p:nvSpPr>
        <p:spPr>
          <a:xfrm>
            <a:off x="1508760" y="5248656"/>
            <a:ext cx="4480560" cy="320040"/>
          </a:xfrm>
          <a:prstGeom prst="rect">
            <a:avLst/>
          </a:prstGeom>
          <a:noFill/>
          <a:ln/>
        </p:spPr>
        <p:txBody>
          <a:bodyPr wrap="square" lIns="0" tIns="0" rIns="0" bIns="0" rtlCol="0" anchor="ctr"/>
          <a:lstStyle/>
          <a:p>
            <a:pPr marL="0" indent="0">
              <a:buNone/>
            </a:pPr>
            <a:r>
              <a:rPr lang="en-US" sz="1400" dirty="0">
                <a:solidFill>
                  <a:schemeClr val="accent5"/>
                </a:solidFill>
              </a:rPr>
              <a:t>A bad batch is caught and quarantined</a:t>
            </a:r>
            <a:endParaRPr lang="en-US" sz="1400" dirty="0"/>
          </a:p>
        </p:txBody>
      </p:sp>
      <p:sp>
        <p:nvSpPr>
          <p:cNvPr id="19" name="Shape 17"/>
          <p:cNvSpPr/>
          <p:nvPr/>
        </p:nvSpPr>
        <p:spPr>
          <a:xfrm>
            <a:off x="6263640" y="1417320"/>
            <a:ext cx="731520" cy="731520"/>
          </a:xfrm>
          <a:prstGeom prst="ellipse">
            <a:avLst/>
          </a:prstGeom>
          <a:solidFill>
            <a:schemeClr val="tx2"/>
          </a:solidFill>
          <a:ln/>
        </p:spPr>
        <p:txBody>
          <a:bodyPr/>
          <a:lstStyle/>
          <a:p>
            <a:endParaRPr lang="en-CA"/>
          </a:p>
        </p:txBody>
      </p:sp>
      <p:sp>
        <p:nvSpPr>
          <p:cNvPr id="20" name="Text 18"/>
          <p:cNvSpPr txBox="1"/>
          <p:nvPr/>
        </p:nvSpPr>
        <p:spPr>
          <a:xfrm>
            <a:off x="6263640" y="1417320"/>
            <a:ext cx="731520" cy="731520"/>
          </a:xfrm>
          <a:prstGeom prst="rect">
            <a:avLst/>
          </a:prstGeom>
          <a:noFill/>
          <a:ln/>
        </p:spPr>
        <p:txBody>
          <a:bodyPr wrap="square" lIns="0" tIns="0" rIns="0" bIns="0" rtlCol="0" anchor="ctr"/>
          <a:lstStyle/>
          <a:p>
            <a:pPr marL="0" indent="0" algn="ctr">
              <a:buNone/>
            </a:pPr>
            <a:r>
              <a:rPr lang="en-US" sz="1800" b="1" dirty="0">
                <a:solidFill>
                  <a:srgbClr val="FFFFFF"/>
                </a:solidFill>
              </a:rPr>
              <a:t>05</a:t>
            </a:r>
            <a:endParaRPr lang="en-US" sz="1800" dirty="0"/>
          </a:p>
        </p:txBody>
      </p:sp>
      <p:sp>
        <p:nvSpPr>
          <p:cNvPr id="21" name="Text 19"/>
          <p:cNvSpPr txBox="1"/>
          <p:nvPr/>
        </p:nvSpPr>
        <p:spPr>
          <a:xfrm>
            <a:off x="7223760" y="1435608"/>
            <a:ext cx="4480560" cy="384048"/>
          </a:xfrm>
          <a:prstGeom prst="rect">
            <a:avLst/>
          </a:prstGeom>
          <a:noFill/>
          <a:ln/>
        </p:spPr>
        <p:txBody>
          <a:bodyPr wrap="square" lIns="0" tIns="0" rIns="0" bIns="0" rtlCol="0" anchor="ctr"/>
          <a:lstStyle/>
          <a:p>
            <a:pPr marL="0" indent="0">
              <a:buNone/>
            </a:pPr>
            <a:r>
              <a:rPr lang="en-US" sz="1900" b="1" dirty="0">
                <a:solidFill>
                  <a:schemeClr val="tx1"/>
                </a:solidFill>
              </a:rPr>
              <a:t>Access separation and audit trail</a:t>
            </a:r>
            <a:endParaRPr lang="en-US" sz="1900" dirty="0"/>
          </a:p>
        </p:txBody>
      </p:sp>
      <p:sp>
        <p:nvSpPr>
          <p:cNvPr id="22" name="Text 20"/>
          <p:cNvSpPr txBox="1"/>
          <p:nvPr/>
        </p:nvSpPr>
        <p:spPr>
          <a:xfrm>
            <a:off x="7223760" y="1819656"/>
            <a:ext cx="4480560" cy="320040"/>
          </a:xfrm>
          <a:prstGeom prst="rect">
            <a:avLst/>
          </a:prstGeom>
          <a:noFill/>
          <a:ln/>
        </p:spPr>
        <p:txBody>
          <a:bodyPr wrap="square" lIns="0" tIns="0" rIns="0" bIns="0" rtlCol="0" anchor="ctr"/>
          <a:lstStyle/>
          <a:p>
            <a:pPr marL="0" indent="0">
              <a:buNone/>
            </a:pPr>
            <a:r>
              <a:rPr lang="en-US" sz="1400" dirty="0">
                <a:solidFill>
                  <a:schemeClr val="accent5"/>
                </a:solidFill>
              </a:rPr>
              <a:t>Who can see what, and proof of who did</a:t>
            </a:r>
            <a:endParaRPr lang="en-US" sz="1400" dirty="0"/>
          </a:p>
        </p:txBody>
      </p:sp>
      <p:sp>
        <p:nvSpPr>
          <p:cNvPr id="23" name="Shape 21"/>
          <p:cNvSpPr/>
          <p:nvPr/>
        </p:nvSpPr>
        <p:spPr>
          <a:xfrm>
            <a:off x="6263640" y="2560320"/>
            <a:ext cx="731520" cy="731520"/>
          </a:xfrm>
          <a:prstGeom prst="ellipse">
            <a:avLst/>
          </a:prstGeom>
          <a:solidFill>
            <a:schemeClr val="tx2"/>
          </a:solidFill>
          <a:ln/>
        </p:spPr>
        <p:txBody>
          <a:bodyPr/>
          <a:lstStyle/>
          <a:p>
            <a:endParaRPr lang="en-CA"/>
          </a:p>
        </p:txBody>
      </p:sp>
      <p:sp>
        <p:nvSpPr>
          <p:cNvPr id="24" name="Text 22"/>
          <p:cNvSpPr txBox="1"/>
          <p:nvPr/>
        </p:nvSpPr>
        <p:spPr>
          <a:xfrm>
            <a:off x="6263640" y="2560320"/>
            <a:ext cx="731520" cy="731520"/>
          </a:xfrm>
          <a:prstGeom prst="rect">
            <a:avLst/>
          </a:prstGeom>
          <a:noFill/>
          <a:ln/>
        </p:spPr>
        <p:txBody>
          <a:bodyPr wrap="square" lIns="0" tIns="0" rIns="0" bIns="0" rtlCol="0" anchor="ctr"/>
          <a:lstStyle/>
          <a:p>
            <a:pPr marL="0" indent="0" algn="ctr">
              <a:buNone/>
            </a:pPr>
            <a:r>
              <a:rPr lang="en-US" sz="1800" b="1" dirty="0">
                <a:solidFill>
                  <a:srgbClr val="FFFFFF"/>
                </a:solidFill>
              </a:rPr>
              <a:t>06</a:t>
            </a:r>
            <a:endParaRPr lang="en-US" sz="1800" dirty="0"/>
          </a:p>
        </p:txBody>
      </p:sp>
      <p:sp>
        <p:nvSpPr>
          <p:cNvPr id="25" name="Text 23"/>
          <p:cNvSpPr txBox="1"/>
          <p:nvPr/>
        </p:nvSpPr>
        <p:spPr>
          <a:xfrm>
            <a:off x="7223760" y="2578608"/>
            <a:ext cx="4480560" cy="384048"/>
          </a:xfrm>
          <a:prstGeom prst="rect">
            <a:avLst/>
          </a:prstGeom>
          <a:noFill/>
          <a:ln/>
        </p:spPr>
        <p:txBody>
          <a:bodyPr wrap="square" lIns="0" tIns="0" rIns="0" bIns="0" rtlCol="0" anchor="ctr"/>
          <a:lstStyle/>
          <a:p>
            <a:pPr marL="0" indent="0">
              <a:buNone/>
            </a:pPr>
            <a:r>
              <a:rPr lang="en-US" sz="1900" b="1" dirty="0">
                <a:solidFill>
                  <a:schemeClr val="tx1"/>
                </a:solidFill>
              </a:rPr>
              <a:t>IAM, compliance and incident response</a:t>
            </a:r>
            <a:endParaRPr lang="en-US" sz="1900" dirty="0"/>
          </a:p>
        </p:txBody>
      </p:sp>
      <p:sp>
        <p:nvSpPr>
          <p:cNvPr id="26" name="Text 24"/>
          <p:cNvSpPr txBox="1"/>
          <p:nvPr/>
        </p:nvSpPr>
        <p:spPr>
          <a:xfrm>
            <a:off x="7223760" y="2962656"/>
            <a:ext cx="4480560" cy="320040"/>
          </a:xfrm>
          <a:prstGeom prst="rect">
            <a:avLst/>
          </a:prstGeom>
          <a:noFill/>
          <a:ln/>
        </p:spPr>
        <p:txBody>
          <a:bodyPr wrap="square" lIns="0" tIns="0" rIns="0" bIns="0" rtlCol="0" anchor="ctr"/>
          <a:lstStyle/>
          <a:p>
            <a:pPr marL="0" indent="0">
              <a:buNone/>
            </a:pPr>
            <a:r>
              <a:rPr lang="en-US" sz="1400" dirty="0">
                <a:solidFill>
                  <a:schemeClr val="accent5"/>
                </a:solidFill>
              </a:rPr>
              <a:t>Honest scope, PIPEDA mapping, runbook</a:t>
            </a:r>
            <a:endParaRPr lang="en-US" sz="1400" dirty="0"/>
          </a:p>
        </p:txBody>
      </p:sp>
      <p:sp>
        <p:nvSpPr>
          <p:cNvPr id="27" name="Shape 25"/>
          <p:cNvSpPr/>
          <p:nvPr/>
        </p:nvSpPr>
        <p:spPr>
          <a:xfrm>
            <a:off x="6263640" y="3703320"/>
            <a:ext cx="731520" cy="731520"/>
          </a:xfrm>
          <a:prstGeom prst="ellipse">
            <a:avLst/>
          </a:prstGeom>
          <a:solidFill>
            <a:schemeClr val="tx2"/>
          </a:solidFill>
          <a:ln/>
        </p:spPr>
        <p:txBody>
          <a:bodyPr/>
          <a:lstStyle/>
          <a:p>
            <a:endParaRPr lang="en-CA"/>
          </a:p>
        </p:txBody>
      </p:sp>
      <p:sp>
        <p:nvSpPr>
          <p:cNvPr id="28" name="Text 26"/>
          <p:cNvSpPr txBox="1"/>
          <p:nvPr/>
        </p:nvSpPr>
        <p:spPr>
          <a:xfrm>
            <a:off x="6263640" y="3703320"/>
            <a:ext cx="731520" cy="731520"/>
          </a:xfrm>
          <a:prstGeom prst="rect">
            <a:avLst/>
          </a:prstGeom>
          <a:noFill/>
          <a:ln/>
        </p:spPr>
        <p:txBody>
          <a:bodyPr wrap="square" lIns="0" tIns="0" rIns="0" bIns="0" rtlCol="0" anchor="ctr"/>
          <a:lstStyle/>
          <a:p>
            <a:pPr marL="0" indent="0" algn="ctr">
              <a:buNone/>
            </a:pPr>
            <a:r>
              <a:rPr lang="en-US" sz="1800" b="1" dirty="0">
                <a:solidFill>
                  <a:srgbClr val="FFFFFF"/>
                </a:solidFill>
              </a:rPr>
              <a:t>07</a:t>
            </a:r>
            <a:endParaRPr lang="en-US" sz="1800" dirty="0"/>
          </a:p>
        </p:txBody>
      </p:sp>
      <p:sp>
        <p:nvSpPr>
          <p:cNvPr id="29" name="Text 27"/>
          <p:cNvSpPr txBox="1"/>
          <p:nvPr/>
        </p:nvSpPr>
        <p:spPr>
          <a:xfrm>
            <a:off x="7223760" y="3721608"/>
            <a:ext cx="4480560" cy="384048"/>
          </a:xfrm>
          <a:prstGeom prst="rect">
            <a:avLst/>
          </a:prstGeom>
          <a:noFill/>
          <a:ln/>
        </p:spPr>
        <p:txBody>
          <a:bodyPr wrap="square" lIns="0" tIns="0" rIns="0" bIns="0" rtlCol="0" anchor="ctr"/>
          <a:lstStyle/>
          <a:p>
            <a:pPr marL="0" indent="0">
              <a:buNone/>
            </a:pPr>
            <a:r>
              <a:rPr lang="en-US" sz="1900" b="1" dirty="0">
                <a:solidFill>
                  <a:schemeClr val="tx1"/>
                </a:solidFill>
              </a:rPr>
              <a:t>Lessons learned and Q&amp;A</a:t>
            </a:r>
            <a:endParaRPr lang="en-US" sz="1900" dirty="0"/>
          </a:p>
        </p:txBody>
      </p:sp>
      <p:sp>
        <p:nvSpPr>
          <p:cNvPr id="30" name="Text 28"/>
          <p:cNvSpPr txBox="1"/>
          <p:nvPr/>
        </p:nvSpPr>
        <p:spPr>
          <a:xfrm>
            <a:off x="7223760" y="4105656"/>
            <a:ext cx="4480560" cy="320040"/>
          </a:xfrm>
          <a:prstGeom prst="rect">
            <a:avLst/>
          </a:prstGeom>
          <a:noFill/>
          <a:ln/>
        </p:spPr>
        <p:txBody>
          <a:bodyPr wrap="square" lIns="0" tIns="0" rIns="0" bIns="0" rtlCol="0" anchor="ctr"/>
          <a:lstStyle/>
          <a:p>
            <a:pPr marL="0" indent="0">
              <a:buNone/>
            </a:pPr>
            <a:r>
              <a:rPr lang="en-US" sz="1400" dirty="0">
                <a:solidFill>
                  <a:schemeClr val="accent5"/>
                </a:solidFill>
              </a:rPr>
              <a:t>What we would do next</a:t>
            </a:r>
            <a:endParaRPr lang="en-US" sz="14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ctr">
              <a:buNone/>
            </a:pPr>
            <a:r>
              <a:rPr lang="en-US" sz="3200" b="1" dirty="0">
                <a:solidFill>
                  <a:schemeClr val="tx1"/>
                </a:solidFill>
              </a:rPr>
              <a:t>Problem statement</a:t>
            </a:r>
            <a:endParaRPr lang="en-US" sz="3200" dirty="0"/>
          </a:p>
        </p:txBody>
      </p:sp>
      <p:sp>
        <p:nvSpPr>
          <p:cNvPr id="3" name="Text 1"/>
          <p:cNvSpPr txBox="1"/>
          <p:nvPr/>
        </p:nvSpPr>
        <p:spPr>
          <a:xfrm>
            <a:off x="548640" y="1371600"/>
            <a:ext cx="4937760" cy="1737360"/>
          </a:xfrm>
          <a:prstGeom prst="rect">
            <a:avLst/>
          </a:prstGeom>
          <a:noFill/>
          <a:ln/>
        </p:spPr>
        <p:txBody>
          <a:bodyPr wrap="square" lIns="0" tIns="0" rIns="0" bIns="0" rtlCol="0" anchor="t"/>
          <a:lstStyle/>
          <a:p>
            <a:pPr marL="0" indent="0">
              <a:buNone/>
            </a:pPr>
            <a:r>
              <a:rPr lang="en-US" sz="1700" b="1" dirty="0">
                <a:solidFill>
                  <a:schemeClr val="tx1"/>
                </a:solidFill>
              </a:rPr>
              <a:t>Marrowick Health Analytics</a:t>
            </a:r>
            <a:r>
              <a:rPr lang="en-US" sz="1700" dirty="0">
                <a:solidFill>
                  <a:schemeClr val="tx1"/>
                </a:solidFill>
              </a:rPr>
              <a:t> ingests de-identified encounter and billing data from independent clinic partners into one shared analytics platform. </a:t>
            </a:r>
          </a:p>
          <a:p>
            <a:pPr marL="0" indent="0">
              <a:buNone/>
            </a:pPr>
            <a:endParaRPr lang="en-US" sz="1700" dirty="0"/>
          </a:p>
          <a:p>
            <a:pPr marL="0" indent="0">
              <a:buNone/>
            </a:pPr>
            <a:r>
              <a:rPr lang="en-US" sz="1700" dirty="0">
                <a:solidFill>
                  <a:schemeClr val="tx1"/>
                </a:solidFill>
              </a:rPr>
              <a:t>To pass a partner security review, it must prove with evidence, not just policy, that the data is protected.</a:t>
            </a:r>
            <a:endParaRPr lang="en-US" sz="1700" dirty="0"/>
          </a:p>
        </p:txBody>
      </p:sp>
      <p:sp>
        <p:nvSpPr>
          <p:cNvPr id="4" name="stat clinic partners"/>
          <p:cNvSpPr/>
          <p:nvPr/>
        </p:nvSpPr>
        <p:spPr>
          <a:xfrm>
            <a:off x="548640" y="3429000"/>
            <a:ext cx="1508760" cy="1417320"/>
          </a:xfrm>
          <a:prstGeom prst="roundRect">
            <a:avLst>
              <a:gd name="adj" fmla="val 5161"/>
            </a:avLst>
          </a:prstGeom>
          <a:solidFill>
            <a:schemeClr val="bg2"/>
          </a:solidFill>
          <a:ln/>
        </p:spPr>
        <p:txBody>
          <a:bodyPr/>
          <a:lstStyle/>
          <a:p>
            <a:endParaRPr lang="en-CA"/>
          </a:p>
        </p:txBody>
      </p:sp>
      <p:sp>
        <p:nvSpPr>
          <p:cNvPr id="5" name="Text 3"/>
          <p:cNvSpPr txBox="1"/>
          <p:nvPr/>
        </p:nvSpPr>
        <p:spPr>
          <a:xfrm>
            <a:off x="685800" y="3520440"/>
            <a:ext cx="1280160" cy="685800"/>
          </a:xfrm>
          <a:prstGeom prst="rect">
            <a:avLst/>
          </a:prstGeom>
          <a:noFill/>
          <a:ln/>
        </p:spPr>
        <p:txBody>
          <a:bodyPr wrap="square" lIns="0" tIns="0" rIns="0" bIns="0" rtlCol="0" anchor="ctr"/>
          <a:lstStyle/>
          <a:p>
            <a:pPr marL="0" indent="0">
              <a:buNone/>
            </a:pPr>
            <a:r>
              <a:rPr lang="en-US" sz="3600" b="1" dirty="0">
                <a:solidFill>
                  <a:schemeClr val="tx2"/>
                </a:solidFill>
              </a:rPr>
              <a:t>3</a:t>
            </a:r>
            <a:endParaRPr lang="en-US" sz="3600" dirty="0"/>
          </a:p>
        </p:txBody>
      </p:sp>
      <p:sp>
        <p:nvSpPr>
          <p:cNvPr id="6" name="Text 4"/>
          <p:cNvSpPr txBox="1"/>
          <p:nvPr/>
        </p:nvSpPr>
        <p:spPr>
          <a:xfrm>
            <a:off x="685800" y="4206240"/>
            <a:ext cx="1280160" cy="548640"/>
          </a:xfrm>
          <a:prstGeom prst="rect">
            <a:avLst/>
          </a:prstGeom>
          <a:noFill/>
          <a:ln/>
        </p:spPr>
        <p:txBody>
          <a:bodyPr wrap="square" lIns="0" tIns="0" rIns="0" bIns="0" rtlCol="0" anchor="ctr"/>
          <a:lstStyle/>
          <a:p>
            <a:pPr marL="0" indent="0">
              <a:buNone/>
            </a:pPr>
            <a:r>
              <a:rPr lang="en-US" sz="1300" dirty="0">
                <a:solidFill>
                  <a:schemeClr val="tx1"/>
                </a:solidFill>
              </a:rPr>
              <a:t>clinic partners</a:t>
            </a:r>
            <a:endParaRPr lang="en-US" sz="1300" dirty="0"/>
          </a:p>
        </p:txBody>
      </p:sp>
      <p:sp>
        <p:nvSpPr>
          <p:cNvPr id="7" name="stat synthetic encounters"/>
          <p:cNvSpPr/>
          <p:nvPr/>
        </p:nvSpPr>
        <p:spPr>
          <a:xfrm>
            <a:off x="2240280" y="3429000"/>
            <a:ext cx="1508760" cy="1417320"/>
          </a:xfrm>
          <a:prstGeom prst="roundRect">
            <a:avLst>
              <a:gd name="adj" fmla="val 5161"/>
            </a:avLst>
          </a:prstGeom>
          <a:solidFill>
            <a:schemeClr val="bg2"/>
          </a:solidFill>
          <a:ln/>
        </p:spPr>
        <p:txBody>
          <a:bodyPr/>
          <a:lstStyle/>
          <a:p>
            <a:endParaRPr lang="en-CA"/>
          </a:p>
        </p:txBody>
      </p:sp>
      <p:sp>
        <p:nvSpPr>
          <p:cNvPr id="8" name="Text 6"/>
          <p:cNvSpPr txBox="1"/>
          <p:nvPr/>
        </p:nvSpPr>
        <p:spPr>
          <a:xfrm>
            <a:off x="2377440" y="3520440"/>
            <a:ext cx="1280160" cy="685800"/>
          </a:xfrm>
          <a:prstGeom prst="rect">
            <a:avLst/>
          </a:prstGeom>
          <a:noFill/>
          <a:ln/>
        </p:spPr>
        <p:txBody>
          <a:bodyPr wrap="square" lIns="0" tIns="0" rIns="0" bIns="0" rtlCol="0" anchor="ctr"/>
          <a:lstStyle/>
          <a:p>
            <a:pPr marL="0" indent="0">
              <a:buNone/>
            </a:pPr>
            <a:r>
              <a:rPr lang="en-US" sz="3600" b="1" dirty="0">
                <a:solidFill>
                  <a:schemeClr val="tx2"/>
                </a:solidFill>
              </a:rPr>
              <a:t>615</a:t>
            </a:r>
            <a:endParaRPr lang="en-US" sz="3600" dirty="0"/>
          </a:p>
        </p:txBody>
      </p:sp>
      <p:sp>
        <p:nvSpPr>
          <p:cNvPr id="9" name="Text 7"/>
          <p:cNvSpPr txBox="1"/>
          <p:nvPr/>
        </p:nvSpPr>
        <p:spPr>
          <a:xfrm>
            <a:off x="2377440" y="4206240"/>
            <a:ext cx="1280160" cy="548640"/>
          </a:xfrm>
          <a:prstGeom prst="rect">
            <a:avLst/>
          </a:prstGeom>
          <a:noFill/>
          <a:ln/>
        </p:spPr>
        <p:txBody>
          <a:bodyPr wrap="square" lIns="0" tIns="0" rIns="0" bIns="0" rtlCol="0" anchor="ctr"/>
          <a:lstStyle/>
          <a:p>
            <a:pPr marL="0" indent="0">
              <a:buNone/>
            </a:pPr>
            <a:r>
              <a:rPr lang="en-US" sz="1300" dirty="0">
                <a:solidFill>
                  <a:schemeClr val="tx1"/>
                </a:solidFill>
              </a:rPr>
              <a:t>synthetic encounters</a:t>
            </a:r>
            <a:endParaRPr lang="en-US" sz="1300" dirty="0"/>
          </a:p>
        </p:txBody>
      </p:sp>
      <p:sp>
        <p:nvSpPr>
          <p:cNvPr id="10" name="stat seeded PII rows"/>
          <p:cNvSpPr/>
          <p:nvPr/>
        </p:nvSpPr>
        <p:spPr>
          <a:xfrm>
            <a:off x="3931920" y="3429000"/>
            <a:ext cx="1508760" cy="1417320"/>
          </a:xfrm>
          <a:prstGeom prst="roundRect">
            <a:avLst>
              <a:gd name="adj" fmla="val 5161"/>
            </a:avLst>
          </a:prstGeom>
          <a:solidFill>
            <a:schemeClr val="bg2"/>
          </a:solidFill>
          <a:ln/>
        </p:spPr>
        <p:txBody>
          <a:bodyPr/>
          <a:lstStyle/>
          <a:p>
            <a:endParaRPr lang="en-CA"/>
          </a:p>
        </p:txBody>
      </p:sp>
      <p:sp>
        <p:nvSpPr>
          <p:cNvPr id="11" name="Text 9"/>
          <p:cNvSpPr txBox="1"/>
          <p:nvPr/>
        </p:nvSpPr>
        <p:spPr>
          <a:xfrm>
            <a:off x="4069080" y="3520440"/>
            <a:ext cx="1280160" cy="685800"/>
          </a:xfrm>
          <a:prstGeom prst="rect">
            <a:avLst/>
          </a:prstGeom>
          <a:noFill/>
          <a:ln/>
        </p:spPr>
        <p:txBody>
          <a:bodyPr wrap="square" lIns="0" tIns="0" rIns="0" bIns="0" rtlCol="0" anchor="ctr"/>
          <a:lstStyle/>
          <a:p>
            <a:pPr marL="0" indent="0">
              <a:buNone/>
            </a:pPr>
            <a:r>
              <a:rPr lang="en-US" sz="3600" b="1" dirty="0">
                <a:solidFill>
                  <a:schemeClr val="accent3"/>
                </a:solidFill>
              </a:rPr>
              <a:t>14</a:t>
            </a:r>
            <a:endParaRPr lang="en-US" sz="3600" dirty="0"/>
          </a:p>
        </p:txBody>
      </p:sp>
      <p:sp>
        <p:nvSpPr>
          <p:cNvPr id="12" name="Text 10"/>
          <p:cNvSpPr txBox="1"/>
          <p:nvPr/>
        </p:nvSpPr>
        <p:spPr>
          <a:xfrm>
            <a:off x="4069080" y="4206240"/>
            <a:ext cx="1280160" cy="548640"/>
          </a:xfrm>
          <a:prstGeom prst="rect">
            <a:avLst/>
          </a:prstGeom>
          <a:noFill/>
          <a:ln/>
        </p:spPr>
        <p:txBody>
          <a:bodyPr wrap="square" lIns="0" tIns="0" rIns="0" bIns="0" rtlCol="0" anchor="ctr"/>
          <a:lstStyle/>
          <a:p>
            <a:pPr marL="0" indent="0">
              <a:buNone/>
            </a:pPr>
            <a:r>
              <a:rPr lang="en-US" sz="1300" dirty="0">
                <a:solidFill>
                  <a:schemeClr val="tx1"/>
                </a:solidFill>
              </a:rPr>
              <a:t>seeded PII rows</a:t>
            </a:r>
            <a:endParaRPr lang="en-US" sz="1300" dirty="0"/>
          </a:p>
        </p:txBody>
      </p:sp>
      <p:sp>
        <p:nvSpPr>
          <p:cNvPr id="13" name="Text 11"/>
          <p:cNvSpPr txBox="1"/>
          <p:nvPr/>
        </p:nvSpPr>
        <p:spPr>
          <a:xfrm>
            <a:off x="548640" y="5120640"/>
            <a:ext cx="4937760" cy="731520"/>
          </a:xfrm>
          <a:prstGeom prst="rect">
            <a:avLst/>
          </a:prstGeom>
          <a:noFill/>
          <a:ln/>
        </p:spPr>
        <p:txBody>
          <a:bodyPr wrap="square" lIns="0" tIns="0" rIns="0" bIns="0" rtlCol="0" anchor="ctr"/>
          <a:lstStyle/>
          <a:p>
            <a:pPr marL="0" indent="0">
              <a:buNone/>
            </a:pPr>
            <a:r>
              <a:rPr lang="en-US" sz="1500" i="1" dirty="0">
                <a:solidFill>
                  <a:schemeClr val="tx2"/>
                </a:solidFill>
              </a:rPr>
              <a:t>Our workstream: build the guardrails around the lake, then prove they hold.</a:t>
            </a:r>
            <a:endParaRPr lang="en-US" sz="1500" dirty="0"/>
          </a:p>
        </p:txBody>
      </p:sp>
      <p:sp>
        <p:nvSpPr>
          <p:cNvPr id="14" name="risk 1"/>
          <p:cNvSpPr/>
          <p:nvPr/>
        </p:nvSpPr>
        <p:spPr>
          <a:xfrm>
            <a:off x="5897880" y="1371600"/>
            <a:ext cx="2697480" cy="2103120"/>
          </a:xfrm>
          <a:prstGeom prst="roundRect">
            <a:avLst>
              <a:gd name="adj" fmla="val 3478"/>
            </a:avLst>
          </a:prstGeom>
          <a:solidFill>
            <a:schemeClr val="bg2"/>
          </a:solidFill>
          <a:ln/>
        </p:spPr>
        <p:txBody>
          <a:bodyPr/>
          <a:lstStyle/>
          <a:p>
            <a:endParaRPr lang="en-CA"/>
          </a:p>
        </p:txBody>
      </p:sp>
      <p:sp>
        <p:nvSpPr>
          <p:cNvPr id="15" name="risk 1 circle"/>
          <p:cNvSpPr/>
          <p:nvPr/>
        </p:nvSpPr>
        <p:spPr>
          <a:xfrm>
            <a:off x="6126480" y="1600200"/>
            <a:ext cx="594360" cy="594360"/>
          </a:xfrm>
          <a:prstGeom prst="ellipse">
            <a:avLst/>
          </a:prstGeom>
          <a:solidFill>
            <a:schemeClr val="accent3"/>
          </a:solidFill>
          <a:ln/>
        </p:spPr>
        <p:txBody>
          <a:bodyPr/>
          <a:lstStyle/>
          <a:p>
            <a:endParaRPr lang="en-CA"/>
          </a:p>
        </p:txBody>
      </p:sp>
      <p:pic>
        <p:nvPicPr>
          <p:cNvPr id="16" name="risk 1 icon" descr="preencoded.png"/>
          <p:cNvPicPr>
            <a:picLocks noChangeAspect="1"/>
          </p:cNvPicPr>
          <p:nvPr/>
        </p:nvPicPr>
        <p:blipFill>
          <a:blip r:embed="rId3"/>
          <a:stretch>
            <a:fillRect/>
          </a:stretch>
        </p:blipFill>
        <p:spPr>
          <a:xfrm>
            <a:off x="6275070" y="1748790"/>
            <a:ext cx="297180" cy="297180"/>
          </a:xfrm>
          <a:prstGeom prst="rect">
            <a:avLst/>
          </a:prstGeom>
        </p:spPr>
      </p:pic>
      <p:sp>
        <p:nvSpPr>
          <p:cNvPr id="17" name="Text 14"/>
          <p:cNvSpPr txBox="1"/>
          <p:nvPr/>
        </p:nvSpPr>
        <p:spPr>
          <a:xfrm>
            <a:off x="6126480" y="2286000"/>
            <a:ext cx="2286000" cy="365760"/>
          </a:xfrm>
          <a:prstGeom prst="rect">
            <a:avLst/>
          </a:prstGeom>
          <a:noFill/>
          <a:ln/>
        </p:spPr>
        <p:txBody>
          <a:bodyPr wrap="square" lIns="0" tIns="0" rIns="0" bIns="0" rtlCol="0" anchor="ctr"/>
          <a:lstStyle/>
          <a:p>
            <a:pPr marL="0" indent="0">
              <a:buNone/>
            </a:pPr>
            <a:r>
              <a:rPr lang="en-US" sz="1600" b="1" dirty="0">
                <a:solidFill>
                  <a:schemeClr val="tx1"/>
                </a:solidFill>
              </a:rPr>
              <a:t>Identifiers in free text</a:t>
            </a:r>
            <a:endParaRPr lang="en-US" sz="1600" dirty="0"/>
          </a:p>
        </p:txBody>
      </p:sp>
      <p:sp>
        <p:nvSpPr>
          <p:cNvPr id="18" name="Text 15"/>
          <p:cNvSpPr txBox="1"/>
          <p:nvPr/>
        </p:nvSpPr>
        <p:spPr>
          <a:xfrm>
            <a:off x="6126480" y="2651760"/>
            <a:ext cx="2286000" cy="777240"/>
          </a:xfrm>
          <a:prstGeom prst="rect">
            <a:avLst/>
          </a:prstGeom>
          <a:noFill/>
          <a:ln/>
        </p:spPr>
        <p:txBody>
          <a:bodyPr wrap="square" lIns="0" tIns="0" rIns="0" bIns="0" rtlCol="0" anchor="t"/>
          <a:lstStyle/>
          <a:p>
            <a:pPr marL="0" indent="0">
              <a:buNone/>
            </a:pPr>
            <a:r>
              <a:rPr lang="en-US" sz="1300" dirty="0">
                <a:solidFill>
                  <a:schemeClr val="tx1"/>
                </a:solidFill>
              </a:rPr>
              <a:t>Intake clerks paste names, health card numbers, SINs and emails into notes_field.</a:t>
            </a:r>
            <a:endParaRPr lang="en-US" sz="1300" dirty="0"/>
          </a:p>
        </p:txBody>
      </p:sp>
      <p:sp>
        <p:nvSpPr>
          <p:cNvPr id="19" name="risk 2"/>
          <p:cNvSpPr/>
          <p:nvPr/>
        </p:nvSpPr>
        <p:spPr>
          <a:xfrm>
            <a:off x="8778240" y="1371600"/>
            <a:ext cx="2697480" cy="2103120"/>
          </a:xfrm>
          <a:prstGeom prst="roundRect">
            <a:avLst>
              <a:gd name="adj" fmla="val 3478"/>
            </a:avLst>
          </a:prstGeom>
          <a:solidFill>
            <a:schemeClr val="bg2"/>
          </a:solidFill>
          <a:ln/>
        </p:spPr>
        <p:txBody>
          <a:bodyPr/>
          <a:lstStyle/>
          <a:p>
            <a:endParaRPr lang="en-CA"/>
          </a:p>
        </p:txBody>
      </p:sp>
      <p:sp>
        <p:nvSpPr>
          <p:cNvPr id="20" name="risk 2 circle"/>
          <p:cNvSpPr/>
          <p:nvPr/>
        </p:nvSpPr>
        <p:spPr>
          <a:xfrm>
            <a:off x="9006840" y="1600200"/>
            <a:ext cx="594360" cy="594360"/>
          </a:xfrm>
          <a:prstGeom prst="ellipse">
            <a:avLst/>
          </a:prstGeom>
          <a:solidFill>
            <a:schemeClr val="accent3"/>
          </a:solidFill>
          <a:ln/>
        </p:spPr>
        <p:txBody>
          <a:bodyPr/>
          <a:lstStyle/>
          <a:p>
            <a:endParaRPr lang="en-CA"/>
          </a:p>
        </p:txBody>
      </p:sp>
      <p:pic>
        <p:nvPicPr>
          <p:cNvPr id="21" name="risk 2 icon" descr="preencoded.png"/>
          <p:cNvPicPr>
            <a:picLocks noChangeAspect="1"/>
          </p:cNvPicPr>
          <p:nvPr/>
        </p:nvPicPr>
        <p:blipFill>
          <a:blip r:embed="rId4"/>
          <a:stretch>
            <a:fillRect/>
          </a:stretch>
        </p:blipFill>
        <p:spPr>
          <a:xfrm>
            <a:off x="9155430" y="1748790"/>
            <a:ext cx="297180" cy="297180"/>
          </a:xfrm>
          <a:prstGeom prst="rect">
            <a:avLst/>
          </a:prstGeom>
        </p:spPr>
      </p:pic>
      <p:sp>
        <p:nvSpPr>
          <p:cNvPr id="22" name="Text 18"/>
          <p:cNvSpPr txBox="1"/>
          <p:nvPr/>
        </p:nvSpPr>
        <p:spPr>
          <a:xfrm>
            <a:off x="9006840" y="2286000"/>
            <a:ext cx="2286000" cy="365760"/>
          </a:xfrm>
          <a:prstGeom prst="rect">
            <a:avLst/>
          </a:prstGeom>
          <a:noFill/>
          <a:ln/>
        </p:spPr>
        <p:txBody>
          <a:bodyPr wrap="square" lIns="0" tIns="0" rIns="0" bIns="0" rtlCol="0" anchor="ctr"/>
          <a:lstStyle/>
          <a:p>
            <a:pPr marL="0" indent="0">
              <a:buNone/>
            </a:pPr>
            <a:r>
              <a:rPr lang="en-US" sz="1600" b="1" dirty="0">
                <a:solidFill>
                  <a:schemeClr val="tx1"/>
                </a:solidFill>
              </a:rPr>
              <a:t>Cross clinic exposure</a:t>
            </a:r>
            <a:endParaRPr lang="en-US" sz="1600" dirty="0"/>
          </a:p>
        </p:txBody>
      </p:sp>
      <p:sp>
        <p:nvSpPr>
          <p:cNvPr id="23" name="Text 19"/>
          <p:cNvSpPr txBox="1"/>
          <p:nvPr/>
        </p:nvSpPr>
        <p:spPr>
          <a:xfrm>
            <a:off x="9006840" y="2651760"/>
            <a:ext cx="2286000" cy="777240"/>
          </a:xfrm>
          <a:prstGeom prst="rect">
            <a:avLst/>
          </a:prstGeom>
          <a:noFill/>
          <a:ln/>
        </p:spPr>
        <p:txBody>
          <a:bodyPr wrap="square" lIns="0" tIns="0" rIns="0" bIns="0" rtlCol="0" anchor="t"/>
          <a:lstStyle/>
          <a:p>
            <a:pPr marL="0" indent="0">
              <a:buNone/>
            </a:pPr>
            <a:r>
              <a:rPr lang="en-US" sz="1300" dirty="0">
                <a:solidFill>
                  <a:schemeClr val="tx1"/>
                </a:solidFill>
              </a:rPr>
              <a:t>One clinic's analysts must never see another clinic's patients.</a:t>
            </a:r>
            <a:endParaRPr lang="en-US" sz="1300" dirty="0"/>
          </a:p>
        </p:txBody>
      </p:sp>
      <p:sp>
        <p:nvSpPr>
          <p:cNvPr id="24" name="risk 3"/>
          <p:cNvSpPr/>
          <p:nvPr/>
        </p:nvSpPr>
        <p:spPr>
          <a:xfrm>
            <a:off x="5897880" y="3657600"/>
            <a:ext cx="2697480" cy="2103120"/>
          </a:xfrm>
          <a:prstGeom prst="roundRect">
            <a:avLst>
              <a:gd name="adj" fmla="val 3478"/>
            </a:avLst>
          </a:prstGeom>
          <a:solidFill>
            <a:schemeClr val="bg2"/>
          </a:solidFill>
          <a:ln/>
        </p:spPr>
        <p:txBody>
          <a:bodyPr/>
          <a:lstStyle/>
          <a:p>
            <a:endParaRPr lang="en-CA"/>
          </a:p>
        </p:txBody>
      </p:sp>
      <p:sp>
        <p:nvSpPr>
          <p:cNvPr id="25" name="risk 3 circle"/>
          <p:cNvSpPr/>
          <p:nvPr/>
        </p:nvSpPr>
        <p:spPr>
          <a:xfrm>
            <a:off x="6126480" y="3886200"/>
            <a:ext cx="594360" cy="594360"/>
          </a:xfrm>
          <a:prstGeom prst="ellipse">
            <a:avLst/>
          </a:prstGeom>
          <a:solidFill>
            <a:schemeClr val="accent3"/>
          </a:solidFill>
          <a:ln/>
        </p:spPr>
        <p:txBody>
          <a:bodyPr/>
          <a:lstStyle/>
          <a:p>
            <a:endParaRPr lang="en-CA"/>
          </a:p>
        </p:txBody>
      </p:sp>
      <p:pic>
        <p:nvPicPr>
          <p:cNvPr id="26" name="risk 3 icon" descr="preencoded.png"/>
          <p:cNvPicPr>
            <a:picLocks noChangeAspect="1"/>
          </p:cNvPicPr>
          <p:nvPr/>
        </p:nvPicPr>
        <p:blipFill>
          <a:blip r:embed="rId5"/>
          <a:stretch>
            <a:fillRect/>
          </a:stretch>
        </p:blipFill>
        <p:spPr>
          <a:xfrm>
            <a:off x="6275070" y="4034790"/>
            <a:ext cx="297180" cy="297180"/>
          </a:xfrm>
          <a:prstGeom prst="rect">
            <a:avLst/>
          </a:prstGeom>
        </p:spPr>
      </p:pic>
      <p:sp>
        <p:nvSpPr>
          <p:cNvPr id="27" name="Text 22"/>
          <p:cNvSpPr txBox="1"/>
          <p:nvPr/>
        </p:nvSpPr>
        <p:spPr>
          <a:xfrm>
            <a:off x="6126480" y="4572000"/>
            <a:ext cx="2286000" cy="365760"/>
          </a:xfrm>
          <a:prstGeom prst="rect">
            <a:avLst/>
          </a:prstGeom>
          <a:noFill/>
          <a:ln/>
        </p:spPr>
        <p:txBody>
          <a:bodyPr wrap="square" lIns="0" tIns="0" rIns="0" bIns="0" rtlCol="0" anchor="ctr"/>
          <a:lstStyle/>
          <a:p>
            <a:pPr marL="0" indent="0">
              <a:buNone/>
            </a:pPr>
            <a:r>
              <a:rPr lang="en-US" sz="1600" b="1" dirty="0">
                <a:solidFill>
                  <a:schemeClr val="tx1"/>
                </a:solidFill>
              </a:rPr>
              <a:t>Weak encryption</a:t>
            </a:r>
            <a:endParaRPr lang="en-US" sz="1600" dirty="0"/>
          </a:p>
        </p:txBody>
      </p:sp>
      <p:sp>
        <p:nvSpPr>
          <p:cNvPr id="28" name="Text 23"/>
          <p:cNvSpPr txBox="1"/>
          <p:nvPr/>
        </p:nvSpPr>
        <p:spPr>
          <a:xfrm>
            <a:off x="6126480" y="4937760"/>
            <a:ext cx="2286000" cy="777240"/>
          </a:xfrm>
          <a:prstGeom prst="rect">
            <a:avLst/>
          </a:prstGeom>
          <a:noFill/>
          <a:ln/>
        </p:spPr>
        <p:txBody>
          <a:bodyPr wrap="square" lIns="0" tIns="0" rIns="0" bIns="0" rtlCol="0" anchor="t"/>
          <a:lstStyle/>
          <a:p>
            <a:pPr marL="0" indent="0">
              <a:buNone/>
            </a:pPr>
            <a:r>
              <a:rPr lang="en-US" sz="1300" dirty="0">
                <a:solidFill>
                  <a:schemeClr val="tx1"/>
                </a:solidFill>
              </a:rPr>
              <a:t>Default encryption can be overridden by a single upload setting.</a:t>
            </a:r>
            <a:endParaRPr lang="en-US" sz="1300" dirty="0"/>
          </a:p>
        </p:txBody>
      </p:sp>
      <p:sp>
        <p:nvSpPr>
          <p:cNvPr id="29" name="risk 4"/>
          <p:cNvSpPr/>
          <p:nvPr/>
        </p:nvSpPr>
        <p:spPr>
          <a:xfrm>
            <a:off x="8778240" y="3657600"/>
            <a:ext cx="2697480" cy="2103120"/>
          </a:xfrm>
          <a:prstGeom prst="roundRect">
            <a:avLst>
              <a:gd name="adj" fmla="val 3478"/>
            </a:avLst>
          </a:prstGeom>
          <a:solidFill>
            <a:schemeClr val="bg2"/>
          </a:solidFill>
          <a:ln/>
        </p:spPr>
        <p:txBody>
          <a:bodyPr/>
          <a:lstStyle/>
          <a:p>
            <a:endParaRPr lang="en-CA"/>
          </a:p>
        </p:txBody>
      </p:sp>
      <p:sp>
        <p:nvSpPr>
          <p:cNvPr id="30" name="risk 4 circle"/>
          <p:cNvSpPr/>
          <p:nvPr/>
        </p:nvSpPr>
        <p:spPr>
          <a:xfrm>
            <a:off x="9006840" y="3886200"/>
            <a:ext cx="594360" cy="594360"/>
          </a:xfrm>
          <a:prstGeom prst="ellipse">
            <a:avLst/>
          </a:prstGeom>
          <a:solidFill>
            <a:schemeClr val="accent3"/>
          </a:solidFill>
          <a:ln/>
        </p:spPr>
        <p:txBody>
          <a:bodyPr/>
          <a:lstStyle/>
          <a:p>
            <a:endParaRPr lang="en-CA"/>
          </a:p>
        </p:txBody>
      </p:sp>
      <p:pic>
        <p:nvPicPr>
          <p:cNvPr id="31" name="risk 4 icon" descr="preencoded.png"/>
          <p:cNvPicPr>
            <a:picLocks noChangeAspect="1"/>
          </p:cNvPicPr>
          <p:nvPr/>
        </p:nvPicPr>
        <p:blipFill>
          <a:blip r:embed="rId6"/>
          <a:stretch>
            <a:fillRect/>
          </a:stretch>
        </p:blipFill>
        <p:spPr>
          <a:xfrm>
            <a:off x="9155430" y="4034790"/>
            <a:ext cx="297180" cy="297180"/>
          </a:xfrm>
          <a:prstGeom prst="rect">
            <a:avLst/>
          </a:prstGeom>
        </p:spPr>
      </p:pic>
      <p:sp>
        <p:nvSpPr>
          <p:cNvPr id="32" name="Text 26"/>
          <p:cNvSpPr txBox="1"/>
          <p:nvPr/>
        </p:nvSpPr>
        <p:spPr>
          <a:xfrm>
            <a:off x="9006840" y="4572000"/>
            <a:ext cx="2286000" cy="365760"/>
          </a:xfrm>
          <a:prstGeom prst="rect">
            <a:avLst/>
          </a:prstGeom>
          <a:noFill/>
          <a:ln/>
        </p:spPr>
        <p:txBody>
          <a:bodyPr wrap="square" lIns="0" tIns="0" rIns="0" bIns="0" rtlCol="0" anchor="ctr"/>
          <a:lstStyle/>
          <a:p>
            <a:pPr marL="0" indent="0">
              <a:buNone/>
            </a:pPr>
            <a:r>
              <a:rPr lang="en-US" sz="1600" b="1" dirty="0">
                <a:solidFill>
                  <a:schemeClr val="tx1"/>
                </a:solidFill>
              </a:rPr>
              <a:t>No proof of access</a:t>
            </a:r>
            <a:endParaRPr lang="en-US" sz="1600" dirty="0"/>
          </a:p>
        </p:txBody>
      </p:sp>
      <p:sp>
        <p:nvSpPr>
          <p:cNvPr id="33" name="Text 27"/>
          <p:cNvSpPr txBox="1"/>
          <p:nvPr/>
        </p:nvSpPr>
        <p:spPr>
          <a:xfrm>
            <a:off x="9006840" y="4937760"/>
            <a:ext cx="2286000" cy="777240"/>
          </a:xfrm>
          <a:prstGeom prst="rect">
            <a:avLst/>
          </a:prstGeom>
          <a:noFill/>
          <a:ln/>
        </p:spPr>
        <p:txBody>
          <a:bodyPr wrap="square" lIns="0" tIns="0" rIns="0" bIns="0" rtlCol="0" anchor="t"/>
          <a:lstStyle/>
          <a:p>
            <a:pPr marL="0" indent="0">
              <a:buNone/>
            </a:pPr>
            <a:r>
              <a:rPr lang="en-US" sz="1300" dirty="0">
                <a:solidFill>
                  <a:schemeClr val="tx1"/>
                </a:solidFill>
              </a:rPr>
              <a:t>A reviewer will ask who accessed which data, and when.</a:t>
            </a:r>
            <a:endParaRPr lang="en-US" sz="13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ctr">
              <a:buNone/>
            </a:pPr>
            <a:r>
              <a:rPr lang="en-US" sz="3200" b="1" dirty="0">
                <a:solidFill>
                  <a:schemeClr val="tx1"/>
                </a:solidFill>
              </a:rPr>
              <a:t>Objectives and success criteria</a:t>
            </a:r>
            <a:endParaRPr lang="en-US" sz="3200" dirty="0"/>
          </a:p>
        </p:txBody>
      </p:sp>
      <p:sp>
        <p:nvSpPr>
          <p:cNvPr id="3" name="objective 1"/>
          <p:cNvSpPr/>
          <p:nvPr/>
        </p:nvSpPr>
        <p:spPr>
          <a:xfrm>
            <a:off x="548640" y="1325880"/>
            <a:ext cx="2633472" cy="4160520"/>
          </a:xfrm>
          <a:prstGeom prst="roundRect">
            <a:avLst>
              <a:gd name="adj" fmla="val 2778"/>
            </a:avLst>
          </a:prstGeom>
          <a:solidFill>
            <a:schemeClr val="bg2"/>
          </a:solidFill>
          <a:ln/>
        </p:spPr>
        <p:txBody>
          <a:bodyPr/>
          <a:lstStyle/>
          <a:p>
            <a:endParaRPr lang="en-CA"/>
          </a:p>
        </p:txBody>
      </p:sp>
      <p:sp>
        <p:nvSpPr>
          <p:cNvPr id="4" name="objective 1 circle"/>
          <p:cNvSpPr/>
          <p:nvPr/>
        </p:nvSpPr>
        <p:spPr>
          <a:xfrm>
            <a:off x="777240" y="1554480"/>
            <a:ext cx="685800" cy="685800"/>
          </a:xfrm>
          <a:prstGeom prst="ellipse">
            <a:avLst/>
          </a:prstGeom>
          <a:solidFill>
            <a:schemeClr val="tx2"/>
          </a:solidFill>
          <a:ln/>
        </p:spPr>
        <p:txBody>
          <a:bodyPr/>
          <a:lstStyle/>
          <a:p>
            <a:endParaRPr lang="en-CA"/>
          </a:p>
        </p:txBody>
      </p:sp>
      <p:pic>
        <p:nvPicPr>
          <p:cNvPr id="5" name="objective 1 icon" descr="preencoded.png"/>
          <p:cNvPicPr>
            <a:picLocks noChangeAspect="1"/>
          </p:cNvPicPr>
          <p:nvPr/>
        </p:nvPicPr>
        <p:blipFill>
          <a:blip r:embed="rId3"/>
          <a:stretch>
            <a:fillRect/>
          </a:stretch>
        </p:blipFill>
        <p:spPr>
          <a:xfrm>
            <a:off x="948690" y="1725930"/>
            <a:ext cx="342900" cy="342900"/>
          </a:xfrm>
          <a:prstGeom prst="rect">
            <a:avLst/>
          </a:prstGeom>
        </p:spPr>
      </p:pic>
      <p:sp>
        <p:nvSpPr>
          <p:cNvPr id="6" name="Text 3"/>
          <p:cNvSpPr txBox="1"/>
          <p:nvPr/>
        </p:nvSpPr>
        <p:spPr>
          <a:xfrm>
            <a:off x="777240" y="2377440"/>
            <a:ext cx="2194560" cy="411480"/>
          </a:xfrm>
          <a:prstGeom prst="rect">
            <a:avLst/>
          </a:prstGeom>
          <a:noFill/>
          <a:ln/>
        </p:spPr>
        <p:txBody>
          <a:bodyPr wrap="square" lIns="0" tIns="0" rIns="0" bIns="0" rtlCol="0" anchor="ctr"/>
          <a:lstStyle/>
          <a:p>
            <a:pPr marL="0" indent="0">
              <a:buNone/>
            </a:pPr>
            <a:r>
              <a:rPr lang="en-US" sz="1700" b="1" dirty="0">
                <a:solidFill>
                  <a:schemeClr val="tx1"/>
                </a:solidFill>
              </a:rPr>
              <a:t>Encryption at rest</a:t>
            </a:r>
            <a:endParaRPr lang="en-US" sz="1700" dirty="0"/>
          </a:p>
        </p:txBody>
      </p:sp>
      <p:sp>
        <p:nvSpPr>
          <p:cNvPr id="7" name="Text 4"/>
          <p:cNvSpPr txBox="1"/>
          <p:nvPr/>
        </p:nvSpPr>
        <p:spPr>
          <a:xfrm>
            <a:off x="777240" y="2834640"/>
            <a:ext cx="2194560" cy="1463040"/>
          </a:xfrm>
          <a:prstGeom prst="rect">
            <a:avLst/>
          </a:prstGeom>
          <a:noFill/>
          <a:ln/>
        </p:spPr>
        <p:txBody>
          <a:bodyPr wrap="square" lIns="0" tIns="0" rIns="0" bIns="0" rtlCol="0" anchor="t"/>
          <a:lstStyle/>
          <a:p>
            <a:pPr marL="0" indent="0">
              <a:buNone/>
            </a:pPr>
            <a:r>
              <a:rPr lang="en-US" sz="1300" dirty="0">
                <a:solidFill>
                  <a:schemeClr val="tx1"/>
                </a:solidFill>
              </a:rPr>
              <a:t>Every tenant bucket uses SSE KMS with our customer managed key, and the bucket policy enforces it.</a:t>
            </a:r>
            <a:endParaRPr lang="en-US" sz="1300" dirty="0"/>
          </a:p>
        </p:txBody>
      </p:sp>
      <p:sp>
        <p:nvSpPr>
          <p:cNvPr id="8" name="Text 5"/>
          <p:cNvSpPr txBox="1"/>
          <p:nvPr/>
        </p:nvSpPr>
        <p:spPr>
          <a:xfrm>
            <a:off x="777240" y="4389120"/>
            <a:ext cx="2194560" cy="256032"/>
          </a:xfrm>
          <a:prstGeom prst="rect">
            <a:avLst/>
          </a:prstGeom>
          <a:noFill/>
          <a:ln/>
        </p:spPr>
        <p:txBody>
          <a:bodyPr wrap="square" lIns="0" tIns="0" rIns="0" bIns="0" rtlCol="0" anchor="ctr"/>
          <a:lstStyle/>
          <a:p>
            <a:pPr marL="0" indent="0">
              <a:buNone/>
            </a:pPr>
            <a:r>
              <a:rPr lang="en-US" sz="1100" b="1" kern="0" spc="100" dirty="0">
                <a:solidFill>
                  <a:schemeClr val="accent1"/>
                </a:solidFill>
              </a:rPr>
              <a:t>PASS IF</a:t>
            </a:r>
            <a:endParaRPr lang="en-US" sz="1100" dirty="0"/>
          </a:p>
        </p:txBody>
      </p:sp>
      <p:sp>
        <p:nvSpPr>
          <p:cNvPr id="9" name="Text 6"/>
          <p:cNvSpPr txBox="1"/>
          <p:nvPr/>
        </p:nvSpPr>
        <p:spPr>
          <a:xfrm>
            <a:off x="777240" y="4645152"/>
            <a:ext cx="2194560" cy="731520"/>
          </a:xfrm>
          <a:prstGeom prst="rect">
            <a:avLst/>
          </a:prstGeom>
          <a:noFill/>
          <a:ln/>
        </p:spPr>
        <p:txBody>
          <a:bodyPr wrap="square" lIns="0" tIns="0" rIns="0" bIns="0" rtlCol="0" anchor="t"/>
          <a:lstStyle/>
          <a:p>
            <a:pPr marL="0" indent="0">
              <a:buNone/>
            </a:pPr>
            <a:r>
              <a:rPr lang="en-US" sz="1300" b="1" dirty="0">
                <a:solidFill>
                  <a:schemeClr val="tx2"/>
                </a:solidFill>
              </a:rPr>
              <a:t>An upload asking for weaker encryption is denied.</a:t>
            </a:r>
            <a:endParaRPr lang="en-US" sz="1300" dirty="0"/>
          </a:p>
        </p:txBody>
      </p:sp>
      <p:sp>
        <p:nvSpPr>
          <p:cNvPr id="10" name="objective 2"/>
          <p:cNvSpPr/>
          <p:nvPr/>
        </p:nvSpPr>
        <p:spPr>
          <a:xfrm>
            <a:off x="3364992" y="1325880"/>
            <a:ext cx="2633472" cy="4160520"/>
          </a:xfrm>
          <a:prstGeom prst="roundRect">
            <a:avLst>
              <a:gd name="adj" fmla="val 2778"/>
            </a:avLst>
          </a:prstGeom>
          <a:solidFill>
            <a:schemeClr val="bg2"/>
          </a:solidFill>
          <a:ln/>
        </p:spPr>
        <p:txBody>
          <a:bodyPr/>
          <a:lstStyle/>
          <a:p>
            <a:endParaRPr lang="en-CA"/>
          </a:p>
        </p:txBody>
      </p:sp>
      <p:sp>
        <p:nvSpPr>
          <p:cNvPr id="11" name="objective 2 circle"/>
          <p:cNvSpPr/>
          <p:nvPr/>
        </p:nvSpPr>
        <p:spPr>
          <a:xfrm>
            <a:off x="3593592" y="1554480"/>
            <a:ext cx="685800" cy="685800"/>
          </a:xfrm>
          <a:prstGeom prst="ellipse">
            <a:avLst/>
          </a:prstGeom>
          <a:solidFill>
            <a:schemeClr val="tx2"/>
          </a:solidFill>
          <a:ln/>
        </p:spPr>
        <p:txBody>
          <a:bodyPr/>
          <a:lstStyle/>
          <a:p>
            <a:endParaRPr lang="en-CA"/>
          </a:p>
        </p:txBody>
      </p:sp>
      <p:pic>
        <p:nvPicPr>
          <p:cNvPr id="12" name="objective 2 icon" descr="preencoded.png"/>
          <p:cNvPicPr>
            <a:picLocks noChangeAspect="1"/>
          </p:cNvPicPr>
          <p:nvPr/>
        </p:nvPicPr>
        <p:blipFill>
          <a:blip r:embed="rId4"/>
          <a:stretch>
            <a:fillRect/>
          </a:stretch>
        </p:blipFill>
        <p:spPr>
          <a:xfrm>
            <a:off x="3765042" y="1725930"/>
            <a:ext cx="342900" cy="342900"/>
          </a:xfrm>
          <a:prstGeom prst="rect">
            <a:avLst/>
          </a:prstGeom>
        </p:spPr>
      </p:pic>
      <p:sp>
        <p:nvSpPr>
          <p:cNvPr id="13" name="Text 9"/>
          <p:cNvSpPr txBox="1"/>
          <p:nvPr/>
        </p:nvSpPr>
        <p:spPr>
          <a:xfrm>
            <a:off x="3593592" y="2377440"/>
            <a:ext cx="2194560" cy="411480"/>
          </a:xfrm>
          <a:prstGeom prst="rect">
            <a:avLst/>
          </a:prstGeom>
          <a:noFill/>
          <a:ln/>
        </p:spPr>
        <p:txBody>
          <a:bodyPr wrap="square" lIns="0" tIns="0" rIns="0" bIns="0" rtlCol="0" anchor="ctr"/>
          <a:lstStyle/>
          <a:p>
            <a:pPr marL="0" indent="0">
              <a:buNone/>
            </a:pPr>
            <a:r>
              <a:rPr lang="en-US" sz="1700" b="1" dirty="0">
                <a:solidFill>
                  <a:schemeClr val="tx1"/>
                </a:solidFill>
              </a:rPr>
              <a:t>Automated PII gate</a:t>
            </a:r>
            <a:endParaRPr lang="en-US" sz="1700" dirty="0"/>
          </a:p>
        </p:txBody>
      </p:sp>
      <p:sp>
        <p:nvSpPr>
          <p:cNvPr id="14" name="Text 10"/>
          <p:cNvSpPr txBox="1"/>
          <p:nvPr/>
        </p:nvSpPr>
        <p:spPr>
          <a:xfrm>
            <a:off x="3593592" y="2834640"/>
            <a:ext cx="2194560" cy="1463040"/>
          </a:xfrm>
          <a:prstGeom prst="rect">
            <a:avLst/>
          </a:prstGeom>
          <a:noFill/>
          <a:ln/>
        </p:spPr>
        <p:txBody>
          <a:bodyPr wrap="square" lIns="0" tIns="0" rIns="0" bIns="0" rtlCol="0" anchor="t"/>
          <a:lstStyle/>
          <a:p>
            <a:pPr marL="0" indent="0">
              <a:buNone/>
            </a:pPr>
            <a:r>
              <a:rPr lang="en-US" sz="1300" dirty="0">
                <a:solidFill>
                  <a:schemeClr val="tx1"/>
                </a:solidFill>
              </a:rPr>
              <a:t>Any batch containing PII or PHI is quarantined, the team is alerted, and it never reaches curated.</a:t>
            </a:r>
            <a:endParaRPr lang="en-US" sz="1300" dirty="0"/>
          </a:p>
        </p:txBody>
      </p:sp>
      <p:sp>
        <p:nvSpPr>
          <p:cNvPr id="15" name="Text 11"/>
          <p:cNvSpPr txBox="1"/>
          <p:nvPr/>
        </p:nvSpPr>
        <p:spPr>
          <a:xfrm>
            <a:off x="3593592" y="4389120"/>
            <a:ext cx="2194560" cy="256032"/>
          </a:xfrm>
          <a:prstGeom prst="rect">
            <a:avLst/>
          </a:prstGeom>
          <a:noFill/>
          <a:ln/>
        </p:spPr>
        <p:txBody>
          <a:bodyPr wrap="square" lIns="0" tIns="0" rIns="0" bIns="0" rtlCol="0" anchor="ctr"/>
          <a:lstStyle/>
          <a:p>
            <a:pPr marL="0" indent="0">
              <a:buNone/>
            </a:pPr>
            <a:r>
              <a:rPr lang="en-US" sz="1100" b="1" kern="0" spc="100" dirty="0">
                <a:solidFill>
                  <a:schemeClr val="accent1"/>
                </a:solidFill>
              </a:rPr>
              <a:t>PASS IF</a:t>
            </a:r>
            <a:endParaRPr lang="en-US" sz="1100" dirty="0"/>
          </a:p>
        </p:txBody>
      </p:sp>
      <p:sp>
        <p:nvSpPr>
          <p:cNvPr id="16" name="Text 12"/>
          <p:cNvSpPr txBox="1"/>
          <p:nvPr/>
        </p:nvSpPr>
        <p:spPr>
          <a:xfrm>
            <a:off x="3593592" y="4645152"/>
            <a:ext cx="2194560" cy="731520"/>
          </a:xfrm>
          <a:prstGeom prst="rect">
            <a:avLst/>
          </a:prstGeom>
          <a:noFill/>
          <a:ln/>
        </p:spPr>
        <p:txBody>
          <a:bodyPr wrap="square" lIns="0" tIns="0" rIns="0" bIns="0" rtlCol="0" anchor="t"/>
          <a:lstStyle/>
          <a:p>
            <a:pPr marL="0" indent="0">
              <a:buNone/>
            </a:pPr>
            <a:r>
              <a:rPr lang="en-US" sz="1300" b="1" dirty="0">
                <a:solidFill>
                  <a:schemeClr val="tx2"/>
                </a:solidFill>
              </a:rPr>
              <a:t>All 14 seeded rows caught, zero clean rows flagged.</a:t>
            </a:r>
            <a:endParaRPr lang="en-US" sz="1300" dirty="0"/>
          </a:p>
        </p:txBody>
      </p:sp>
      <p:sp>
        <p:nvSpPr>
          <p:cNvPr id="17" name="objective 3"/>
          <p:cNvSpPr/>
          <p:nvPr/>
        </p:nvSpPr>
        <p:spPr>
          <a:xfrm>
            <a:off x="6181344" y="1325880"/>
            <a:ext cx="2633472" cy="4160520"/>
          </a:xfrm>
          <a:prstGeom prst="roundRect">
            <a:avLst>
              <a:gd name="adj" fmla="val 2778"/>
            </a:avLst>
          </a:prstGeom>
          <a:solidFill>
            <a:schemeClr val="bg2"/>
          </a:solidFill>
          <a:ln/>
        </p:spPr>
        <p:txBody>
          <a:bodyPr/>
          <a:lstStyle/>
          <a:p>
            <a:endParaRPr lang="en-CA"/>
          </a:p>
        </p:txBody>
      </p:sp>
      <p:sp>
        <p:nvSpPr>
          <p:cNvPr id="18" name="objective 3 circle"/>
          <p:cNvSpPr/>
          <p:nvPr/>
        </p:nvSpPr>
        <p:spPr>
          <a:xfrm>
            <a:off x="6409944" y="1554480"/>
            <a:ext cx="685800" cy="685800"/>
          </a:xfrm>
          <a:prstGeom prst="ellipse">
            <a:avLst/>
          </a:prstGeom>
          <a:solidFill>
            <a:schemeClr val="tx2"/>
          </a:solidFill>
          <a:ln/>
        </p:spPr>
        <p:txBody>
          <a:bodyPr/>
          <a:lstStyle/>
          <a:p>
            <a:endParaRPr lang="en-CA"/>
          </a:p>
        </p:txBody>
      </p:sp>
      <p:pic>
        <p:nvPicPr>
          <p:cNvPr id="19" name="objective 3 icon" descr="preencoded.png"/>
          <p:cNvPicPr>
            <a:picLocks noChangeAspect="1"/>
          </p:cNvPicPr>
          <p:nvPr/>
        </p:nvPicPr>
        <p:blipFill>
          <a:blip r:embed="rId5"/>
          <a:stretch>
            <a:fillRect/>
          </a:stretch>
        </p:blipFill>
        <p:spPr>
          <a:xfrm>
            <a:off x="6581394" y="1725930"/>
            <a:ext cx="342900" cy="342900"/>
          </a:xfrm>
          <a:prstGeom prst="rect">
            <a:avLst/>
          </a:prstGeom>
        </p:spPr>
      </p:pic>
      <p:sp>
        <p:nvSpPr>
          <p:cNvPr id="20" name="Text 15"/>
          <p:cNvSpPr txBox="1"/>
          <p:nvPr/>
        </p:nvSpPr>
        <p:spPr>
          <a:xfrm>
            <a:off x="6409944" y="2377440"/>
            <a:ext cx="2194560" cy="411480"/>
          </a:xfrm>
          <a:prstGeom prst="rect">
            <a:avLst/>
          </a:prstGeom>
          <a:noFill/>
          <a:ln/>
        </p:spPr>
        <p:txBody>
          <a:bodyPr wrap="square" lIns="0" tIns="0" rIns="0" bIns="0" rtlCol="0" anchor="ctr"/>
          <a:lstStyle/>
          <a:p>
            <a:pPr marL="0" indent="0">
              <a:buNone/>
            </a:pPr>
            <a:r>
              <a:rPr lang="en-US" sz="1700" b="1" dirty="0">
                <a:solidFill>
                  <a:schemeClr val="tx1"/>
                </a:solidFill>
              </a:rPr>
              <a:t>Access separation</a:t>
            </a:r>
            <a:endParaRPr lang="en-US" sz="1700" dirty="0"/>
          </a:p>
        </p:txBody>
      </p:sp>
      <p:sp>
        <p:nvSpPr>
          <p:cNvPr id="21" name="Text 16"/>
          <p:cNvSpPr txBox="1"/>
          <p:nvPr/>
        </p:nvSpPr>
        <p:spPr>
          <a:xfrm>
            <a:off x="6409944" y="2834640"/>
            <a:ext cx="2194560" cy="1463040"/>
          </a:xfrm>
          <a:prstGeom prst="rect">
            <a:avLst/>
          </a:prstGeom>
          <a:noFill/>
          <a:ln/>
        </p:spPr>
        <p:txBody>
          <a:bodyPr wrap="square" lIns="0" tIns="0" rIns="0" bIns="0" rtlCol="0" anchor="t"/>
          <a:lstStyle/>
          <a:p>
            <a:pPr marL="0" indent="0">
              <a:buNone/>
            </a:pPr>
            <a:r>
              <a:rPr lang="en-US" sz="1300" dirty="0">
                <a:solidFill>
                  <a:schemeClr val="tx1"/>
                </a:solidFill>
              </a:rPr>
              <a:t>Clinic analysts see only their clinic; corporate analysts see all clinics but no PII columns.</a:t>
            </a:r>
            <a:endParaRPr lang="en-US" sz="1300" dirty="0"/>
          </a:p>
        </p:txBody>
      </p:sp>
      <p:sp>
        <p:nvSpPr>
          <p:cNvPr id="22" name="Text 17"/>
          <p:cNvSpPr txBox="1"/>
          <p:nvPr/>
        </p:nvSpPr>
        <p:spPr>
          <a:xfrm>
            <a:off x="6409944" y="4389120"/>
            <a:ext cx="2194560" cy="256032"/>
          </a:xfrm>
          <a:prstGeom prst="rect">
            <a:avLst/>
          </a:prstGeom>
          <a:noFill/>
          <a:ln/>
        </p:spPr>
        <p:txBody>
          <a:bodyPr wrap="square" lIns="0" tIns="0" rIns="0" bIns="0" rtlCol="0" anchor="ctr"/>
          <a:lstStyle/>
          <a:p>
            <a:pPr marL="0" indent="0">
              <a:buNone/>
            </a:pPr>
            <a:r>
              <a:rPr lang="en-US" sz="1100" b="1" kern="0" spc="100" dirty="0">
                <a:solidFill>
                  <a:schemeClr val="accent1"/>
                </a:solidFill>
              </a:rPr>
              <a:t>PASS IF</a:t>
            </a:r>
            <a:endParaRPr lang="en-US" sz="1100" dirty="0"/>
          </a:p>
        </p:txBody>
      </p:sp>
      <p:sp>
        <p:nvSpPr>
          <p:cNvPr id="23" name="Text 18"/>
          <p:cNvSpPr txBox="1"/>
          <p:nvPr/>
        </p:nvSpPr>
        <p:spPr>
          <a:xfrm>
            <a:off x="6409944" y="4645152"/>
            <a:ext cx="2194560" cy="731520"/>
          </a:xfrm>
          <a:prstGeom prst="rect">
            <a:avLst/>
          </a:prstGeom>
          <a:noFill/>
          <a:ln/>
        </p:spPr>
        <p:txBody>
          <a:bodyPr wrap="square" lIns="0" tIns="0" rIns="0" bIns="0" rtlCol="0" anchor="t"/>
          <a:lstStyle/>
          <a:p>
            <a:pPr marL="0" indent="0">
              <a:buNone/>
            </a:pPr>
            <a:r>
              <a:rPr lang="en-US" sz="1300" b="1" dirty="0">
                <a:solidFill>
                  <a:schemeClr val="tx2"/>
                </a:solidFill>
              </a:rPr>
              <a:t>Every restricted query returns 0 rows or is refused.</a:t>
            </a:r>
            <a:endParaRPr lang="en-US" sz="1300" dirty="0"/>
          </a:p>
        </p:txBody>
      </p:sp>
      <p:sp>
        <p:nvSpPr>
          <p:cNvPr id="24" name="objective 4"/>
          <p:cNvSpPr/>
          <p:nvPr/>
        </p:nvSpPr>
        <p:spPr>
          <a:xfrm>
            <a:off x="8997696" y="1325880"/>
            <a:ext cx="2633472" cy="4160520"/>
          </a:xfrm>
          <a:prstGeom prst="roundRect">
            <a:avLst>
              <a:gd name="adj" fmla="val 2778"/>
            </a:avLst>
          </a:prstGeom>
          <a:solidFill>
            <a:schemeClr val="bg2"/>
          </a:solidFill>
          <a:ln/>
        </p:spPr>
        <p:txBody>
          <a:bodyPr/>
          <a:lstStyle/>
          <a:p>
            <a:endParaRPr lang="en-CA"/>
          </a:p>
        </p:txBody>
      </p:sp>
      <p:sp>
        <p:nvSpPr>
          <p:cNvPr id="25" name="objective 4 circle"/>
          <p:cNvSpPr/>
          <p:nvPr/>
        </p:nvSpPr>
        <p:spPr>
          <a:xfrm>
            <a:off x="9226296" y="1554480"/>
            <a:ext cx="685800" cy="685800"/>
          </a:xfrm>
          <a:prstGeom prst="ellipse">
            <a:avLst/>
          </a:prstGeom>
          <a:solidFill>
            <a:schemeClr val="tx2"/>
          </a:solidFill>
          <a:ln/>
        </p:spPr>
        <p:txBody>
          <a:bodyPr/>
          <a:lstStyle/>
          <a:p>
            <a:endParaRPr lang="en-CA"/>
          </a:p>
        </p:txBody>
      </p:sp>
      <p:pic>
        <p:nvPicPr>
          <p:cNvPr id="26" name="objective 4 icon" descr="preencoded.png"/>
          <p:cNvPicPr>
            <a:picLocks noChangeAspect="1"/>
          </p:cNvPicPr>
          <p:nvPr/>
        </p:nvPicPr>
        <p:blipFill>
          <a:blip r:embed="rId6"/>
          <a:stretch>
            <a:fillRect/>
          </a:stretch>
        </p:blipFill>
        <p:spPr>
          <a:xfrm>
            <a:off x="9397746" y="1725930"/>
            <a:ext cx="342900" cy="342900"/>
          </a:xfrm>
          <a:prstGeom prst="rect">
            <a:avLst/>
          </a:prstGeom>
        </p:spPr>
      </p:pic>
      <p:sp>
        <p:nvSpPr>
          <p:cNvPr id="27" name="Text 21"/>
          <p:cNvSpPr txBox="1"/>
          <p:nvPr/>
        </p:nvSpPr>
        <p:spPr>
          <a:xfrm>
            <a:off x="9226296" y="2377440"/>
            <a:ext cx="2194560" cy="411480"/>
          </a:xfrm>
          <a:prstGeom prst="rect">
            <a:avLst/>
          </a:prstGeom>
          <a:noFill/>
          <a:ln/>
        </p:spPr>
        <p:txBody>
          <a:bodyPr wrap="square" lIns="0" tIns="0" rIns="0" bIns="0" rtlCol="0" anchor="ctr"/>
          <a:lstStyle/>
          <a:p>
            <a:pPr marL="0" indent="0">
              <a:buNone/>
            </a:pPr>
            <a:r>
              <a:rPr lang="en-US" sz="1700" b="1" dirty="0">
                <a:solidFill>
                  <a:schemeClr val="tx1"/>
                </a:solidFill>
              </a:rPr>
              <a:t>Audit trail</a:t>
            </a:r>
            <a:endParaRPr lang="en-US" sz="1700" dirty="0"/>
          </a:p>
        </p:txBody>
      </p:sp>
      <p:sp>
        <p:nvSpPr>
          <p:cNvPr id="28" name="Text 22"/>
          <p:cNvSpPr txBox="1"/>
          <p:nvPr/>
        </p:nvSpPr>
        <p:spPr>
          <a:xfrm>
            <a:off x="9226296" y="2834640"/>
            <a:ext cx="2194560" cy="1463040"/>
          </a:xfrm>
          <a:prstGeom prst="rect">
            <a:avLst/>
          </a:prstGeom>
          <a:noFill/>
          <a:ln/>
        </p:spPr>
        <p:txBody>
          <a:bodyPr wrap="square" lIns="0" tIns="0" rIns="0" bIns="0" rtlCol="0" anchor="t"/>
          <a:lstStyle/>
          <a:p>
            <a:pPr marL="0" indent="0">
              <a:buNone/>
            </a:pPr>
            <a:r>
              <a:rPr lang="en-US" sz="1300" dirty="0">
                <a:solidFill>
                  <a:schemeClr val="tx1"/>
                </a:solidFill>
              </a:rPr>
              <a:t>CloudTrail records every access and change, and we can query it with Athena.</a:t>
            </a:r>
            <a:endParaRPr lang="en-US" sz="1300" dirty="0"/>
          </a:p>
        </p:txBody>
      </p:sp>
      <p:sp>
        <p:nvSpPr>
          <p:cNvPr id="29" name="Text 23"/>
          <p:cNvSpPr txBox="1"/>
          <p:nvPr/>
        </p:nvSpPr>
        <p:spPr>
          <a:xfrm>
            <a:off x="9226296" y="4389120"/>
            <a:ext cx="2194560" cy="256032"/>
          </a:xfrm>
          <a:prstGeom prst="rect">
            <a:avLst/>
          </a:prstGeom>
          <a:noFill/>
          <a:ln/>
        </p:spPr>
        <p:txBody>
          <a:bodyPr wrap="square" lIns="0" tIns="0" rIns="0" bIns="0" rtlCol="0" anchor="ctr"/>
          <a:lstStyle/>
          <a:p>
            <a:pPr marL="0" indent="0">
              <a:buNone/>
            </a:pPr>
            <a:r>
              <a:rPr lang="en-US" sz="1100" b="1" kern="0" spc="100" dirty="0">
                <a:solidFill>
                  <a:schemeClr val="accent1"/>
                </a:solidFill>
              </a:rPr>
              <a:t>PASS IF</a:t>
            </a:r>
            <a:endParaRPr lang="en-US" sz="1100" dirty="0"/>
          </a:p>
        </p:txBody>
      </p:sp>
      <p:sp>
        <p:nvSpPr>
          <p:cNvPr id="30" name="Text 24"/>
          <p:cNvSpPr txBox="1"/>
          <p:nvPr/>
        </p:nvSpPr>
        <p:spPr>
          <a:xfrm>
            <a:off x="9226296" y="4645152"/>
            <a:ext cx="2194560" cy="731520"/>
          </a:xfrm>
          <a:prstGeom prst="rect">
            <a:avLst/>
          </a:prstGeom>
          <a:noFill/>
          <a:ln/>
        </p:spPr>
        <p:txBody>
          <a:bodyPr wrap="square" lIns="0" tIns="0" rIns="0" bIns="0" rtlCol="0" anchor="t"/>
          <a:lstStyle/>
          <a:p>
            <a:pPr marL="0" indent="0">
              <a:buNone/>
            </a:pPr>
            <a:r>
              <a:rPr lang="en-US" sz="1300" b="1" dirty="0">
                <a:solidFill>
                  <a:schemeClr val="tx2"/>
                </a:solidFill>
              </a:rPr>
              <a:t>At least two audit questions answered with evidence.</a:t>
            </a:r>
            <a:endParaRPr lang="en-US" sz="1300" dirty="0"/>
          </a:p>
        </p:txBody>
      </p:sp>
      <p:sp>
        <p:nvSpPr>
          <p:cNvPr id="31" name="Text 25"/>
          <p:cNvSpPr txBox="1"/>
          <p:nvPr/>
        </p:nvSpPr>
        <p:spPr>
          <a:xfrm>
            <a:off x="548640" y="5715000"/>
            <a:ext cx="11064240" cy="365760"/>
          </a:xfrm>
          <a:prstGeom prst="rect">
            <a:avLst/>
          </a:prstGeom>
          <a:noFill/>
          <a:ln/>
        </p:spPr>
        <p:txBody>
          <a:bodyPr wrap="square" lIns="0" tIns="0" rIns="0" bIns="0" rtlCol="0" anchor="ctr"/>
          <a:lstStyle/>
          <a:p>
            <a:pPr marL="0" indent="0">
              <a:buNone/>
            </a:pPr>
            <a:r>
              <a:rPr lang="en-US" sz="1500" dirty="0">
                <a:solidFill>
                  <a:schemeClr val="tx1"/>
                </a:solidFill>
              </a:rPr>
              <a:t>Plus, a governance package: least privilege IAM policies, a PIPEDA compliance mapping and an incident response runbook.</a:t>
            </a:r>
            <a:endParaRPr lang="en-US" sz="15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How the platform works</a:t>
            </a:r>
            <a:endParaRPr lang="en-US" sz="3200" dirty="0"/>
          </a:p>
        </p:txBody>
      </p:sp>
      <p:pic>
        <p:nvPicPr>
          <p:cNvPr id="3" name="architecture diagram" descr="/tmp/claude-0/-home-claude/82c33e58-f614-51a9-bcbb-11a0c7e9ca33/scratchpad/deck2/img/arch.png"/>
          <p:cNvPicPr>
            <a:picLocks noChangeAspect="1"/>
          </p:cNvPicPr>
          <p:nvPr/>
        </p:nvPicPr>
        <p:blipFill>
          <a:blip r:embed="rId3"/>
          <a:stretch>
            <a:fillRect/>
          </a:stretch>
        </p:blipFill>
        <p:spPr>
          <a:xfrm>
            <a:off x="777240" y="1143000"/>
            <a:ext cx="10607040" cy="4866116"/>
          </a:xfrm>
          <a:prstGeom prst="rect">
            <a:avLst/>
          </a:prstGeom>
        </p:spPr>
      </p:pic>
      <p:sp>
        <p:nvSpPr>
          <p:cNvPr id="4" name="Text 1"/>
          <p:cNvSpPr txBox="1"/>
          <p:nvPr/>
        </p:nvSpPr>
        <p:spPr>
          <a:xfrm>
            <a:off x="548640" y="6080760"/>
            <a:ext cx="11064240" cy="274320"/>
          </a:xfrm>
          <a:prstGeom prst="rect">
            <a:avLst/>
          </a:prstGeom>
          <a:noFill/>
          <a:ln/>
        </p:spPr>
        <p:txBody>
          <a:bodyPr wrap="square" lIns="0" tIns="0" rIns="0" bIns="0" rtlCol="0" anchor="ctr"/>
          <a:lstStyle/>
          <a:p>
            <a:pPr marL="0" indent="0">
              <a:buNone/>
            </a:pPr>
            <a:r>
              <a:rPr lang="en-US" sz="1100" i="1" dirty="0">
                <a:solidFill>
                  <a:schemeClr val="accent5"/>
                </a:solidFill>
              </a:rPr>
              <a:t>Source: architecture/Marrowick_Architecture.drawio  ·  Region us-east-1  ·  All services serverless and pay per use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ctr">
              <a:buNone/>
            </a:pPr>
            <a:r>
              <a:rPr lang="en-US" sz="3200" b="1" dirty="0">
                <a:solidFill>
                  <a:schemeClr val="tx1"/>
                </a:solidFill>
              </a:rPr>
              <a:t>Encryption that is enforced, not just enabled</a:t>
            </a:r>
            <a:endParaRPr lang="en-US" sz="3200" dirty="0"/>
          </a:p>
        </p:txBody>
      </p:sp>
      <p:sp>
        <p:nvSpPr>
          <p:cNvPr id="3" name="encryption card 1"/>
          <p:cNvSpPr/>
          <p:nvPr/>
        </p:nvSpPr>
        <p:spPr>
          <a:xfrm>
            <a:off x="548640" y="1325880"/>
            <a:ext cx="4937760" cy="1417320"/>
          </a:xfrm>
          <a:prstGeom prst="roundRect">
            <a:avLst>
              <a:gd name="adj" fmla="val 5161"/>
            </a:avLst>
          </a:prstGeom>
          <a:solidFill>
            <a:schemeClr val="bg2"/>
          </a:solidFill>
          <a:ln/>
        </p:spPr>
        <p:txBody>
          <a:bodyPr/>
          <a:lstStyle/>
          <a:p>
            <a:endParaRPr lang="en-CA"/>
          </a:p>
        </p:txBody>
      </p:sp>
      <p:sp>
        <p:nvSpPr>
          <p:cNvPr id="4" name="encryption 1 circle"/>
          <p:cNvSpPr/>
          <p:nvPr/>
        </p:nvSpPr>
        <p:spPr>
          <a:xfrm>
            <a:off x="777240" y="1600200"/>
            <a:ext cx="548640" cy="548640"/>
          </a:xfrm>
          <a:prstGeom prst="ellipse">
            <a:avLst/>
          </a:prstGeom>
          <a:solidFill>
            <a:schemeClr val="tx2"/>
          </a:solidFill>
          <a:ln/>
        </p:spPr>
        <p:txBody>
          <a:bodyPr/>
          <a:lstStyle/>
          <a:p>
            <a:endParaRPr lang="en-CA"/>
          </a:p>
        </p:txBody>
      </p:sp>
      <p:pic>
        <p:nvPicPr>
          <p:cNvPr id="5" name="encryption 1 icon" descr="preencoded.png"/>
          <p:cNvPicPr>
            <a:picLocks noChangeAspect="1"/>
          </p:cNvPicPr>
          <p:nvPr/>
        </p:nvPicPr>
        <p:blipFill>
          <a:blip r:embed="rId3"/>
          <a:stretch>
            <a:fillRect/>
          </a:stretch>
        </p:blipFill>
        <p:spPr>
          <a:xfrm>
            <a:off x="914400" y="1737360"/>
            <a:ext cx="274320" cy="274320"/>
          </a:xfrm>
          <a:prstGeom prst="rect">
            <a:avLst/>
          </a:prstGeom>
        </p:spPr>
      </p:pic>
      <p:sp>
        <p:nvSpPr>
          <p:cNvPr id="6" name="Text 3"/>
          <p:cNvSpPr txBox="1"/>
          <p:nvPr/>
        </p:nvSpPr>
        <p:spPr>
          <a:xfrm>
            <a:off x="1508760" y="1508760"/>
            <a:ext cx="3794760" cy="347472"/>
          </a:xfrm>
          <a:prstGeom prst="rect">
            <a:avLst/>
          </a:prstGeom>
          <a:noFill/>
          <a:ln/>
        </p:spPr>
        <p:txBody>
          <a:bodyPr wrap="square" lIns="0" tIns="0" rIns="0" bIns="0" rtlCol="0" anchor="ctr"/>
          <a:lstStyle/>
          <a:p>
            <a:pPr marL="0" indent="0">
              <a:buNone/>
            </a:pPr>
            <a:r>
              <a:rPr lang="en-US" sz="1600" b="1" dirty="0">
                <a:solidFill>
                  <a:schemeClr val="tx1"/>
                </a:solidFill>
              </a:rPr>
              <a:t>Customer managed key</a:t>
            </a:r>
            <a:endParaRPr lang="en-US" sz="1600" dirty="0"/>
          </a:p>
        </p:txBody>
      </p:sp>
      <p:sp>
        <p:nvSpPr>
          <p:cNvPr id="7" name="Text 4"/>
          <p:cNvSpPr txBox="1"/>
          <p:nvPr/>
        </p:nvSpPr>
        <p:spPr>
          <a:xfrm>
            <a:off x="1508760" y="1856232"/>
            <a:ext cx="3794760" cy="822960"/>
          </a:xfrm>
          <a:prstGeom prst="rect">
            <a:avLst/>
          </a:prstGeom>
          <a:noFill/>
          <a:ln/>
        </p:spPr>
        <p:txBody>
          <a:bodyPr wrap="square" lIns="0" tIns="0" rIns="0" bIns="0" rtlCol="0" anchor="t"/>
          <a:lstStyle/>
          <a:p>
            <a:pPr marL="0" indent="0">
              <a:buNone/>
            </a:pPr>
            <a:r>
              <a:rPr lang="en-US" sz="1300" dirty="0">
                <a:solidFill>
                  <a:schemeClr val="tx1"/>
                </a:solidFill>
              </a:rPr>
              <a:t>SSE KMS with Bucket Key on all three zones. Key policy separates duties: voclabs administers, LabRole only uses. Rotation every 365 days.</a:t>
            </a:r>
            <a:endParaRPr lang="en-US" sz="1300" dirty="0"/>
          </a:p>
        </p:txBody>
      </p:sp>
      <p:sp>
        <p:nvSpPr>
          <p:cNvPr id="8" name="encryption card 2"/>
          <p:cNvSpPr/>
          <p:nvPr/>
        </p:nvSpPr>
        <p:spPr>
          <a:xfrm>
            <a:off x="548640" y="2926080"/>
            <a:ext cx="4937760" cy="1417320"/>
          </a:xfrm>
          <a:prstGeom prst="roundRect">
            <a:avLst>
              <a:gd name="adj" fmla="val 5161"/>
            </a:avLst>
          </a:prstGeom>
          <a:solidFill>
            <a:schemeClr val="bg2"/>
          </a:solidFill>
          <a:ln/>
        </p:spPr>
        <p:txBody>
          <a:bodyPr/>
          <a:lstStyle/>
          <a:p>
            <a:endParaRPr lang="en-CA"/>
          </a:p>
        </p:txBody>
      </p:sp>
      <p:sp>
        <p:nvSpPr>
          <p:cNvPr id="9" name="encryption 2 circle"/>
          <p:cNvSpPr/>
          <p:nvPr/>
        </p:nvSpPr>
        <p:spPr>
          <a:xfrm>
            <a:off x="777240" y="3200400"/>
            <a:ext cx="548640" cy="548640"/>
          </a:xfrm>
          <a:prstGeom prst="ellipse">
            <a:avLst/>
          </a:prstGeom>
          <a:solidFill>
            <a:schemeClr val="tx2"/>
          </a:solidFill>
          <a:ln/>
        </p:spPr>
        <p:txBody>
          <a:bodyPr/>
          <a:lstStyle/>
          <a:p>
            <a:endParaRPr lang="en-CA"/>
          </a:p>
        </p:txBody>
      </p:sp>
      <p:pic>
        <p:nvPicPr>
          <p:cNvPr id="10" name="encryption 2 icon" descr="preencoded.png"/>
          <p:cNvPicPr>
            <a:picLocks noChangeAspect="1"/>
          </p:cNvPicPr>
          <p:nvPr/>
        </p:nvPicPr>
        <p:blipFill>
          <a:blip r:embed="rId4"/>
          <a:stretch>
            <a:fillRect/>
          </a:stretch>
        </p:blipFill>
        <p:spPr>
          <a:xfrm>
            <a:off x="914400" y="3337560"/>
            <a:ext cx="274320" cy="274320"/>
          </a:xfrm>
          <a:prstGeom prst="rect">
            <a:avLst/>
          </a:prstGeom>
        </p:spPr>
      </p:pic>
      <p:sp>
        <p:nvSpPr>
          <p:cNvPr id="11" name="Text 7"/>
          <p:cNvSpPr txBox="1"/>
          <p:nvPr/>
        </p:nvSpPr>
        <p:spPr>
          <a:xfrm>
            <a:off x="1508760" y="3108960"/>
            <a:ext cx="3794760" cy="347472"/>
          </a:xfrm>
          <a:prstGeom prst="rect">
            <a:avLst/>
          </a:prstGeom>
          <a:noFill/>
          <a:ln/>
        </p:spPr>
        <p:txBody>
          <a:bodyPr wrap="square" lIns="0" tIns="0" rIns="0" bIns="0" rtlCol="0" anchor="ctr"/>
          <a:lstStyle/>
          <a:p>
            <a:pPr marL="0" indent="0">
              <a:buNone/>
            </a:pPr>
            <a:r>
              <a:rPr lang="en-US" sz="1600" b="1" dirty="0">
                <a:solidFill>
                  <a:schemeClr val="tx1"/>
                </a:solidFill>
              </a:rPr>
              <a:t>Bucket policies deny</a:t>
            </a:r>
            <a:endParaRPr lang="en-US" sz="1600" dirty="0"/>
          </a:p>
        </p:txBody>
      </p:sp>
      <p:sp>
        <p:nvSpPr>
          <p:cNvPr id="12" name="Text 8"/>
          <p:cNvSpPr txBox="1"/>
          <p:nvPr/>
        </p:nvSpPr>
        <p:spPr>
          <a:xfrm>
            <a:off x="1508760" y="3456432"/>
            <a:ext cx="3794760" cy="822960"/>
          </a:xfrm>
          <a:prstGeom prst="rect">
            <a:avLst/>
          </a:prstGeom>
          <a:noFill/>
          <a:ln/>
        </p:spPr>
        <p:txBody>
          <a:bodyPr wrap="square" lIns="0" tIns="0" rIns="0" bIns="0" rtlCol="0" anchor="t"/>
          <a:lstStyle/>
          <a:p>
            <a:pPr marL="0" indent="0">
              <a:buNone/>
            </a:pPr>
            <a:r>
              <a:rPr lang="en-US" sz="1300" dirty="0">
                <a:solidFill>
                  <a:schemeClr val="tx1"/>
                </a:solidFill>
              </a:rPr>
              <a:t>Any non-HTTPS request, any upload not encrypted with KMS, and any upload naming a different key.</a:t>
            </a:r>
            <a:endParaRPr lang="en-US" sz="1300" dirty="0"/>
          </a:p>
        </p:txBody>
      </p:sp>
      <p:sp>
        <p:nvSpPr>
          <p:cNvPr id="13" name="encryption card 3"/>
          <p:cNvSpPr/>
          <p:nvPr/>
        </p:nvSpPr>
        <p:spPr>
          <a:xfrm>
            <a:off x="548640" y="4526280"/>
            <a:ext cx="4937760" cy="1417320"/>
          </a:xfrm>
          <a:prstGeom prst="roundRect">
            <a:avLst>
              <a:gd name="adj" fmla="val 5161"/>
            </a:avLst>
          </a:prstGeom>
          <a:solidFill>
            <a:schemeClr val="tx1"/>
          </a:solidFill>
          <a:ln/>
        </p:spPr>
        <p:txBody>
          <a:bodyPr/>
          <a:lstStyle/>
          <a:p>
            <a:endParaRPr lang="en-CA"/>
          </a:p>
        </p:txBody>
      </p:sp>
      <p:sp>
        <p:nvSpPr>
          <p:cNvPr id="14" name="encryption 3 circle"/>
          <p:cNvSpPr/>
          <p:nvPr/>
        </p:nvSpPr>
        <p:spPr>
          <a:xfrm>
            <a:off x="777240" y="4800600"/>
            <a:ext cx="548640" cy="548640"/>
          </a:xfrm>
          <a:prstGeom prst="ellipse">
            <a:avLst/>
          </a:prstGeom>
          <a:solidFill>
            <a:schemeClr val="accent1"/>
          </a:solidFill>
          <a:ln/>
        </p:spPr>
        <p:txBody>
          <a:bodyPr/>
          <a:lstStyle/>
          <a:p>
            <a:endParaRPr lang="en-CA"/>
          </a:p>
        </p:txBody>
      </p:sp>
      <p:pic>
        <p:nvPicPr>
          <p:cNvPr id="15" name="encryption 3 icon" descr="preencoded.png"/>
          <p:cNvPicPr>
            <a:picLocks noChangeAspect="1"/>
          </p:cNvPicPr>
          <p:nvPr/>
        </p:nvPicPr>
        <p:blipFill>
          <a:blip r:embed="rId5"/>
          <a:stretch>
            <a:fillRect/>
          </a:stretch>
        </p:blipFill>
        <p:spPr>
          <a:xfrm>
            <a:off x="914400" y="4937760"/>
            <a:ext cx="274320" cy="274320"/>
          </a:xfrm>
          <a:prstGeom prst="rect">
            <a:avLst/>
          </a:prstGeom>
        </p:spPr>
      </p:pic>
      <p:sp>
        <p:nvSpPr>
          <p:cNvPr id="16" name="Text 11"/>
          <p:cNvSpPr txBox="1"/>
          <p:nvPr/>
        </p:nvSpPr>
        <p:spPr>
          <a:xfrm>
            <a:off x="1508760" y="4709160"/>
            <a:ext cx="3794760" cy="347472"/>
          </a:xfrm>
          <a:prstGeom prst="rect">
            <a:avLst/>
          </a:prstGeom>
          <a:noFill/>
          <a:ln/>
        </p:spPr>
        <p:txBody>
          <a:bodyPr wrap="square" lIns="0" tIns="0" rIns="0" bIns="0" rtlCol="0" anchor="ctr"/>
          <a:lstStyle/>
          <a:p>
            <a:pPr marL="0" indent="0">
              <a:buNone/>
            </a:pPr>
            <a:r>
              <a:rPr lang="en-US" sz="1600" b="1" dirty="0">
                <a:solidFill>
                  <a:schemeClr val="accent1"/>
                </a:solidFill>
              </a:rPr>
              <a:t>Tested</a:t>
            </a:r>
            <a:endParaRPr lang="en-US" sz="1600" dirty="0"/>
          </a:p>
        </p:txBody>
      </p:sp>
      <p:sp>
        <p:nvSpPr>
          <p:cNvPr id="17" name="Text 12"/>
          <p:cNvSpPr txBox="1"/>
          <p:nvPr/>
        </p:nvSpPr>
        <p:spPr>
          <a:xfrm>
            <a:off x="1508760" y="5056632"/>
            <a:ext cx="3794760" cy="822960"/>
          </a:xfrm>
          <a:prstGeom prst="rect">
            <a:avLst/>
          </a:prstGeom>
          <a:noFill/>
          <a:ln/>
        </p:spPr>
        <p:txBody>
          <a:bodyPr wrap="square" lIns="0" tIns="0" rIns="0" bIns="0" rtlCol="0" anchor="t"/>
          <a:lstStyle/>
          <a:p>
            <a:pPr marL="0" indent="0">
              <a:buNone/>
            </a:pPr>
            <a:r>
              <a:rPr lang="en-US" sz="1300" dirty="0">
                <a:solidFill>
                  <a:schemeClr val="bg1"/>
                </a:solidFill>
              </a:rPr>
              <a:t>Upload of test-sse-s3.txt with an SSE-S3 override: Access denied.</a:t>
            </a:r>
            <a:endParaRPr lang="en-US" sz="1300" dirty="0"/>
          </a:p>
        </p:txBody>
      </p:sp>
      <p:pic>
        <p:nvPicPr>
          <p:cNvPr id="18" name="access denied screenshot" descr="/tmp/claude-0/-home-claude/82c33e58-f614-51a9-bcbb-11a0c7e9ca33/scratchpad/deck2/img/denied.png"/>
          <p:cNvPicPr>
            <a:picLocks noChangeAspect="1"/>
          </p:cNvPicPr>
          <p:nvPr/>
        </p:nvPicPr>
        <p:blipFill>
          <a:blip r:embed="rId6"/>
          <a:stretch>
            <a:fillRect/>
          </a:stretch>
        </p:blipFill>
        <p:spPr>
          <a:xfrm>
            <a:off x="5852160" y="1325880"/>
            <a:ext cx="5760720" cy="2041549"/>
          </a:xfrm>
          <a:prstGeom prst="rect">
            <a:avLst/>
          </a:prstGeom>
        </p:spPr>
      </p:pic>
      <p:sp>
        <p:nvSpPr>
          <p:cNvPr id="19" name="Text 13"/>
          <p:cNvSpPr txBox="1"/>
          <p:nvPr/>
        </p:nvSpPr>
        <p:spPr>
          <a:xfrm>
            <a:off x="5852160" y="3429000"/>
            <a:ext cx="5760720" cy="274320"/>
          </a:xfrm>
          <a:prstGeom prst="rect">
            <a:avLst/>
          </a:prstGeom>
          <a:noFill/>
          <a:ln/>
        </p:spPr>
        <p:txBody>
          <a:bodyPr wrap="square" lIns="0" tIns="0" rIns="0" bIns="0" rtlCol="0" anchor="ctr"/>
          <a:lstStyle/>
          <a:p>
            <a:pPr marL="0" indent="0">
              <a:buNone/>
            </a:pPr>
            <a:r>
              <a:rPr lang="en-US" sz="1100" i="1" dirty="0">
                <a:solidFill>
                  <a:schemeClr val="accent5"/>
                </a:solidFill>
              </a:rPr>
              <a:t>Evidence: evidence/week1/20, upload refused by the bucket policy</a:t>
            </a:r>
            <a:endParaRPr lang="en-US" sz="1100" dirty="0"/>
          </a:p>
        </p:txBody>
      </p:sp>
      <p:sp>
        <p:nvSpPr>
          <p:cNvPr id="20" name="why it matters"/>
          <p:cNvSpPr/>
          <p:nvPr/>
        </p:nvSpPr>
        <p:spPr>
          <a:xfrm>
            <a:off x="5852160" y="3931920"/>
            <a:ext cx="5760720" cy="1691640"/>
          </a:xfrm>
          <a:prstGeom prst="roundRect">
            <a:avLst>
              <a:gd name="adj" fmla="val 4324"/>
            </a:avLst>
          </a:prstGeom>
          <a:solidFill>
            <a:schemeClr val="bg2"/>
          </a:solidFill>
          <a:ln/>
        </p:spPr>
        <p:txBody>
          <a:bodyPr/>
          <a:lstStyle/>
          <a:p>
            <a:endParaRPr lang="en-CA"/>
          </a:p>
        </p:txBody>
      </p:sp>
      <p:sp>
        <p:nvSpPr>
          <p:cNvPr id="21" name="Text 15"/>
          <p:cNvSpPr txBox="1"/>
          <p:nvPr/>
        </p:nvSpPr>
        <p:spPr>
          <a:xfrm>
            <a:off x="6080760" y="4069080"/>
            <a:ext cx="5303520" cy="320040"/>
          </a:xfrm>
          <a:prstGeom prst="rect">
            <a:avLst/>
          </a:prstGeom>
          <a:noFill/>
          <a:ln/>
        </p:spPr>
        <p:txBody>
          <a:bodyPr wrap="square" lIns="0" tIns="0" rIns="0" bIns="0" rtlCol="0" anchor="ctr"/>
          <a:lstStyle/>
          <a:p>
            <a:pPr marL="0" indent="0">
              <a:buNone/>
            </a:pPr>
            <a:r>
              <a:rPr lang="en-US" sz="1500" b="1" dirty="0">
                <a:solidFill>
                  <a:schemeClr val="tx2"/>
                </a:solidFill>
              </a:rPr>
              <a:t>Why this matters</a:t>
            </a:r>
            <a:endParaRPr lang="en-US" sz="1500" dirty="0"/>
          </a:p>
        </p:txBody>
      </p:sp>
      <p:sp>
        <p:nvSpPr>
          <p:cNvPr id="22" name="Text 16"/>
          <p:cNvSpPr txBox="1"/>
          <p:nvPr/>
        </p:nvSpPr>
        <p:spPr>
          <a:xfrm>
            <a:off x="6080760" y="4434840"/>
            <a:ext cx="5303520" cy="1097280"/>
          </a:xfrm>
          <a:prstGeom prst="rect">
            <a:avLst/>
          </a:prstGeom>
          <a:noFill/>
          <a:ln/>
        </p:spPr>
        <p:txBody>
          <a:bodyPr wrap="square" lIns="0" tIns="0" rIns="0" bIns="0" rtlCol="0" anchor="t"/>
          <a:lstStyle/>
          <a:p>
            <a:pPr marL="0" indent="0">
              <a:buNone/>
            </a:pPr>
            <a:r>
              <a:rPr lang="en-US" sz="1300" dirty="0">
                <a:solidFill>
                  <a:schemeClr val="tx1"/>
                </a:solidFill>
              </a:rPr>
              <a:t>Default encryption only applies when the uploader does not ask for something else. A deny in the bucket policy overrides any IAM allow, so a weaker request is refused for every caller.</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ctr">
              <a:buNone/>
            </a:pPr>
            <a:r>
              <a:rPr lang="en-US" sz="3200" b="1" dirty="0">
                <a:solidFill>
                  <a:schemeClr val="tx1"/>
                </a:solidFill>
              </a:rPr>
              <a:t>Live: the PII gate blocks a bad batch</a:t>
            </a:r>
            <a:endParaRPr lang="en-US" sz="3200" dirty="0"/>
          </a:p>
        </p:txBody>
      </p:sp>
      <p:sp>
        <p:nvSpPr>
          <p:cNvPr id="3" name="live demo pill"/>
          <p:cNvSpPr/>
          <p:nvPr/>
        </p:nvSpPr>
        <p:spPr>
          <a:xfrm>
            <a:off x="10287000" y="457200"/>
            <a:ext cx="1325880" cy="411480"/>
          </a:xfrm>
          <a:prstGeom prst="roundRect">
            <a:avLst>
              <a:gd name="adj" fmla="val 44444"/>
            </a:avLst>
          </a:prstGeom>
          <a:solidFill>
            <a:schemeClr val="accent3"/>
          </a:solidFill>
          <a:ln/>
        </p:spPr>
        <p:txBody>
          <a:bodyPr/>
          <a:lstStyle/>
          <a:p>
            <a:endParaRPr lang="en-CA"/>
          </a:p>
        </p:txBody>
      </p:sp>
      <p:sp>
        <p:nvSpPr>
          <p:cNvPr id="4" name="Text 2"/>
          <p:cNvSpPr txBox="1"/>
          <p:nvPr/>
        </p:nvSpPr>
        <p:spPr>
          <a:xfrm>
            <a:off x="10287000" y="457200"/>
            <a:ext cx="1325880" cy="411480"/>
          </a:xfrm>
          <a:prstGeom prst="rect">
            <a:avLst/>
          </a:prstGeom>
          <a:noFill/>
          <a:ln/>
        </p:spPr>
        <p:txBody>
          <a:bodyPr wrap="square" lIns="0" tIns="0" rIns="0" bIns="0" rtlCol="0" anchor="ctr"/>
          <a:lstStyle/>
          <a:p>
            <a:pPr marL="0" indent="0" algn="ctr">
              <a:buNone/>
            </a:pPr>
            <a:r>
              <a:rPr lang="en-US" sz="1200" b="1" dirty="0">
                <a:solidFill>
                  <a:schemeClr val="bg1"/>
                </a:solidFill>
              </a:rPr>
              <a:t>LIVE DEMO</a:t>
            </a:r>
            <a:endParaRPr lang="en-US" sz="1200" dirty="0"/>
          </a:p>
        </p:txBody>
      </p:sp>
      <p:sp>
        <p:nvSpPr>
          <p:cNvPr id="5" name="Shape 3"/>
          <p:cNvSpPr/>
          <p:nvPr/>
        </p:nvSpPr>
        <p:spPr>
          <a:xfrm>
            <a:off x="548640" y="1371600"/>
            <a:ext cx="457200" cy="457200"/>
          </a:xfrm>
          <a:prstGeom prst="ellipse">
            <a:avLst/>
          </a:prstGeom>
          <a:solidFill>
            <a:schemeClr val="tx2"/>
          </a:solidFill>
          <a:ln/>
        </p:spPr>
        <p:txBody>
          <a:bodyPr/>
          <a:lstStyle/>
          <a:p>
            <a:endParaRPr lang="en-CA"/>
          </a:p>
        </p:txBody>
      </p:sp>
      <p:sp>
        <p:nvSpPr>
          <p:cNvPr id="6" name="Text 4"/>
          <p:cNvSpPr txBox="1"/>
          <p:nvPr/>
        </p:nvSpPr>
        <p:spPr>
          <a:xfrm>
            <a:off x="548640" y="13716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5"/>
          <p:cNvSpPr txBox="1"/>
          <p:nvPr/>
        </p:nvSpPr>
        <p:spPr>
          <a:xfrm>
            <a:off x="1143000" y="1325880"/>
            <a:ext cx="5120640" cy="274320"/>
          </a:xfrm>
          <a:prstGeom prst="rect">
            <a:avLst/>
          </a:prstGeom>
          <a:noFill/>
          <a:ln/>
        </p:spPr>
        <p:txBody>
          <a:bodyPr wrap="square" lIns="0" tIns="0" rIns="0" bIns="0" rtlCol="0" anchor="ctr"/>
          <a:lstStyle/>
          <a:p>
            <a:pPr marL="0" indent="0">
              <a:buNone/>
            </a:pPr>
            <a:r>
              <a:rPr lang="en-US" sz="1500" b="1" dirty="0">
                <a:solidFill>
                  <a:schemeClr val="tx1"/>
                </a:solidFill>
              </a:rPr>
              <a:t>Scan</a:t>
            </a:r>
            <a:endParaRPr lang="en-US" sz="1500" dirty="0"/>
          </a:p>
        </p:txBody>
      </p:sp>
      <p:sp>
        <p:nvSpPr>
          <p:cNvPr id="8" name="Text 6"/>
          <p:cNvSpPr txBox="1"/>
          <p:nvPr/>
        </p:nvSpPr>
        <p:spPr>
          <a:xfrm>
            <a:off x="1143000" y="1600200"/>
            <a:ext cx="5120640" cy="320040"/>
          </a:xfrm>
          <a:prstGeom prst="rect">
            <a:avLst/>
          </a:prstGeom>
          <a:noFill/>
          <a:ln/>
        </p:spPr>
        <p:txBody>
          <a:bodyPr wrap="square" lIns="0" tIns="0" rIns="0" bIns="0" rtlCol="0" anchor="ctr"/>
          <a:lstStyle/>
          <a:p>
            <a:pPr marL="0" indent="0">
              <a:buNone/>
            </a:pPr>
            <a:r>
              <a:rPr lang="en-US" sz="1200" dirty="0">
                <a:solidFill>
                  <a:schemeClr val="tx1"/>
                </a:solidFill>
              </a:rPr>
              <a:t>Lambda checks free text for health card, SIN, email and street address patterns</a:t>
            </a:r>
            <a:endParaRPr lang="en-US" sz="1200" dirty="0"/>
          </a:p>
        </p:txBody>
      </p:sp>
      <p:sp>
        <p:nvSpPr>
          <p:cNvPr id="9" name="Shape 7"/>
          <p:cNvSpPr/>
          <p:nvPr/>
        </p:nvSpPr>
        <p:spPr>
          <a:xfrm>
            <a:off x="548640" y="2029968"/>
            <a:ext cx="457200" cy="457200"/>
          </a:xfrm>
          <a:prstGeom prst="ellipse">
            <a:avLst/>
          </a:prstGeom>
          <a:solidFill>
            <a:schemeClr val="tx2"/>
          </a:solidFill>
          <a:ln/>
        </p:spPr>
        <p:txBody>
          <a:bodyPr/>
          <a:lstStyle/>
          <a:p>
            <a:endParaRPr lang="en-CA"/>
          </a:p>
        </p:txBody>
      </p:sp>
      <p:sp>
        <p:nvSpPr>
          <p:cNvPr id="10" name="Text 8"/>
          <p:cNvSpPr txBox="1"/>
          <p:nvPr/>
        </p:nvSpPr>
        <p:spPr>
          <a:xfrm>
            <a:off x="548640" y="202996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1" name="Text 9"/>
          <p:cNvSpPr txBox="1"/>
          <p:nvPr/>
        </p:nvSpPr>
        <p:spPr>
          <a:xfrm>
            <a:off x="1143000" y="1984248"/>
            <a:ext cx="5120640" cy="274320"/>
          </a:xfrm>
          <a:prstGeom prst="rect">
            <a:avLst/>
          </a:prstGeom>
          <a:noFill/>
          <a:ln/>
        </p:spPr>
        <p:txBody>
          <a:bodyPr wrap="square" lIns="0" tIns="0" rIns="0" bIns="0" rtlCol="0" anchor="ctr"/>
          <a:lstStyle/>
          <a:p>
            <a:pPr marL="0" indent="0">
              <a:buNone/>
            </a:pPr>
            <a:r>
              <a:rPr lang="en-US" sz="1500" b="1" dirty="0">
                <a:solidFill>
                  <a:schemeClr val="tx1"/>
                </a:solidFill>
              </a:rPr>
              <a:t>Decide</a:t>
            </a:r>
            <a:endParaRPr lang="en-US" sz="1500" dirty="0"/>
          </a:p>
        </p:txBody>
      </p:sp>
      <p:sp>
        <p:nvSpPr>
          <p:cNvPr id="12" name="Text 10"/>
          <p:cNvSpPr txBox="1"/>
          <p:nvPr/>
        </p:nvSpPr>
        <p:spPr>
          <a:xfrm>
            <a:off x="1143000" y="2258568"/>
            <a:ext cx="5120640" cy="320040"/>
          </a:xfrm>
          <a:prstGeom prst="rect">
            <a:avLst/>
          </a:prstGeom>
          <a:noFill/>
          <a:ln/>
        </p:spPr>
        <p:txBody>
          <a:bodyPr wrap="square" lIns="0" tIns="0" rIns="0" bIns="0" rtlCol="0" anchor="ctr"/>
          <a:lstStyle/>
          <a:p>
            <a:pPr marL="0" indent="0">
              <a:buNone/>
            </a:pPr>
            <a:r>
              <a:rPr lang="en-US" sz="1200" dirty="0">
                <a:solidFill>
                  <a:schemeClr val="tx1"/>
                </a:solidFill>
              </a:rPr>
              <a:t>PII found? One bad row blocks the whole batch</a:t>
            </a:r>
            <a:endParaRPr lang="en-US" sz="1200" dirty="0"/>
          </a:p>
        </p:txBody>
      </p:sp>
      <p:sp>
        <p:nvSpPr>
          <p:cNvPr id="13" name="Shape 11"/>
          <p:cNvSpPr/>
          <p:nvPr/>
        </p:nvSpPr>
        <p:spPr>
          <a:xfrm>
            <a:off x="548640" y="2688336"/>
            <a:ext cx="457200" cy="457200"/>
          </a:xfrm>
          <a:prstGeom prst="ellipse">
            <a:avLst/>
          </a:prstGeom>
          <a:solidFill>
            <a:schemeClr val="tx2"/>
          </a:solidFill>
          <a:ln/>
        </p:spPr>
        <p:txBody>
          <a:bodyPr/>
          <a:lstStyle/>
          <a:p>
            <a:endParaRPr lang="en-CA"/>
          </a:p>
        </p:txBody>
      </p:sp>
      <p:sp>
        <p:nvSpPr>
          <p:cNvPr id="14" name="Text 12"/>
          <p:cNvSpPr txBox="1"/>
          <p:nvPr/>
        </p:nvSpPr>
        <p:spPr>
          <a:xfrm>
            <a:off x="548640" y="268833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5" name="Text 13"/>
          <p:cNvSpPr txBox="1"/>
          <p:nvPr/>
        </p:nvSpPr>
        <p:spPr>
          <a:xfrm>
            <a:off x="1143000" y="2642616"/>
            <a:ext cx="5120640" cy="274320"/>
          </a:xfrm>
          <a:prstGeom prst="rect">
            <a:avLst/>
          </a:prstGeom>
          <a:noFill/>
          <a:ln/>
        </p:spPr>
        <p:txBody>
          <a:bodyPr wrap="square" lIns="0" tIns="0" rIns="0" bIns="0" rtlCol="0" anchor="ctr"/>
          <a:lstStyle/>
          <a:p>
            <a:pPr marL="0" indent="0">
              <a:buNone/>
            </a:pPr>
            <a:r>
              <a:rPr lang="en-US" sz="1500" b="1" dirty="0">
                <a:solidFill>
                  <a:schemeClr val="tx1"/>
                </a:solidFill>
              </a:rPr>
              <a:t>Quarantine and alert</a:t>
            </a:r>
            <a:endParaRPr lang="en-US" sz="1500" dirty="0"/>
          </a:p>
        </p:txBody>
      </p:sp>
      <p:sp>
        <p:nvSpPr>
          <p:cNvPr id="16" name="Text 14"/>
          <p:cNvSpPr txBox="1"/>
          <p:nvPr/>
        </p:nvSpPr>
        <p:spPr>
          <a:xfrm>
            <a:off x="1143000" y="2916936"/>
            <a:ext cx="5120640" cy="320040"/>
          </a:xfrm>
          <a:prstGeom prst="rect">
            <a:avLst/>
          </a:prstGeom>
          <a:noFill/>
          <a:ln/>
        </p:spPr>
        <p:txBody>
          <a:bodyPr wrap="square" lIns="0" tIns="0" rIns="0" bIns="0" rtlCol="0" anchor="ctr"/>
          <a:lstStyle/>
          <a:p>
            <a:pPr marL="0" indent="0">
              <a:buNone/>
            </a:pPr>
            <a:r>
              <a:rPr lang="en-US" sz="1200" dirty="0">
                <a:solidFill>
                  <a:schemeClr val="tx1"/>
                </a:solidFill>
              </a:rPr>
              <a:t>Batch copied to quarantine; SNS emails the team with IDs only, no PII values</a:t>
            </a:r>
            <a:endParaRPr lang="en-US" sz="1200" dirty="0"/>
          </a:p>
        </p:txBody>
      </p:sp>
      <p:sp>
        <p:nvSpPr>
          <p:cNvPr id="17" name="Shape 15"/>
          <p:cNvSpPr/>
          <p:nvPr/>
        </p:nvSpPr>
        <p:spPr>
          <a:xfrm>
            <a:off x="548640" y="3346704"/>
            <a:ext cx="457200" cy="457200"/>
          </a:xfrm>
          <a:prstGeom prst="ellipse">
            <a:avLst/>
          </a:prstGeom>
          <a:solidFill>
            <a:schemeClr val="accent3"/>
          </a:solidFill>
          <a:ln/>
        </p:spPr>
        <p:txBody>
          <a:bodyPr/>
          <a:lstStyle/>
          <a:p>
            <a:endParaRPr lang="en-CA"/>
          </a:p>
        </p:txBody>
      </p:sp>
      <p:sp>
        <p:nvSpPr>
          <p:cNvPr id="18" name="Text 16"/>
          <p:cNvSpPr txBox="1"/>
          <p:nvPr/>
        </p:nvSpPr>
        <p:spPr>
          <a:xfrm>
            <a:off x="548640" y="334670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9" name="Text 17"/>
          <p:cNvSpPr txBox="1"/>
          <p:nvPr/>
        </p:nvSpPr>
        <p:spPr>
          <a:xfrm>
            <a:off x="1143000" y="3300984"/>
            <a:ext cx="5120640" cy="274320"/>
          </a:xfrm>
          <a:prstGeom prst="rect">
            <a:avLst/>
          </a:prstGeom>
          <a:noFill/>
          <a:ln/>
        </p:spPr>
        <p:txBody>
          <a:bodyPr wrap="square" lIns="0" tIns="0" rIns="0" bIns="0" rtlCol="0" anchor="ctr"/>
          <a:lstStyle/>
          <a:p>
            <a:pPr marL="0" indent="0">
              <a:buNone/>
            </a:pPr>
            <a:r>
              <a:rPr lang="en-US" sz="1500" b="1" dirty="0">
                <a:solidFill>
                  <a:schemeClr val="tx1"/>
                </a:solidFill>
              </a:rPr>
              <a:t>Blocked</a:t>
            </a:r>
            <a:endParaRPr lang="en-US" sz="1500" dirty="0"/>
          </a:p>
        </p:txBody>
      </p:sp>
      <p:sp>
        <p:nvSpPr>
          <p:cNvPr id="20" name="Text 18"/>
          <p:cNvSpPr txBox="1"/>
          <p:nvPr/>
        </p:nvSpPr>
        <p:spPr>
          <a:xfrm>
            <a:off x="1143000" y="3575304"/>
            <a:ext cx="5120640" cy="320040"/>
          </a:xfrm>
          <a:prstGeom prst="rect">
            <a:avLst/>
          </a:prstGeom>
          <a:noFill/>
          <a:ln/>
        </p:spPr>
        <p:txBody>
          <a:bodyPr wrap="square" lIns="0" tIns="0" rIns="0" bIns="0" rtlCol="0" anchor="ctr"/>
          <a:lstStyle/>
          <a:p>
            <a:pPr marL="0" indent="0">
              <a:buNone/>
            </a:pPr>
            <a:r>
              <a:rPr lang="en-US" sz="1200" dirty="0">
                <a:solidFill>
                  <a:schemeClr val="tx1"/>
                </a:solidFill>
              </a:rPr>
              <a:t>The run fails on purpose with PIIDetected; PromoteToCurated never runs</a:t>
            </a:r>
            <a:endParaRPr lang="en-US" sz="1200" dirty="0"/>
          </a:p>
        </p:txBody>
      </p:sp>
      <p:pic>
        <p:nvPicPr>
          <p:cNvPr id="21" name="SNS alert screenshot" descr="/tmp/claude-0/-home-claude/82c33e58-f614-51a9-bcbb-11a0c7e9ca33/scratchpad/deck2/img/sns.png"/>
          <p:cNvPicPr>
            <a:picLocks noChangeAspect="1"/>
          </p:cNvPicPr>
          <p:nvPr/>
        </p:nvPicPr>
        <p:blipFill>
          <a:blip r:embed="rId3"/>
          <a:stretch>
            <a:fillRect/>
          </a:stretch>
        </p:blipFill>
        <p:spPr>
          <a:xfrm>
            <a:off x="548640" y="4114800"/>
            <a:ext cx="5760720" cy="1860779"/>
          </a:xfrm>
          <a:prstGeom prst="rect">
            <a:avLst/>
          </a:prstGeom>
        </p:spPr>
      </p:pic>
      <p:sp>
        <p:nvSpPr>
          <p:cNvPr id="22" name="Text 19"/>
          <p:cNvSpPr txBox="1"/>
          <p:nvPr/>
        </p:nvSpPr>
        <p:spPr>
          <a:xfrm>
            <a:off x="548640" y="6035040"/>
            <a:ext cx="5760720" cy="274320"/>
          </a:xfrm>
          <a:prstGeom prst="rect">
            <a:avLst/>
          </a:prstGeom>
          <a:noFill/>
          <a:ln/>
        </p:spPr>
        <p:txBody>
          <a:bodyPr wrap="square" lIns="0" tIns="0" rIns="0" bIns="0" rtlCol="0" anchor="ctr"/>
          <a:lstStyle/>
          <a:p>
            <a:pPr marL="0" indent="0">
              <a:buNone/>
            </a:pPr>
            <a:r>
              <a:rPr lang="en-US" sz="1100" i="1" dirty="0">
                <a:solidFill>
                  <a:schemeClr val="accent5"/>
                </a:solidFill>
              </a:rPr>
              <a:t>The real alert: flagged encounter IDs and finding types, no PII values</a:t>
            </a:r>
            <a:endParaRPr lang="en-US" sz="1100" dirty="0"/>
          </a:p>
        </p:txBody>
      </p:sp>
      <p:pic>
        <p:nvPicPr>
          <p:cNvPr id="23" name="Step Functions graph screenshot" descr="/tmp/claude-0/-home-claude/82c33e58-f614-51a9-bcbb-11a0c7e9ca33/scratchpad/deck2/img/gate_graph.png"/>
          <p:cNvPicPr>
            <a:picLocks noChangeAspect="1"/>
          </p:cNvPicPr>
          <p:nvPr/>
        </p:nvPicPr>
        <p:blipFill>
          <a:blip r:embed="rId4"/>
          <a:stretch>
            <a:fillRect/>
          </a:stretch>
        </p:blipFill>
        <p:spPr>
          <a:xfrm>
            <a:off x="6720840" y="1325880"/>
            <a:ext cx="4892040" cy="4219642"/>
          </a:xfrm>
          <a:prstGeom prst="rect">
            <a:avLst/>
          </a:prstGeom>
        </p:spPr>
      </p:pic>
      <p:sp>
        <p:nvSpPr>
          <p:cNvPr id="24" name="Text 20"/>
          <p:cNvSpPr txBox="1"/>
          <p:nvPr/>
        </p:nvSpPr>
        <p:spPr>
          <a:xfrm>
            <a:off x="6720840" y="5623560"/>
            <a:ext cx="4892040" cy="274320"/>
          </a:xfrm>
          <a:prstGeom prst="rect">
            <a:avLst/>
          </a:prstGeom>
          <a:noFill/>
          <a:ln/>
        </p:spPr>
        <p:txBody>
          <a:bodyPr wrap="square" lIns="0" tIns="0" rIns="0" bIns="0" rtlCol="0" anchor="ctr"/>
          <a:lstStyle/>
          <a:p>
            <a:pPr marL="0" indent="0">
              <a:buNone/>
            </a:pPr>
            <a:r>
              <a:rPr lang="en-US" sz="1100" i="1" dirty="0">
                <a:solidFill>
                  <a:schemeClr val="accent5"/>
                </a:solidFill>
              </a:rPr>
              <a:t>Execution test1-clinic-a-raw: Failed at GateBlocked</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ctr">
              <a:buNone/>
            </a:pPr>
            <a:r>
              <a:rPr lang="en-US" sz="3200" b="1" dirty="0">
                <a:solidFill>
                  <a:schemeClr val="tx1"/>
                </a:solidFill>
              </a:rPr>
              <a:t>PII gate results: 14 of 14 caught, zero false alarms</a:t>
            </a:r>
            <a:endParaRPr lang="en-US" sz="3200" dirty="0"/>
          </a:p>
        </p:txBody>
      </p:sp>
      <p:sp>
        <p:nvSpPr>
          <p:cNvPr id="3" name="big stat"/>
          <p:cNvSpPr/>
          <p:nvPr/>
        </p:nvSpPr>
        <p:spPr>
          <a:xfrm>
            <a:off x="548640" y="1325880"/>
            <a:ext cx="3566160" cy="2194560"/>
          </a:xfrm>
          <a:prstGeom prst="roundRect">
            <a:avLst>
              <a:gd name="adj" fmla="val 3333"/>
            </a:avLst>
          </a:prstGeom>
          <a:solidFill>
            <a:schemeClr val="tx1"/>
          </a:solidFill>
          <a:ln/>
        </p:spPr>
        <p:txBody>
          <a:bodyPr/>
          <a:lstStyle/>
          <a:p>
            <a:endParaRPr lang="en-CA"/>
          </a:p>
        </p:txBody>
      </p:sp>
      <p:sp>
        <p:nvSpPr>
          <p:cNvPr id="4" name="Text 2"/>
          <p:cNvSpPr txBox="1"/>
          <p:nvPr/>
        </p:nvSpPr>
        <p:spPr>
          <a:xfrm>
            <a:off x="777240" y="1463040"/>
            <a:ext cx="3108960" cy="1005840"/>
          </a:xfrm>
          <a:prstGeom prst="rect">
            <a:avLst/>
          </a:prstGeom>
          <a:noFill/>
          <a:ln/>
        </p:spPr>
        <p:txBody>
          <a:bodyPr wrap="square" lIns="0" tIns="0" rIns="0" bIns="0" rtlCol="0" anchor="ctr"/>
          <a:lstStyle/>
          <a:p>
            <a:pPr marL="0" indent="0">
              <a:buNone/>
            </a:pPr>
            <a:r>
              <a:rPr lang="en-US" sz="6000" b="1" dirty="0">
                <a:solidFill>
                  <a:schemeClr val="accent1"/>
                </a:solidFill>
              </a:rPr>
              <a:t>14 / 14</a:t>
            </a:r>
            <a:endParaRPr lang="en-US" sz="6000" dirty="0"/>
          </a:p>
        </p:txBody>
      </p:sp>
      <p:sp>
        <p:nvSpPr>
          <p:cNvPr id="5" name="Text 3"/>
          <p:cNvSpPr txBox="1"/>
          <p:nvPr/>
        </p:nvSpPr>
        <p:spPr>
          <a:xfrm>
            <a:off x="777240" y="2514600"/>
            <a:ext cx="3108960" cy="822960"/>
          </a:xfrm>
          <a:prstGeom prst="rect">
            <a:avLst/>
          </a:prstGeom>
          <a:noFill/>
          <a:ln/>
        </p:spPr>
        <p:txBody>
          <a:bodyPr wrap="square" lIns="0" tIns="0" rIns="0" bIns="0" rtlCol="0" anchor="t"/>
          <a:lstStyle/>
          <a:p>
            <a:pPr marL="0" indent="0">
              <a:buNone/>
            </a:pPr>
            <a:r>
              <a:rPr lang="en-US" sz="1400" dirty="0">
                <a:solidFill>
                  <a:schemeClr val="bg1"/>
                </a:solidFill>
              </a:rPr>
              <a:t>seeded PII rows caught, checked against the instructor answer key</a:t>
            </a:r>
            <a:endParaRPr lang="en-US" sz="1400" dirty="0"/>
          </a:p>
        </p:txBody>
      </p:sp>
      <p:sp>
        <p:nvSpPr>
          <p:cNvPr id="6" name="metric precision"/>
          <p:cNvSpPr/>
          <p:nvPr/>
        </p:nvSpPr>
        <p:spPr>
          <a:xfrm>
            <a:off x="548640" y="3703320"/>
            <a:ext cx="1097280" cy="1143000"/>
          </a:xfrm>
          <a:prstGeom prst="roundRect">
            <a:avLst>
              <a:gd name="adj" fmla="val 6667"/>
            </a:avLst>
          </a:prstGeom>
          <a:solidFill>
            <a:schemeClr val="bg2"/>
          </a:solidFill>
          <a:ln/>
        </p:spPr>
        <p:txBody>
          <a:bodyPr/>
          <a:lstStyle/>
          <a:p>
            <a:endParaRPr lang="en-CA"/>
          </a:p>
        </p:txBody>
      </p:sp>
      <p:sp>
        <p:nvSpPr>
          <p:cNvPr id="7" name="Text 5"/>
          <p:cNvSpPr txBox="1"/>
          <p:nvPr/>
        </p:nvSpPr>
        <p:spPr>
          <a:xfrm>
            <a:off x="640080" y="3794760"/>
            <a:ext cx="914400" cy="548640"/>
          </a:xfrm>
          <a:prstGeom prst="rect">
            <a:avLst/>
          </a:prstGeom>
          <a:noFill/>
          <a:ln/>
        </p:spPr>
        <p:txBody>
          <a:bodyPr wrap="square" lIns="0" tIns="0" rIns="0" bIns="0" rtlCol="0" anchor="ctr"/>
          <a:lstStyle/>
          <a:p>
            <a:pPr marL="0" indent="0" algn="ctr">
              <a:buNone/>
            </a:pPr>
            <a:r>
              <a:rPr lang="en-US" sz="2400" b="1" dirty="0">
                <a:solidFill>
                  <a:schemeClr val="tx2"/>
                </a:solidFill>
              </a:rPr>
              <a:t>1.00</a:t>
            </a:r>
            <a:endParaRPr lang="en-US" sz="2400" dirty="0"/>
          </a:p>
        </p:txBody>
      </p:sp>
      <p:sp>
        <p:nvSpPr>
          <p:cNvPr id="8" name="Text 6"/>
          <p:cNvSpPr txBox="1"/>
          <p:nvPr/>
        </p:nvSpPr>
        <p:spPr>
          <a:xfrm>
            <a:off x="594360" y="4343400"/>
            <a:ext cx="1005840" cy="411480"/>
          </a:xfrm>
          <a:prstGeom prst="rect">
            <a:avLst/>
          </a:prstGeom>
          <a:noFill/>
          <a:ln/>
        </p:spPr>
        <p:txBody>
          <a:bodyPr wrap="square" lIns="0" tIns="0" rIns="0" bIns="0" rtlCol="0" anchor="ctr"/>
          <a:lstStyle/>
          <a:p>
            <a:pPr marL="0" indent="0" algn="ctr">
              <a:buNone/>
            </a:pPr>
            <a:r>
              <a:rPr lang="en-US" sz="1100" dirty="0">
                <a:solidFill>
                  <a:schemeClr val="tx1"/>
                </a:solidFill>
              </a:rPr>
              <a:t>precision</a:t>
            </a:r>
            <a:endParaRPr lang="en-US" sz="1100" dirty="0"/>
          </a:p>
        </p:txBody>
      </p:sp>
      <p:sp>
        <p:nvSpPr>
          <p:cNvPr id="9" name="metric recall"/>
          <p:cNvSpPr/>
          <p:nvPr/>
        </p:nvSpPr>
        <p:spPr>
          <a:xfrm>
            <a:off x="1764792" y="3703320"/>
            <a:ext cx="1097280" cy="1143000"/>
          </a:xfrm>
          <a:prstGeom prst="roundRect">
            <a:avLst>
              <a:gd name="adj" fmla="val 6667"/>
            </a:avLst>
          </a:prstGeom>
          <a:solidFill>
            <a:schemeClr val="bg2"/>
          </a:solidFill>
          <a:ln/>
        </p:spPr>
        <p:txBody>
          <a:bodyPr/>
          <a:lstStyle/>
          <a:p>
            <a:endParaRPr lang="en-CA"/>
          </a:p>
        </p:txBody>
      </p:sp>
      <p:sp>
        <p:nvSpPr>
          <p:cNvPr id="10" name="Text 8"/>
          <p:cNvSpPr txBox="1"/>
          <p:nvPr/>
        </p:nvSpPr>
        <p:spPr>
          <a:xfrm>
            <a:off x="1856232" y="3794760"/>
            <a:ext cx="914400" cy="548640"/>
          </a:xfrm>
          <a:prstGeom prst="rect">
            <a:avLst/>
          </a:prstGeom>
          <a:noFill/>
          <a:ln/>
        </p:spPr>
        <p:txBody>
          <a:bodyPr wrap="square" lIns="0" tIns="0" rIns="0" bIns="0" rtlCol="0" anchor="ctr"/>
          <a:lstStyle/>
          <a:p>
            <a:pPr marL="0" indent="0" algn="ctr">
              <a:buNone/>
            </a:pPr>
            <a:r>
              <a:rPr lang="en-US" sz="2400" b="1" dirty="0">
                <a:solidFill>
                  <a:schemeClr val="tx2"/>
                </a:solidFill>
              </a:rPr>
              <a:t>1.00</a:t>
            </a:r>
            <a:endParaRPr lang="en-US" sz="2400" dirty="0"/>
          </a:p>
        </p:txBody>
      </p:sp>
      <p:sp>
        <p:nvSpPr>
          <p:cNvPr id="11" name="Text 9"/>
          <p:cNvSpPr txBox="1"/>
          <p:nvPr/>
        </p:nvSpPr>
        <p:spPr>
          <a:xfrm>
            <a:off x="1810512" y="4343400"/>
            <a:ext cx="1005840" cy="411480"/>
          </a:xfrm>
          <a:prstGeom prst="rect">
            <a:avLst/>
          </a:prstGeom>
          <a:noFill/>
          <a:ln/>
        </p:spPr>
        <p:txBody>
          <a:bodyPr wrap="square" lIns="0" tIns="0" rIns="0" bIns="0" rtlCol="0" anchor="ctr"/>
          <a:lstStyle/>
          <a:p>
            <a:pPr marL="0" indent="0" algn="ctr">
              <a:buNone/>
            </a:pPr>
            <a:r>
              <a:rPr lang="en-US" sz="1100" dirty="0">
                <a:solidFill>
                  <a:schemeClr val="tx1"/>
                </a:solidFill>
              </a:rPr>
              <a:t>recall</a:t>
            </a:r>
            <a:endParaRPr lang="en-US" sz="1100" dirty="0"/>
          </a:p>
        </p:txBody>
      </p:sp>
      <p:sp>
        <p:nvSpPr>
          <p:cNvPr id="12" name="metric false positives"/>
          <p:cNvSpPr/>
          <p:nvPr/>
        </p:nvSpPr>
        <p:spPr>
          <a:xfrm>
            <a:off x="2980944" y="3703320"/>
            <a:ext cx="1097280" cy="1143000"/>
          </a:xfrm>
          <a:prstGeom prst="roundRect">
            <a:avLst>
              <a:gd name="adj" fmla="val 6667"/>
            </a:avLst>
          </a:prstGeom>
          <a:solidFill>
            <a:schemeClr val="bg2"/>
          </a:solidFill>
          <a:ln/>
        </p:spPr>
        <p:txBody>
          <a:bodyPr/>
          <a:lstStyle/>
          <a:p>
            <a:endParaRPr lang="en-CA"/>
          </a:p>
        </p:txBody>
      </p:sp>
      <p:sp>
        <p:nvSpPr>
          <p:cNvPr id="13" name="Text 11"/>
          <p:cNvSpPr txBox="1"/>
          <p:nvPr/>
        </p:nvSpPr>
        <p:spPr>
          <a:xfrm>
            <a:off x="3072384" y="3794760"/>
            <a:ext cx="914400" cy="548640"/>
          </a:xfrm>
          <a:prstGeom prst="rect">
            <a:avLst/>
          </a:prstGeom>
          <a:noFill/>
          <a:ln/>
        </p:spPr>
        <p:txBody>
          <a:bodyPr wrap="square" lIns="0" tIns="0" rIns="0" bIns="0" rtlCol="0" anchor="ctr"/>
          <a:lstStyle/>
          <a:p>
            <a:pPr marL="0" indent="0" algn="ctr">
              <a:buNone/>
            </a:pPr>
            <a:r>
              <a:rPr lang="en-US" sz="2400" b="1" dirty="0">
                <a:solidFill>
                  <a:schemeClr val="tx2"/>
                </a:solidFill>
              </a:rPr>
              <a:t>0</a:t>
            </a:r>
            <a:endParaRPr lang="en-US" sz="2400" dirty="0"/>
          </a:p>
        </p:txBody>
      </p:sp>
      <p:sp>
        <p:nvSpPr>
          <p:cNvPr id="14" name="Text 12"/>
          <p:cNvSpPr txBox="1"/>
          <p:nvPr/>
        </p:nvSpPr>
        <p:spPr>
          <a:xfrm>
            <a:off x="3026664" y="4343400"/>
            <a:ext cx="1005840" cy="411480"/>
          </a:xfrm>
          <a:prstGeom prst="rect">
            <a:avLst/>
          </a:prstGeom>
          <a:noFill/>
          <a:ln/>
        </p:spPr>
        <p:txBody>
          <a:bodyPr wrap="square" lIns="0" tIns="0" rIns="0" bIns="0" rtlCol="0" anchor="ctr"/>
          <a:lstStyle/>
          <a:p>
            <a:pPr marL="0" indent="0" algn="ctr">
              <a:buNone/>
            </a:pPr>
            <a:r>
              <a:rPr lang="en-US" sz="1100" dirty="0">
                <a:solidFill>
                  <a:schemeClr val="tx1"/>
                </a:solidFill>
              </a:rPr>
              <a:t>false positives</a:t>
            </a:r>
            <a:endParaRPr lang="en-US" sz="1100" dirty="0"/>
          </a:p>
        </p:txBody>
      </p:sp>
      <p:sp>
        <p:nvSpPr>
          <p:cNvPr id="15" name="Text 13"/>
          <p:cNvSpPr txBox="1"/>
          <p:nvPr/>
        </p:nvSpPr>
        <p:spPr>
          <a:xfrm>
            <a:off x="548640" y="5029200"/>
            <a:ext cx="3566160" cy="914400"/>
          </a:xfrm>
          <a:prstGeom prst="rect">
            <a:avLst/>
          </a:prstGeom>
          <a:noFill/>
          <a:ln/>
        </p:spPr>
        <p:txBody>
          <a:bodyPr wrap="square" lIns="0" tIns="0" rIns="0" bIns="0" rtlCol="0" anchor="t"/>
          <a:lstStyle/>
          <a:p>
            <a:pPr marL="0" indent="0">
              <a:buNone/>
            </a:pPr>
            <a:r>
              <a:rPr lang="en-US" sz="1300" i="1" dirty="0">
                <a:solidFill>
                  <a:schemeClr val="accent5"/>
                </a:solidFill>
              </a:rPr>
              <a:t>3 raw batches blocked, 3 steward redacted batches promoted. Rerun offline on Oct 21 with python3 tests/test_pii_scan.py.</a:t>
            </a:r>
            <a:endParaRPr lang="en-US" sz="1300" dirty="0"/>
          </a:p>
        </p:txBody>
      </p:sp>
      <p:graphicFrame>
        <p:nvGraphicFramePr>
          <p:cNvPr id="16" name="Chart 0"/>
          <p:cNvGraphicFramePr/>
          <p:nvPr/>
        </p:nvGraphicFramePr>
        <p:xfrm>
          <a:off x="4480560" y="1280160"/>
          <a:ext cx="7132320" cy="2468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480560" y="3931920"/>
          <a:ext cx="7132320" cy="1719072"/>
        </p:xfrm>
        <a:graphic>
          <a:graphicData uri="http://schemas.openxmlformats.org/drawingml/2006/table">
            <a:tbl>
              <a:tblPr/>
              <a:tblGrid>
                <a:gridCol w="82296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gridCol w="2103120">
                  <a:extLst>
                    <a:ext uri="{9D8B030D-6E8A-4147-A177-3AD203B41FA5}">
                      <a16:colId xmlns:a16="http://schemas.microsoft.com/office/drawing/2014/main" val="20005"/>
                    </a:ext>
                  </a:extLst>
                </a:gridCol>
              </a:tblGrid>
              <a:tr h="384048">
                <a:tc>
                  <a:txBody>
                    <a:bodyPr/>
                    <a:lstStyle/>
                    <a:p>
                      <a:pPr marL="0" indent="0">
                        <a:buNone/>
                      </a:pPr>
                      <a:r>
                        <a:rPr lang="en-US" sz="1100" b="1" dirty="0">
                          <a:solidFill>
                            <a:srgbClr val="FFFFFF"/>
                          </a:solidFill>
                        </a:rPr>
                        <a:t>Clinic</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tc>
                  <a:txBody>
                    <a:bodyPr/>
                    <a:lstStyle/>
                    <a:p>
                      <a:pPr marL="0" indent="0">
                        <a:buNone/>
                      </a:pPr>
                      <a:r>
                        <a:rPr lang="en-US" sz="1100" b="1" dirty="0">
                          <a:solidFill>
                            <a:srgbClr val="FFFFFF"/>
                          </a:solidFill>
                        </a:rPr>
                        <a:t>Rows</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tc>
                  <a:txBody>
                    <a:bodyPr/>
                    <a:lstStyle/>
                    <a:p>
                      <a:pPr marL="0" indent="0">
                        <a:buNone/>
                      </a:pPr>
                      <a:r>
                        <a:rPr lang="en-US" sz="1100" b="1" dirty="0">
                          <a:solidFill>
                            <a:srgbClr val="FFFFFF"/>
                          </a:solidFill>
                        </a:rPr>
                        <a:t>Flagged</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tc>
                  <a:txBody>
                    <a:bodyPr/>
                    <a:lstStyle/>
                    <a:p>
                      <a:pPr marL="0" indent="0">
                        <a:buNone/>
                      </a:pPr>
                      <a:r>
                        <a:rPr lang="en-US" sz="1100" b="1" dirty="0">
                          <a:solidFill>
                            <a:srgbClr val="FFFFFF"/>
                          </a:solidFill>
                        </a:rPr>
                        <a:t>Seeded</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tc>
                  <a:txBody>
                    <a:bodyPr/>
                    <a:lstStyle/>
                    <a:p>
                      <a:pPr marL="0" indent="0">
                        <a:buNone/>
                      </a:pPr>
                      <a:r>
                        <a:rPr lang="en-US" sz="1100" b="1" dirty="0">
                          <a:solidFill>
                            <a:srgbClr val="FFFFFF"/>
                          </a:solidFill>
                        </a:rPr>
                        <a:t>Findings</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tc>
                  <a:txBody>
                    <a:bodyPr/>
                    <a:lstStyle/>
                    <a:p>
                      <a:pPr marL="0" indent="0">
                        <a:buNone/>
                      </a:pPr>
                      <a:r>
                        <a:rPr lang="en-US" sz="1100" b="1" dirty="0">
                          <a:solidFill>
                            <a:srgbClr val="FFFFFF"/>
                          </a:solidFill>
                        </a:rPr>
                        <a:t>Gate result</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3213C"/>
                          </a:solidFill>
                        </a:rPr>
                        <a:t>clinic-a</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100" dirty="0">
                          <a:solidFill>
                            <a:srgbClr val="13213C"/>
                          </a:solidFill>
                        </a:rPr>
                        <a:t>191</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100" dirty="0">
                          <a:solidFill>
                            <a:srgbClr val="13213C"/>
                          </a:solidFill>
                        </a:rPr>
                        <a:t>4</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100" dirty="0">
                          <a:solidFill>
                            <a:srgbClr val="13213C"/>
                          </a:solidFill>
                        </a:rPr>
                        <a:t>4</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100" dirty="0">
                          <a:solidFill>
                            <a:srgbClr val="13213C"/>
                          </a:solidFill>
                        </a:rPr>
                        <a:t>health card 3, email 4, address 3</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100" dirty="0">
                          <a:solidFill>
                            <a:srgbClr val="13213C"/>
                          </a:solidFill>
                        </a:rPr>
                        <a:t>Blocked, then promoted after redaction</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3213C"/>
                          </a:solidFill>
                        </a:rPr>
                        <a:t>clinic-b</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100" dirty="0">
                          <a:solidFill>
                            <a:srgbClr val="13213C"/>
                          </a:solidFill>
                        </a:rPr>
                        <a:t>243</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100" dirty="0">
                          <a:solidFill>
                            <a:srgbClr val="13213C"/>
                          </a:solidFill>
                        </a:rPr>
                        <a:t>6</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100" dirty="0">
                          <a:solidFill>
                            <a:srgbClr val="13213C"/>
                          </a:solidFill>
                        </a:rPr>
                        <a:t>6</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100" dirty="0">
                          <a:solidFill>
                            <a:srgbClr val="13213C"/>
                          </a:solidFill>
                        </a:rPr>
                        <a:t>health card 5, email 2, address 2, SIN 1</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100" dirty="0">
                          <a:solidFill>
                            <a:srgbClr val="13213C"/>
                          </a:solidFill>
                        </a:rPr>
                        <a:t>Blocked, then promoted after redaction</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3213C"/>
                          </a:solidFill>
                        </a:rPr>
                        <a:t>clinic-c</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100" dirty="0">
                          <a:solidFill>
                            <a:srgbClr val="13213C"/>
                          </a:solidFill>
                        </a:rPr>
                        <a:t>181</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100" dirty="0">
                          <a:solidFill>
                            <a:srgbClr val="13213C"/>
                          </a:solidFill>
                        </a:rPr>
                        <a:t>4</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100" dirty="0">
                          <a:solidFill>
                            <a:srgbClr val="13213C"/>
                          </a:solidFill>
                        </a:rPr>
                        <a:t>4</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100" dirty="0">
                          <a:solidFill>
                            <a:srgbClr val="13213C"/>
                          </a:solidFill>
                        </a:rPr>
                        <a:t>email 2, health card 2</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100" dirty="0">
                          <a:solidFill>
                            <a:srgbClr val="13213C"/>
                          </a:solidFill>
                        </a:rPr>
                        <a:t>Blocked, then promoted after redaction</a:t>
                      </a:r>
                      <a:endParaRPr lang="en-US" sz="1100" dirty="0"/>
                    </a:p>
                  </a:txBody>
                  <a:tcPr marL="54864" marR="54864" marT="54864" marB="54864"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Each analyst sees only what their role allows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2779776"/>
        </p:xfrm>
        <a:graphic>
          <a:graphicData uri="http://schemas.openxmlformats.org/drawingml/2006/table">
            <a:tbl>
              <a:tblPr/>
              <a:tblGrid>
                <a:gridCol w="7315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47472">
                <a:tc>
                  <a:txBody>
                    <a:bodyPr/>
                    <a:lstStyle/>
                    <a:p>
                      <a:pPr marL="0" indent="0">
                        <a:buNone/>
                      </a:pPr>
                      <a:r>
                        <a:rPr lang="en-US" sz="1300" b="1" dirty="0">
                          <a:solidFill>
                            <a:srgbClr val="FFFFFF"/>
                          </a:solidFill>
                        </a:rPr>
                        <a:t>Test</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Role</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Restricted query we attempted</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Result</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Status</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347472">
                <a:tc>
                  <a:txBody>
                    <a:bodyPr/>
                    <a:lstStyle/>
                    <a:p>
                      <a:pPr marL="0" indent="0">
                        <a:buNone/>
                      </a:pPr>
                      <a:r>
                        <a:rPr lang="en-US" sz="1300" dirty="0">
                          <a:solidFill>
                            <a:srgbClr val="13213C"/>
                          </a:solidFill>
                        </a:rPr>
                        <a:t>T0</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Baseline (admin)</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Count all curated rows</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615 rows, 3 clinics</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b="1" dirty="0">
                          <a:solidFill>
                            <a:srgbClr val="2E7D4F"/>
                          </a:solidFill>
                        </a:rPr>
                        <a:t>Pass</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300" dirty="0">
                          <a:solidFill>
                            <a:srgbClr val="13213C"/>
                          </a:solidFill>
                        </a:rPr>
                        <a:t>T1</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Clinic analyst</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Count rows by clinic</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Only clinic-a, 191 rows</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b="1" dirty="0">
                          <a:solidFill>
                            <a:srgbClr val="2E7D4F"/>
                          </a:solidFill>
                        </a:rPr>
                        <a:t>Pass</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300" dirty="0">
                          <a:solidFill>
                            <a:srgbClr val="13213C"/>
                          </a:solidFill>
                        </a:rPr>
                        <a:t>T2</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Clinic analyst</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Rows where clinic = clinic-b</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0 rows returned</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b="1" dirty="0">
                          <a:solidFill>
                            <a:srgbClr val="2E7D4F"/>
                          </a:solidFill>
                        </a:rPr>
                        <a:t>Pass</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300" dirty="0">
                          <a:solidFill>
                            <a:srgbClr val="13213C"/>
                          </a:solidFill>
                        </a:rPr>
                        <a:t>T3</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Clinic analyst</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SELECT notes_field</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Refused: COLUMN_NOT_FOUND</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b="1" dirty="0">
                          <a:solidFill>
                            <a:srgbClr val="2E7D4F"/>
                          </a:solidFill>
                        </a:rPr>
                        <a:t>Pass</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300" dirty="0">
                          <a:solidFill>
                            <a:srgbClr val="13213C"/>
                          </a:solidFill>
                        </a:rPr>
                        <a:t>T4</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Corporate analyst</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Count rows by clinic</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191 / 243 / 181</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b="1" dirty="0">
                          <a:solidFill>
                            <a:srgbClr val="2E7D4F"/>
                          </a:solidFill>
                        </a:rPr>
                        <a:t>Pass</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300" dirty="0">
                          <a:solidFill>
                            <a:srgbClr val="13213C"/>
                          </a:solidFill>
                        </a:rPr>
                        <a:t>T5a</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Corporate analyst</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SELECT notes_field</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Refused: COLUMN_NOT_FOUND</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b="1" dirty="0">
                          <a:solidFill>
                            <a:srgbClr val="2E7D4F"/>
                          </a:solidFill>
                        </a:rPr>
                        <a:t>Pass</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1300" dirty="0">
                          <a:solidFill>
                            <a:srgbClr val="13213C"/>
                          </a:solidFill>
                        </a:rPr>
                        <a:t>T5b</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Corporate analyst</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SELECT patient_ref</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Refused: COLUMN_NOT_FOUND</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b="1" dirty="0">
                          <a:solidFill>
                            <a:srgbClr val="2E7D4F"/>
                          </a:solidFill>
                        </a:rPr>
                        <a:t>Pass</a:t>
                      </a:r>
                      <a:endParaRPr lang="en-US" sz="13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seven of seven"/>
          <p:cNvSpPr/>
          <p:nvPr/>
        </p:nvSpPr>
        <p:spPr>
          <a:xfrm>
            <a:off x="548640" y="4251960"/>
            <a:ext cx="3291840" cy="1783080"/>
          </a:xfrm>
          <a:prstGeom prst="roundRect">
            <a:avLst>
              <a:gd name="adj" fmla="val 4103"/>
            </a:avLst>
          </a:prstGeom>
          <a:solidFill>
            <a:schemeClr val="tx1"/>
          </a:solidFill>
          <a:ln/>
        </p:spPr>
        <p:txBody>
          <a:bodyPr/>
          <a:lstStyle/>
          <a:p>
            <a:endParaRPr lang="en-CA"/>
          </a:p>
        </p:txBody>
      </p:sp>
      <p:sp>
        <p:nvSpPr>
          <p:cNvPr id="5" name="Text 2"/>
          <p:cNvSpPr txBox="1"/>
          <p:nvPr/>
        </p:nvSpPr>
        <p:spPr>
          <a:xfrm>
            <a:off x="777240" y="4389120"/>
            <a:ext cx="2834640" cy="457200"/>
          </a:xfrm>
          <a:prstGeom prst="rect">
            <a:avLst/>
          </a:prstGeom>
          <a:noFill/>
          <a:ln/>
        </p:spPr>
        <p:txBody>
          <a:bodyPr wrap="square" lIns="0" tIns="0" rIns="0" bIns="0" rtlCol="0" anchor="ctr"/>
          <a:lstStyle/>
          <a:p>
            <a:pPr marL="0" indent="0">
              <a:buNone/>
            </a:pPr>
            <a:r>
              <a:rPr lang="en-US" sz="2400" b="1" dirty="0">
                <a:solidFill>
                  <a:schemeClr val="accent1"/>
                </a:solidFill>
              </a:rPr>
              <a:t>7 of 7 passed</a:t>
            </a:r>
            <a:endParaRPr lang="en-US" sz="2400" dirty="0"/>
          </a:p>
        </p:txBody>
      </p:sp>
      <p:sp>
        <p:nvSpPr>
          <p:cNvPr id="6" name="Text 3"/>
          <p:cNvSpPr txBox="1"/>
          <p:nvPr/>
        </p:nvSpPr>
        <p:spPr>
          <a:xfrm>
            <a:off x="777240" y="4892040"/>
            <a:ext cx="2834640" cy="1005840"/>
          </a:xfrm>
          <a:prstGeom prst="rect">
            <a:avLst/>
          </a:prstGeom>
          <a:noFill/>
          <a:ln/>
        </p:spPr>
        <p:txBody>
          <a:bodyPr wrap="square" lIns="0" tIns="0" rIns="0" bIns="0" rtlCol="0" anchor="t"/>
          <a:lstStyle/>
          <a:p>
            <a:pPr marL="0" indent="0">
              <a:buNone/>
            </a:pPr>
            <a:r>
              <a:rPr lang="en-US" sz="1300" dirty="0">
                <a:solidFill>
                  <a:schemeClr val="bg1"/>
                </a:solidFill>
              </a:rPr>
              <a:t>A refused query is the pass: the restricted data never came back.</a:t>
            </a:r>
            <a:endParaRPr lang="en-US" sz="1300" dirty="0"/>
          </a:p>
        </p:txBody>
      </p:sp>
      <p:pic>
        <p:nvPicPr>
          <p:cNvPr id="7" name="T3 refused screenshot" descr="/tmp/claude-0/-home-claude/82c33e58-f614-51a9-bcbb-11a0c7e9ca33/scratchpad/deck2/img/t3.png"/>
          <p:cNvPicPr>
            <a:picLocks noChangeAspect="1"/>
          </p:cNvPicPr>
          <p:nvPr/>
        </p:nvPicPr>
        <p:blipFill>
          <a:blip r:embed="rId3"/>
          <a:stretch>
            <a:fillRect/>
          </a:stretch>
        </p:blipFill>
        <p:spPr>
          <a:xfrm>
            <a:off x="4114800" y="4251960"/>
            <a:ext cx="7498080" cy="1242414"/>
          </a:xfrm>
          <a:prstGeom prst="rect">
            <a:avLst/>
          </a:prstGeom>
        </p:spPr>
      </p:pic>
      <p:sp>
        <p:nvSpPr>
          <p:cNvPr id="8" name="Text 4"/>
          <p:cNvSpPr txBox="1"/>
          <p:nvPr/>
        </p:nvSpPr>
        <p:spPr>
          <a:xfrm>
            <a:off x="4114800" y="5623560"/>
            <a:ext cx="7498080" cy="274320"/>
          </a:xfrm>
          <a:prstGeom prst="rect">
            <a:avLst/>
          </a:prstGeom>
          <a:noFill/>
          <a:ln/>
        </p:spPr>
        <p:txBody>
          <a:bodyPr wrap="square" lIns="0" tIns="0" rIns="0" bIns="0" rtlCol="0" anchor="ctr"/>
          <a:lstStyle/>
          <a:p>
            <a:pPr marL="0" indent="0">
              <a:buNone/>
            </a:pPr>
            <a:r>
              <a:rPr lang="en-US" sz="1100" i="1" dirty="0">
                <a:solidFill>
                  <a:schemeClr val="accent5"/>
                </a:solidFill>
              </a:rPr>
              <a:t>Real result of T3 (evidence/week2/43). Enforced with Athena views because Lake Formation is blocked in the Learner Lab.</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ctr">
              <a:buNone/>
            </a:pPr>
            <a:r>
              <a:rPr lang="en-US" sz="3200" b="1" dirty="0">
                <a:solidFill>
                  <a:schemeClr val="tx1"/>
                </a:solidFill>
              </a:rPr>
              <a:t>Every access leaves an auditable trail</a:t>
            </a:r>
            <a:endParaRPr lang="en-US" sz="3200" dirty="0"/>
          </a:p>
        </p:txBody>
      </p:sp>
      <p:sp>
        <p:nvSpPr>
          <p:cNvPr id="3" name="audit Q1"/>
          <p:cNvSpPr/>
          <p:nvPr/>
        </p:nvSpPr>
        <p:spPr>
          <a:xfrm>
            <a:off x="548640" y="1325880"/>
            <a:ext cx="3566160" cy="1874520"/>
          </a:xfrm>
          <a:prstGeom prst="roundRect">
            <a:avLst>
              <a:gd name="adj" fmla="val 3902"/>
            </a:avLst>
          </a:prstGeom>
          <a:solidFill>
            <a:schemeClr val="bg2"/>
          </a:solidFill>
          <a:ln/>
        </p:spPr>
        <p:txBody>
          <a:bodyPr/>
          <a:lstStyle/>
          <a:p>
            <a:endParaRPr lang="en-CA"/>
          </a:p>
        </p:txBody>
      </p:sp>
      <p:sp>
        <p:nvSpPr>
          <p:cNvPr id="4" name="Text 2"/>
          <p:cNvSpPr txBox="1"/>
          <p:nvPr/>
        </p:nvSpPr>
        <p:spPr>
          <a:xfrm>
            <a:off x="777240" y="1463040"/>
            <a:ext cx="3108960" cy="274320"/>
          </a:xfrm>
          <a:prstGeom prst="rect">
            <a:avLst/>
          </a:prstGeom>
          <a:noFill/>
          <a:ln/>
        </p:spPr>
        <p:txBody>
          <a:bodyPr wrap="square" lIns="0" tIns="0" rIns="0" bIns="0" rtlCol="0" anchor="ctr"/>
          <a:lstStyle/>
          <a:p>
            <a:pPr marL="0" indent="0">
              <a:buNone/>
            </a:pPr>
            <a:r>
              <a:rPr lang="en-US" sz="1200" b="1" kern="0" spc="100" dirty="0">
                <a:solidFill>
                  <a:schemeClr val="tx2"/>
                </a:solidFill>
              </a:rPr>
              <a:t>Q1</a:t>
            </a:r>
            <a:endParaRPr lang="en-US" sz="1200" dirty="0"/>
          </a:p>
        </p:txBody>
      </p:sp>
      <p:sp>
        <p:nvSpPr>
          <p:cNvPr id="5" name="Text 3"/>
          <p:cNvSpPr txBox="1"/>
          <p:nvPr/>
        </p:nvSpPr>
        <p:spPr>
          <a:xfrm>
            <a:off x="777240" y="1737360"/>
            <a:ext cx="3108960" cy="411480"/>
          </a:xfrm>
          <a:prstGeom prst="rect">
            <a:avLst/>
          </a:prstGeom>
          <a:noFill/>
          <a:ln/>
        </p:spPr>
        <p:txBody>
          <a:bodyPr wrap="square" lIns="0" tIns="0" rIns="0" bIns="0" rtlCol="0" anchor="ctr"/>
          <a:lstStyle/>
          <a:p>
            <a:pPr marL="0" indent="0">
              <a:buNone/>
            </a:pPr>
            <a:r>
              <a:rPr lang="en-US" sz="1600" b="1" dirty="0">
                <a:solidFill>
                  <a:schemeClr val="tx1"/>
                </a:solidFill>
              </a:rPr>
              <a:t>Who accessed curated clinic-c data?</a:t>
            </a:r>
            <a:endParaRPr lang="en-US" sz="1600" dirty="0"/>
          </a:p>
        </p:txBody>
      </p:sp>
      <p:sp>
        <p:nvSpPr>
          <p:cNvPr id="6" name="Text 4"/>
          <p:cNvSpPr txBox="1"/>
          <p:nvPr/>
        </p:nvSpPr>
        <p:spPr>
          <a:xfrm>
            <a:off x="777240" y="2194560"/>
            <a:ext cx="3108960" cy="914400"/>
          </a:xfrm>
          <a:prstGeom prst="rect">
            <a:avLst/>
          </a:prstGeom>
          <a:noFill/>
          <a:ln/>
        </p:spPr>
        <p:txBody>
          <a:bodyPr wrap="square" lIns="0" tIns="0" rIns="0" bIns="0" rtlCol="0" anchor="t"/>
          <a:lstStyle/>
          <a:p>
            <a:pPr marL="0" indent="0">
              <a:buNone/>
            </a:pPr>
            <a:r>
              <a:rPr lang="en-US" sz="1300" dirty="0">
                <a:solidFill>
                  <a:schemeClr val="tx1"/>
                </a:solidFill>
              </a:rPr>
              <a:t>The pipeline copy, the Glue crawler, then 3 analyst queries, each with identity and time.</a:t>
            </a:r>
            <a:endParaRPr lang="en-US" sz="1300" dirty="0"/>
          </a:p>
        </p:txBody>
      </p:sp>
      <p:sp>
        <p:nvSpPr>
          <p:cNvPr id="7" name="audit Q2"/>
          <p:cNvSpPr/>
          <p:nvPr/>
        </p:nvSpPr>
        <p:spPr>
          <a:xfrm>
            <a:off x="4297680" y="1325880"/>
            <a:ext cx="3566160" cy="1874520"/>
          </a:xfrm>
          <a:prstGeom prst="roundRect">
            <a:avLst>
              <a:gd name="adj" fmla="val 3902"/>
            </a:avLst>
          </a:prstGeom>
          <a:solidFill>
            <a:schemeClr val="bg2"/>
          </a:solidFill>
          <a:ln/>
        </p:spPr>
        <p:txBody>
          <a:bodyPr/>
          <a:lstStyle/>
          <a:p>
            <a:endParaRPr lang="en-CA"/>
          </a:p>
        </p:txBody>
      </p:sp>
      <p:sp>
        <p:nvSpPr>
          <p:cNvPr id="8" name="Text 6"/>
          <p:cNvSpPr txBox="1"/>
          <p:nvPr/>
        </p:nvSpPr>
        <p:spPr>
          <a:xfrm>
            <a:off x="4526280" y="1463040"/>
            <a:ext cx="3108960" cy="274320"/>
          </a:xfrm>
          <a:prstGeom prst="rect">
            <a:avLst/>
          </a:prstGeom>
          <a:noFill/>
          <a:ln/>
        </p:spPr>
        <p:txBody>
          <a:bodyPr wrap="square" lIns="0" tIns="0" rIns="0" bIns="0" rtlCol="0" anchor="ctr"/>
          <a:lstStyle/>
          <a:p>
            <a:pPr marL="0" indent="0">
              <a:buNone/>
            </a:pPr>
            <a:r>
              <a:rPr lang="en-US" sz="1200" b="1" kern="0" spc="100" dirty="0">
                <a:solidFill>
                  <a:schemeClr val="tx2"/>
                </a:solidFill>
              </a:rPr>
              <a:t>Q2</a:t>
            </a:r>
            <a:endParaRPr lang="en-US" sz="1200" dirty="0"/>
          </a:p>
        </p:txBody>
      </p:sp>
      <p:sp>
        <p:nvSpPr>
          <p:cNvPr id="9" name="Text 7"/>
          <p:cNvSpPr txBox="1"/>
          <p:nvPr/>
        </p:nvSpPr>
        <p:spPr>
          <a:xfrm>
            <a:off x="4526280" y="1737360"/>
            <a:ext cx="3108960" cy="411480"/>
          </a:xfrm>
          <a:prstGeom prst="rect">
            <a:avLst/>
          </a:prstGeom>
          <a:noFill/>
          <a:ln/>
        </p:spPr>
        <p:txBody>
          <a:bodyPr wrap="square" lIns="0" tIns="0" rIns="0" bIns="0" rtlCol="0" anchor="ctr"/>
          <a:lstStyle/>
          <a:p>
            <a:pPr marL="0" indent="0">
              <a:buNone/>
            </a:pPr>
            <a:r>
              <a:rPr lang="en-US" sz="1600" b="1" dirty="0">
                <a:solidFill>
                  <a:schemeClr val="tx1"/>
                </a:solidFill>
              </a:rPr>
              <a:t>Who changed bucket security?</a:t>
            </a:r>
            <a:endParaRPr lang="en-US" sz="1600" dirty="0"/>
          </a:p>
        </p:txBody>
      </p:sp>
      <p:sp>
        <p:nvSpPr>
          <p:cNvPr id="10" name="Text 8"/>
          <p:cNvSpPr txBox="1"/>
          <p:nvPr/>
        </p:nvSpPr>
        <p:spPr>
          <a:xfrm>
            <a:off x="4526280" y="2194560"/>
            <a:ext cx="3108960" cy="914400"/>
          </a:xfrm>
          <a:prstGeom prst="rect">
            <a:avLst/>
          </a:prstGeom>
          <a:noFill/>
          <a:ln/>
        </p:spPr>
        <p:txBody>
          <a:bodyPr wrap="square" lIns="0" tIns="0" rIns="0" bIns="0" rtlCol="0" anchor="t"/>
          <a:lstStyle/>
          <a:p>
            <a:pPr marL="0" indent="0">
              <a:buNone/>
            </a:pPr>
            <a:r>
              <a:rPr lang="en-US" sz="1300" dirty="0">
                <a:solidFill>
                  <a:schemeClr val="tx1"/>
                </a:solidFill>
              </a:rPr>
              <a:t>4 bucket policy changes and 1 encryption change, with who made each and when.</a:t>
            </a:r>
            <a:endParaRPr lang="en-US" sz="1300" dirty="0"/>
          </a:p>
        </p:txBody>
      </p:sp>
      <p:sp>
        <p:nvSpPr>
          <p:cNvPr id="11" name="audit Q3  ·  ANOMALY"/>
          <p:cNvSpPr/>
          <p:nvPr/>
        </p:nvSpPr>
        <p:spPr>
          <a:xfrm>
            <a:off x="8046720" y="1325880"/>
            <a:ext cx="3566160" cy="1874520"/>
          </a:xfrm>
          <a:prstGeom prst="roundRect">
            <a:avLst>
              <a:gd name="adj" fmla="val 3902"/>
            </a:avLst>
          </a:prstGeom>
          <a:solidFill>
            <a:schemeClr val="tx1"/>
          </a:solidFill>
          <a:ln/>
        </p:spPr>
        <p:txBody>
          <a:bodyPr/>
          <a:lstStyle/>
          <a:p>
            <a:endParaRPr lang="en-CA"/>
          </a:p>
        </p:txBody>
      </p:sp>
      <p:sp>
        <p:nvSpPr>
          <p:cNvPr id="12" name="Text 10"/>
          <p:cNvSpPr txBox="1"/>
          <p:nvPr/>
        </p:nvSpPr>
        <p:spPr>
          <a:xfrm>
            <a:off x="8275320" y="1463040"/>
            <a:ext cx="3108960" cy="274320"/>
          </a:xfrm>
          <a:prstGeom prst="rect">
            <a:avLst/>
          </a:prstGeom>
          <a:noFill/>
          <a:ln/>
        </p:spPr>
        <p:txBody>
          <a:bodyPr wrap="square" lIns="0" tIns="0" rIns="0" bIns="0" rtlCol="0" anchor="ctr"/>
          <a:lstStyle/>
          <a:p>
            <a:pPr marL="0" indent="0">
              <a:buNone/>
            </a:pPr>
            <a:r>
              <a:rPr lang="en-US" sz="1200" b="1" kern="0" spc="100" dirty="0">
                <a:solidFill>
                  <a:schemeClr val="accent1"/>
                </a:solidFill>
              </a:rPr>
              <a:t>Q3  ·  ANOMALY</a:t>
            </a:r>
            <a:endParaRPr lang="en-US" sz="1200" dirty="0"/>
          </a:p>
        </p:txBody>
      </p:sp>
      <p:sp>
        <p:nvSpPr>
          <p:cNvPr id="13" name="Text 11"/>
          <p:cNvSpPr txBox="1"/>
          <p:nvPr/>
        </p:nvSpPr>
        <p:spPr>
          <a:xfrm>
            <a:off x="8275320" y="1737360"/>
            <a:ext cx="3108960" cy="411480"/>
          </a:xfrm>
          <a:prstGeom prst="rect">
            <a:avLst/>
          </a:prstGeom>
          <a:noFill/>
          <a:ln/>
        </p:spPr>
        <p:txBody>
          <a:bodyPr wrap="square" lIns="0" tIns="0" rIns="0" bIns="0" rtlCol="0" anchor="ctr"/>
          <a:lstStyle/>
          <a:p>
            <a:pPr marL="0" indent="0">
              <a:buNone/>
            </a:pPr>
            <a:r>
              <a:rPr lang="en-US" sz="1600" b="1" dirty="0">
                <a:solidFill>
                  <a:schemeClr val="bg1"/>
                </a:solidFill>
              </a:rPr>
              <a:t>Any probing of security services?</a:t>
            </a:r>
            <a:endParaRPr lang="en-US" sz="1600" dirty="0"/>
          </a:p>
        </p:txBody>
      </p:sp>
      <p:sp>
        <p:nvSpPr>
          <p:cNvPr id="14" name="Text 12"/>
          <p:cNvSpPr txBox="1"/>
          <p:nvPr/>
        </p:nvSpPr>
        <p:spPr>
          <a:xfrm>
            <a:off x="8275320" y="2194560"/>
            <a:ext cx="3108960" cy="914400"/>
          </a:xfrm>
          <a:prstGeom prst="rect">
            <a:avLst/>
          </a:prstGeom>
          <a:noFill/>
          <a:ln/>
        </p:spPr>
        <p:txBody>
          <a:bodyPr wrap="square" lIns="0" tIns="0" rIns="0" bIns="0" rtlCol="0" anchor="t"/>
          <a:lstStyle/>
          <a:p>
            <a:pPr marL="0" indent="0">
              <a:buNone/>
            </a:pPr>
            <a:r>
              <a:rPr lang="en-US" sz="1300" dirty="0">
                <a:solidFill>
                  <a:schemeClr val="bg1"/>
                </a:solidFill>
              </a:rPr>
              <a:t>A burst of denied Lake Formation calls within 5 minutes, flagged for review.</a:t>
            </a:r>
            <a:endParaRPr lang="en-US" sz="1300" dirty="0"/>
          </a:p>
        </p:txBody>
      </p:sp>
      <p:pic>
        <p:nvPicPr>
          <p:cNvPr id="15" name="audit Q1 screenshot" descr="/tmp/claude-0/-home-claude/82c33e58-f614-51a9-bcbb-11a0c7e9ca33/scratchpad/deck2/img/audit_q1.png"/>
          <p:cNvPicPr>
            <a:picLocks noChangeAspect="1"/>
          </p:cNvPicPr>
          <p:nvPr/>
        </p:nvPicPr>
        <p:blipFill>
          <a:blip r:embed="rId3"/>
          <a:stretch>
            <a:fillRect/>
          </a:stretch>
        </p:blipFill>
        <p:spPr>
          <a:xfrm>
            <a:off x="548640" y="3474720"/>
            <a:ext cx="11064240" cy="2041616"/>
          </a:xfrm>
          <a:prstGeom prst="rect">
            <a:avLst/>
          </a:prstGeom>
        </p:spPr>
      </p:pic>
      <p:sp>
        <p:nvSpPr>
          <p:cNvPr id="16" name="Text 13"/>
          <p:cNvSpPr txBox="1"/>
          <p:nvPr/>
        </p:nvSpPr>
        <p:spPr>
          <a:xfrm>
            <a:off x="548640" y="5623560"/>
            <a:ext cx="11064240" cy="274320"/>
          </a:xfrm>
          <a:prstGeom prst="rect">
            <a:avLst/>
          </a:prstGeom>
          <a:noFill/>
          <a:ln/>
        </p:spPr>
        <p:txBody>
          <a:bodyPr wrap="square" lIns="0" tIns="0" rIns="0" bIns="0" rtlCol="0" anchor="ctr"/>
          <a:lstStyle/>
          <a:p>
            <a:pPr marL="0" indent="0">
              <a:buNone/>
            </a:pPr>
            <a:r>
              <a:rPr lang="en-US" sz="1100" i="1" dirty="0">
                <a:solidFill>
                  <a:schemeClr val="accent5"/>
                </a:solidFill>
              </a:rPr>
              <a:t>Q1 result from CloudTrail via Athena (evidence/week2/51). Data events scoped to the three tenant buckets; log file validation on; times in UTC.</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What the lab blocked, and what we did instead</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2798064"/>
        </p:xfrm>
        <a:graphic>
          <a:graphicData uri="http://schemas.openxmlformats.org/drawingml/2006/table">
            <a:tbl>
              <a:tblPr/>
              <a:tblGrid>
                <a:gridCol w="21031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685800">
                <a:tc>
                  <a:txBody>
                    <a:bodyPr/>
                    <a:lstStyle/>
                    <a:p>
                      <a:pPr marL="0" indent="0">
                        <a:buNone/>
                      </a:pPr>
                      <a:r>
                        <a:rPr lang="en-US" sz="1300" b="1" dirty="0">
                          <a:solidFill>
                            <a:srgbClr val="FFFFFF"/>
                          </a:solidFill>
                        </a:rPr>
                        <a:t>Blocked in the Learner Lab</a:t>
                      </a:r>
                      <a:endParaRPr lang="en-US" sz="1300" dirty="0"/>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What we did instead</a:t>
                      </a:r>
                      <a:endParaRPr lang="en-US" sz="1300" dirty="0"/>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Status</a:t>
                      </a:r>
                      <a:endParaRPr lang="en-US" sz="1300" dirty="0"/>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685800">
                <a:tc>
                  <a:txBody>
                    <a:bodyPr/>
                    <a:lstStyle/>
                    <a:p>
                      <a:pPr marL="0" indent="0">
                        <a:buNone/>
                      </a:pPr>
                      <a:r>
                        <a:rPr lang="en-US" sz="1300" dirty="0">
                          <a:solidFill>
                            <a:srgbClr val="13213C"/>
                          </a:solidFill>
                        </a:rPr>
                        <a:t>Creating IAM roles</a:t>
                      </a:r>
                      <a:endParaRPr lang="en-US" sz="1300" dirty="0"/>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Wrote one least privilege policy per role as JSON; every service ran as LabRole</a:t>
                      </a:r>
                      <a:endParaRPr lang="en-US" sz="1300" dirty="0"/>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b="1" dirty="0">
                          <a:solidFill>
                            <a:srgbClr val="E8912D"/>
                          </a:solidFill>
                        </a:rPr>
                        <a:t>Design only</a:t>
                      </a:r>
                      <a:endParaRPr lang="en-US" sz="1300" dirty="0"/>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300" dirty="0">
                          <a:solidFill>
                            <a:srgbClr val="13213C"/>
                          </a:solidFill>
                        </a:rPr>
                        <a:t>Lake Formation (GetDataLakeSettings denied)</a:t>
                      </a:r>
                      <a:endParaRPr lang="en-US" sz="1300" dirty="0"/>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Athena views plus the full data cells filter design</a:t>
                      </a:r>
                      <a:endParaRPr lang="en-US" sz="1300" dirty="0"/>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b="1" dirty="0">
                          <a:solidFill>
                            <a:srgbClr val="1D6F8A"/>
                          </a:solidFill>
                        </a:rPr>
                        <a:t>Tested 7 of 7; views are weaker</a:t>
                      </a:r>
                      <a:endParaRPr lang="en-US" sz="1300" dirty="0"/>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300" dirty="0">
                          <a:solidFill>
                            <a:srgbClr val="13213C"/>
                          </a:solidFill>
                        </a:rPr>
                        <a:t>Tagged principals</a:t>
                      </a:r>
                      <a:endParaRPr lang="en-US" sz="1300" dirty="0"/>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dirty="0">
                          <a:solidFill>
                            <a:srgbClr val="13213C"/>
                          </a:solidFill>
                        </a:rPr>
                        <a:t>Per tenant isolation statements in the bucket policies</a:t>
                      </a:r>
                      <a:endParaRPr lang="en-US" sz="1300" dirty="0"/>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300" b="1" dirty="0">
                          <a:solidFill>
                            <a:srgbClr val="E8912D"/>
                          </a:solidFill>
                        </a:rPr>
                        <a:t>Deployed, not testable</a:t>
                      </a:r>
                      <a:endParaRPr lang="en-US" sz="1300" dirty="0"/>
                    </a:p>
                  </a:txBody>
                  <a:tcPr marL="73152" marR="73152" marT="73152" marB="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 name="Text 1"/>
          <p:cNvSpPr txBox="1"/>
          <p:nvPr/>
        </p:nvSpPr>
        <p:spPr>
          <a:xfrm>
            <a:off x="548640" y="4343400"/>
            <a:ext cx="6766560" cy="1097280"/>
          </a:xfrm>
          <a:prstGeom prst="rect">
            <a:avLst/>
          </a:prstGeom>
          <a:noFill/>
          <a:ln/>
        </p:spPr>
        <p:txBody>
          <a:bodyPr wrap="square" lIns="0" tIns="0" rIns="0" bIns="0" rtlCol="0" anchor="t"/>
          <a:lstStyle/>
          <a:p>
            <a:pPr marL="0" indent="0">
              <a:buNone/>
            </a:pPr>
            <a:r>
              <a:rPr lang="en-US" sz="1400" dirty="0">
                <a:solidFill>
                  <a:schemeClr val="tx1"/>
                </a:solidFill>
              </a:rPr>
              <a:t>Why views are weaker: anyone who can read the base table or the S3 objects can bypass a view. In production, analysts get Lake Formation filters plus an explicit deny on direct S3 access.</a:t>
            </a:r>
            <a:endParaRPr lang="en-US" sz="1400" dirty="0"/>
          </a:p>
        </p:txBody>
      </p:sp>
      <p:sp>
        <p:nvSpPr>
          <p:cNvPr id="5" name="enforced card"/>
          <p:cNvSpPr/>
          <p:nvPr/>
        </p:nvSpPr>
        <p:spPr>
          <a:xfrm>
            <a:off x="7680960" y="1325880"/>
            <a:ext cx="3931920" cy="2240280"/>
          </a:xfrm>
          <a:prstGeom prst="roundRect">
            <a:avLst>
              <a:gd name="adj" fmla="val 3265"/>
            </a:avLst>
          </a:prstGeom>
          <a:solidFill>
            <a:schemeClr val="tx1"/>
          </a:solidFill>
          <a:ln/>
        </p:spPr>
        <p:txBody>
          <a:bodyPr/>
          <a:lstStyle/>
          <a:p>
            <a:endParaRPr lang="en-CA"/>
          </a:p>
        </p:txBody>
      </p:sp>
      <p:sp>
        <p:nvSpPr>
          <p:cNvPr id="6" name="Text 3"/>
          <p:cNvSpPr txBox="1"/>
          <p:nvPr/>
        </p:nvSpPr>
        <p:spPr>
          <a:xfrm>
            <a:off x="7909560" y="1463040"/>
            <a:ext cx="3566160" cy="365760"/>
          </a:xfrm>
          <a:prstGeom prst="rect">
            <a:avLst/>
          </a:prstGeom>
          <a:noFill/>
          <a:ln/>
        </p:spPr>
        <p:txBody>
          <a:bodyPr wrap="square" lIns="0" tIns="0" rIns="0" bIns="0" rtlCol="0" anchor="ctr"/>
          <a:lstStyle/>
          <a:p>
            <a:pPr marL="0" indent="0">
              <a:buNone/>
            </a:pPr>
            <a:r>
              <a:rPr lang="en-US" sz="1600" b="1" dirty="0">
                <a:solidFill>
                  <a:schemeClr val="accent1"/>
                </a:solidFill>
              </a:rPr>
              <a:t>Enforced regardless of IAM</a:t>
            </a:r>
            <a:endParaRPr lang="en-US" sz="1600" dirty="0"/>
          </a:p>
        </p:txBody>
      </p:sp>
      <p:sp>
        <p:nvSpPr>
          <p:cNvPr id="7" name="Text 4"/>
          <p:cNvSpPr txBox="1"/>
          <p:nvPr/>
        </p:nvSpPr>
        <p:spPr>
          <a:xfrm>
            <a:off x="7909560" y="1920240"/>
            <a:ext cx="356616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KMS key policy</a:t>
            </a:r>
            <a:endParaRPr lang="en-US" sz="1400" dirty="0"/>
          </a:p>
          <a:p>
            <a:pPr marL="342900" indent="-342900">
              <a:spcAft>
                <a:spcPts val="600"/>
              </a:spcAft>
              <a:buSzPct val="100000"/>
              <a:buChar char="•"/>
            </a:pPr>
            <a:r>
              <a:rPr lang="en-US" sz="1400" dirty="0">
                <a:solidFill>
                  <a:schemeClr val="bg1"/>
                </a:solidFill>
              </a:rPr>
              <a:t>Bucket policies (a deny beats any allow)</a:t>
            </a:r>
            <a:endParaRPr lang="en-US" sz="1400" dirty="0"/>
          </a:p>
          <a:p>
            <a:pPr marL="342900" indent="-342900">
              <a:spcAft>
                <a:spcPts val="600"/>
              </a:spcAft>
              <a:buSzPct val="100000"/>
              <a:buChar char="•"/>
            </a:pPr>
            <a:r>
              <a:rPr lang="en-US" sz="1400" dirty="0">
                <a:solidFill>
                  <a:schemeClr val="bg1"/>
                </a:solidFill>
              </a:rPr>
              <a:t>The PII gate logic itself</a:t>
            </a:r>
            <a:endParaRPr lang="en-US" sz="1400" dirty="0"/>
          </a:p>
        </p:txBody>
      </p:sp>
      <p:sp>
        <p:nvSpPr>
          <p:cNvPr id="8" name="designed card"/>
          <p:cNvSpPr/>
          <p:nvPr/>
        </p:nvSpPr>
        <p:spPr>
          <a:xfrm>
            <a:off x="7680960" y="3749040"/>
            <a:ext cx="3931920" cy="2331720"/>
          </a:xfrm>
          <a:prstGeom prst="roundRect">
            <a:avLst>
              <a:gd name="adj" fmla="val 3137"/>
            </a:avLst>
          </a:prstGeom>
          <a:solidFill>
            <a:schemeClr val="bg2"/>
          </a:solidFill>
          <a:ln/>
        </p:spPr>
        <p:txBody>
          <a:bodyPr/>
          <a:lstStyle/>
          <a:p>
            <a:endParaRPr lang="en-CA"/>
          </a:p>
        </p:txBody>
      </p:sp>
      <p:sp>
        <p:nvSpPr>
          <p:cNvPr id="9" name="Text 6"/>
          <p:cNvSpPr txBox="1"/>
          <p:nvPr/>
        </p:nvSpPr>
        <p:spPr>
          <a:xfrm>
            <a:off x="7909560" y="3886200"/>
            <a:ext cx="3566160" cy="365760"/>
          </a:xfrm>
          <a:prstGeom prst="rect">
            <a:avLst/>
          </a:prstGeom>
          <a:noFill/>
          <a:ln/>
        </p:spPr>
        <p:txBody>
          <a:bodyPr wrap="square" lIns="0" tIns="0" rIns="0" bIns="0" rtlCol="0" anchor="ctr"/>
          <a:lstStyle/>
          <a:p>
            <a:pPr marL="0" indent="0">
              <a:buNone/>
            </a:pPr>
            <a:r>
              <a:rPr lang="en-US" sz="1600" b="1" dirty="0">
                <a:solidFill>
                  <a:schemeClr val="tx2"/>
                </a:solidFill>
              </a:rPr>
              <a:t>Designed as JSON (iam/roles)</a:t>
            </a:r>
            <a:endParaRPr lang="en-US" sz="1600" dirty="0"/>
          </a:p>
        </p:txBody>
      </p:sp>
      <p:sp>
        <p:nvSpPr>
          <p:cNvPr id="10" name="Text 7"/>
          <p:cNvSpPr txBox="1"/>
          <p:nvPr/>
        </p:nvSpPr>
        <p:spPr>
          <a:xfrm>
            <a:off x="7909560" y="4297680"/>
            <a:ext cx="3566160" cy="16916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Clinic A analyst</a:t>
            </a:r>
            <a:endParaRPr lang="en-US" sz="1400" dirty="0"/>
          </a:p>
          <a:p>
            <a:pPr marL="342900" indent="-342900">
              <a:spcAft>
                <a:spcPts val="300"/>
              </a:spcAft>
              <a:buSzPct val="100000"/>
              <a:buChar char="•"/>
            </a:pPr>
            <a:r>
              <a:rPr lang="en-US" sz="1400" dirty="0">
                <a:solidFill>
                  <a:schemeClr val="tx1"/>
                </a:solidFill>
              </a:rPr>
              <a:t>Corporate analyst</a:t>
            </a:r>
            <a:endParaRPr lang="en-US" sz="1400" dirty="0"/>
          </a:p>
          <a:p>
            <a:pPr marL="342900" indent="-342900">
              <a:spcAft>
                <a:spcPts val="300"/>
              </a:spcAft>
              <a:buSzPct val="100000"/>
              <a:buChar char="•"/>
            </a:pPr>
            <a:r>
              <a:rPr lang="en-US" sz="1400" dirty="0">
                <a:solidFill>
                  <a:schemeClr val="tx1"/>
                </a:solidFill>
              </a:rPr>
              <a:t>PII scan Lambda</a:t>
            </a:r>
            <a:endParaRPr lang="en-US" sz="1400" dirty="0"/>
          </a:p>
          <a:p>
            <a:pPr marL="342900" indent="-342900">
              <a:spcAft>
                <a:spcPts val="300"/>
              </a:spcAft>
              <a:buSzPct val="100000"/>
              <a:buChar char="•"/>
            </a:pPr>
            <a:r>
              <a:rPr lang="en-US" sz="1400" dirty="0">
                <a:solidFill>
                  <a:schemeClr val="tx1"/>
                </a:solidFill>
              </a:rPr>
              <a:t>PII gate Step Functions</a:t>
            </a:r>
            <a:endParaRPr lang="en-US" sz="1400" dirty="0"/>
          </a:p>
          <a:p>
            <a:pPr marL="342900" indent="-342900">
              <a:spcAft>
                <a:spcPts val="300"/>
              </a:spcAft>
              <a:buSzPct val="100000"/>
              <a:buChar char="•"/>
            </a:pPr>
            <a:r>
              <a:rPr lang="en-US" sz="1400" dirty="0">
                <a:solidFill>
                  <a:schemeClr val="tx1"/>
                </a:solidFill>
              </a:rPr>
              <a:t>Curated Glue crawler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Controls mapped to PIPEDA principles</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12420782"/>
              </p:ext>
            </p:extLst>
          </p:nvPr>
        </p:nvGraphicFramePr>
        <p:xfrm>
          <a:off x="548640" y="1325880"/>
          <a:ext cx="7589520" cy="3840480"/>
        </p:xfrm>
        <a:graphic>
          <a:graphicData uri="http://schemas.openxmlformats.org/drawingml/2006/table">
            <a:tbl>
              <a:tblPr/>
              <a:tblGrid>
                <a:gridCol w="21031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548640">
                <a:tc>
                  <a:txBody>
                    <a:bodyPr/>
                    <a:lstStyle/>
                    <a:p>
                      <a:pPr marL="0" indent="0">
                        <a:buNone/>
                      </a:pPr>
                      <a:r>
                        <a:rPr lang="en-US" sz="1200" b="1" dirty="0">
                          <a:solidFill>
                            <a:srgbClr val="FFFFFF"/>
                          </a:solidFill>
                        </a:rPr>
                        <a:t>PIPEDA principle</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tc>
                  <a:txBody>
                    <a:bodyPr/>
                    <a:lstStyle/>
                    <a:p>
                      <a:pPr marL="0" indent="0">
                        <a:buNone/>
                      </a:pPr>
                      <a:r>
                        <a:rPr lang="en-US" sz="1200" b="1" dirty="0">
                          <a:solidFill>
                            <a:srgbClr val="FFFFFF"/>
                          </a:solidFill>
                        </a:rPr>
                        <a:t>Control we implemented</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tc>
                  <a:txBody>
                    <a:bodyPr/>
                    <a:lstStyle/>
                    <a:p>
                      <a:pPr marL="0" indent="0">
                        <a:buNone/>
                      </a:pPr>
                      <a:r>
                        <a:rPr lang="en-US" sz="1200" b="1" dirty="0">
                          <a:solidFill>
                            <a:srgbClr val="FFFFFF"/>
                          </a:solidFill>
                        </a:rPr>
                        <a:t>Strength</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548640">
                <a:tc>
                  <a:txBody>
                    <a:bodyPr/>
                    <a:lstStyle/>
                    <a:p>
                      <a:pPr marL="0" indent="0">
                        <a:buNone/>
                      </a:pPr>
                      <a:r>
                        <a:rPr lang="en-US" sz="1200" dirty="0">
                          <a:solidFill>
                            <a:srgbClr val="13213C"/>
                          </a:solidFill>
                        </a:rPr>
                        <a:t>4.7 Safeguards</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200" dirty="0">
                          <a:solidFill>
                            <a:srgbClr val="13213C"/>
                          </a:solidFill>
                        </a:rPr>
                        <a:t>SSE KMS with rotation; policies deny non-TLS, non KMS and wrong key uploads; SNS alert on gate failure</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200" b="1" dirty="0">
                          <a:solidFill>
                            <a:srgbClr val="2E7D4F"/>
                          </a:solidFill>
                        </a:rPr>
                        <a:t>Strong</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200" dirty="0">
                          <a:solidFill>
                            <a:srgbClr val="13213C"/>
                          </a:solidFill>
                        </a:rPr>
                        <a:t>4.4 Limiting collection</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200" dirty="0">
                          <a:solidFill>
                            <a:srgbClr val="13213C"/>
                          </a:solidFill>
                        </a:rPr>
                        <a:t>Regex PII gate blocks identifiers from analytics; answer key removed before ingestion</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200" b="1" dirty="0">
                          <a:solidFill>
                            <a:srgbClr val="2E7D4F"/>
                          </a:solidFill>
                        </a:rPr>
                        <a:t>Strong</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200" dirty="0">
                          <a:solidFill>
                            <a:srgbClr val="13213C"/>
                          </a:solidFill>
                        </a:rPr>
                        <a:t>4.5 Limiting use and disclosure</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200" dirty="0">
                          <a:solidFill>
                            <a:srgbClr val="13213C"/>
                          </a:solidFill>
                        </a:rPr>
                        <a:t>Clinic analysts see only their rows; corporate analysts see no PII columns</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200" b="1" dirty="0">
                          <a:solidFill>
                            <a:srgbClr val="2E7D4F"/>
                          </a:solidFill>
                        </a:rPr>
                        <a:t>Strong</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200" dirty="0">
                          <a:solidFill>
                            <a:srgbClr val="13213C"/>
                          </a:solidFill>
                        </a:rPr>
                        <a:t>4.1 Accountability</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200" dirty="0">
                          <a:solidFill>
                            <a:srgbClr val="13213C"/>
                          </a:solidFill>
                        </a:rPr>
                        <a:t>CloudTrail records who did every action; log file validation detects tampering</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200" b="1" dirty="0">
                          <a:solidFill>
                            <a:srgbClr val="E8912D"/>
                          </a:solidFill>
                        </a:rPr>
                        <a:t>Partial</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200" dirty="0">
                          <a:solidFill>
                            <a:srgbClr val="13213C"/>
                          </a:solidFill>
                        </a:rPr>
                        <a:t>4.6 Accuracy</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200" dirty="0">
                          <a:solidFill>
                            <a:srgbClr val="13213C"/>
                          </a:solidFill>
                        </a:rPr>
                        <a:t>Original kept, steward fix saved as a new _v2 object; 615 in, 615 catalogued</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200" b="1" dirty="0">
                          <a:solidFill>
                            <a:srgbClr val="E8912D"/>
                          </a:solidFill>
                        </a:rPr>
                        <a:t>Partial</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200" dirty="0">
                          <a:solidFill>
                            <a:srgbClr val="13213C"/>
                          </a:solidFill>
                        </a:rPr>
                        <a:t>Breach safeguards (s.10.1)</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200" dirty="0">
                          <a:solidFill>
                            <a:srgbClr val="13213C"/>
                          </a:solidFill>
                        </a:rPr>
                        <a:t>Runbook covers RROSH assessment, OPC report, notification, 24-month record</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marL="0" indent="0">
                        <a:buNone/>
                      </a:pPr>
                      <a:r>
                        <a:rPr lang="en-US" sz="1200" b="1" dirty="0">
                          <a:solidFill>
                            <a:srgbClr val="E8912D"/>
                          </a:solidFill>
                        </a:rPr>
                        <a:t>Partial</a:t>
                      </a:r>
                      <a:endParaRPr lang="en-US" sz="1200" dirty="0"/>
                    </a:p>
                  </a:txBody>
                  <a:tcPr marL="64008" marR="64008" marT="64008" marB="64008"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not covered"/>
          <p:cNvSpPr/>
          <p:nvPr/>
        </p:nvSpPr>
        <p:spPr>
          <a:xfrm>
            <a:off x="8412480" y="1325880"/>
            <a:ext cx="3200400" cy="3886200"/>
          </a:xfrm>
          <a:prstGeom prst="roundRect">
            <a:avLst>
              <a:gd name="adj" fmla="val 2286"/>
            </a:avLst>
          </a:prstGeom>
          <a:solidFill>
            <a:schemeClr val="bg2"/>
          </a:solidFill>
          <a:ln/>
        </p:spPr>
        <p:txBody>
          <a:bodyPr/>
          <a:lstStyle/>
          <a:p>
            <a:endParaRPr lang="en-CA"/>
          </a:p>
        </p:txBody>
      </p:sp>
      <p:sp>
        <p:nvSpPr>
          <p:cNvPr id="5" name="Text 2"/>
          <p:cNvSpPr txBox="1"/>
          <p:nvPr/>
        </p:nvSpPr>
        <p:spPr>
          <a:xfrm>
            <a:off x="8641080" y="1463040"/>
            <a:ext cx="2743200" cy="365760"/>
          </a:xfrm>
          <a:prstGeom prst="rect">
            <a:avLst/>
          </a:prstGeom>
          <a:noFill/>
          <a:ln/>
        </p:spPr>
        <p:txBody>
          <a:bodyPr wrap="square" lIns="0" tIns="0" rIns="0" bIns="0" rtlCol="0" anchor="ctr"/>
          <a:lstStyle/>
          <a:p>
            <a:pPr marL="0" indent="0">
              <a:buNone/>
            </a:pPr>
            <a:r>
              <a:rPr lang="en-US" sz="1600" b="1" dirty="0">
                <a:solidFill>
                  <a:schemeClr val="accent3"/>
                </a:solidFill>
              </a:rPr>
              <a:t>Not covered</a:t>
            </a:r>
            <a:endParaRPr lang="en-US" sz="1600" dirty="0"/>
          </a:p>
        </p:txBody>
      </p:sp>
      <p:sp>
        <p:nvSpPr>
          <p:cNvPr id="6" name="Text 3"/>
          <p:cNvSpPr txBox="1"/>
          <p:nvPr/>
        </p:nvSpPr>
        <p:spPr>
          <a:xfrm>
            <a:off x="8641080" y="1920240"/>
            <a:ext cx="2743200" cy="3108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4.2 Identifying purposes</a:t>
            </a:r>
            <a:endParaRPr lang="en-US" sz="1400" dirty="0"/>
          </a:p>
          <a:p>
            <a:pPr marL="342900" indent="-342900">
              <a:spcAft>
                <a:spcPts val="600"/>
              </a:spcAft>
              <a:buSzPct val="100000"/>
              <a:buChar char="•"/>
            </a:pPr>
            <a:r>
              <a:rPr lang="en-US" sz="1400" dirty="0">
                <a:solidFill>
                  <a:schemeClr val="tx1"/>
                </a:solidFill>
              </a:rPr>
              <a:t>4.3 Consent (held by the clinics)</a:t>
            </a:r>
            <a:endParaRPr lang="en-US" sz="1400" dirty="0"/>
          </a:p>
          <a:p>
            <a:pPr marL="342900" indent="-342900">
              <a:spcAft>
                <a:spcPts val="600"/>
              </a:spcAft>
              <a:buSzPct val="100000"/>
              <a:buChar char="•"/>
            </a:pPr>
            <a:r>
              <a:rPr lang="en-US" sz="1400" dirty="0">
                <a:solidFill>
                  <a:schemeClr val="tx1"/>
                </a:solidFill>
              </a:rPr>
              <a:t>4.9 Individual access</a:t>
            </a:r>
            <a:endParaRPr lang="en-US" sz="1400" dirty="0"/>
          </a:p>
          <a:p>
            <a:pPr marL="342900" indent="-342900">
              <a:spcAft>
                <a:spcPts val="600"/>
              </a:spcAft>
              <a:buSzPct val="100000"/>
              <a:buChar char="•"/>
            </a:pPr>
            <a:r>
              <a:rPr lang="en-US" sz="1400" dirty="0">
                <a:solidFill>
                  <a:schemeClr val="tx1"/>
                </a:solidFill>
              </a:rPr>
              <a:t>Retention and deletion rules</a:t>
            </a:r>
            <a:endParaRPr lang="en-US" sz="1400" dirty="0"/>
          </a:p>
          <a:p>
            <a:pPr marL="342900" indent="-342900">
              <a:spcAft>
                <a:spcPts val="600"/>
              </a:spcAft>
              <a:buSzPct val="100000"/>
              <a:buChar char="•"/>
            </a:pPr>
            <a:r>
              <a:rPr lang="en-US" sz="1400" dirty="0">
                <a:solidFill>
                  <a:schemeClr val="tx1"/>
                </a:solidFill>
              </a:rPr>
              <a:t>PII the regex cannot see</a:t>
            </a:r>
            <a:endParaRPr lang="en-US" sz="1400" dirty="0"/>
          </a:p>
          <a:p>
            <a:pPr marL="342900" indent="-342900">
              <a:spcAft>
                <a:spcPts val="600"/>
              </a:spcAft>
              <a:buSzPct val="100000"/>
              <a:buChar char="•"/>
            </a:pPr>
            <a:r>
              <a:rPr lang="en-US" sz="1400" dirty="0">
                <a:solidFill>
                  <a:schemeClr val="tx1"/>
                </a:solidFill>
              </a:rPr>
              <a:t>PHIPA (Ontario health law)</a:t>
            </a:r>
            <a:endParaRPr lang="en-US" sz="1400" dirty="0"/>
          </a:p>
        </p:txBody>
      </p:sp>
      <p:sp>
        <p:nvSpPr>
          <p:cNvPr id="7" name="Text 4"/>
          <p:cNvSpPr txBox="1"/>
          <p:nvPr/>
        </p:nvSpPr>
        <p:spPr>
          <a:xfrm>
            <a:off x="548640" y="5623560"/>
            <a:ext cx="11064240" cy="274320"/>
          </a:xfrm>
          <a:prstGeom prst="rect">
            <a:avLst/>
          </a:prstGeom>
          <a:noFill/>
          <a:ln/>
        </p:spPr>
        <p:txBody>
          <a:bodyPr wrap="square" lIns="0" tIns="0" rIns="0" bIns="0" rtlCol="0" anchor="ctr"/>
          <a:lstStyle/>
          <a:p>
            <a:pPr marL="0" indent="0">
              <a:buNone/>
            </a:pPr>
            <a:r>
              <a:rPr lang="en-US" sz="1100" i="1" dirty="0">
                <a:solidFill>
                  <a:schemeClr val="accent5"/>
                </a:solidFill>
              </a:rPr>
              <a:t>A learning exercise on synthetic data, not a compliance certification. Full table: docs/compliance-mapping.md</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If a control fails: the incident response runbook</a:t>
            </a:r>
            <a:endParaRPr lang="en-US" sz="3200" dirty="0"/>
          </a:p>
        </p:txBody>
      </p:sp>
      <p:sp>
        <p:nvSpPr>
          <p:cNvPr id="3" name="scenario IR-1"/>
          <p:cNvSpPr/>
          <p:nvPr/>
        </p:nvSpPr>
        <p:spPr>
          <a:xfrm>
            <a:off x="548640" y="1325880"/>
            <a:ext cx="2633472" cy="1600200"/>
          </a:xfrm>
          <a:prstGeom prst="roundRect">
            <a:avLst>
              <a:gd name="adj" fmla="val 4571"/>
            </a:avLst>
          </a:prstGeom>
          <a:solidFill>
            <a:schemeClr val="bg2"/>
          </a:solidFill>
          <a:ln/>
        </p:spPr>
        <p:txBody>
          <a:bodyPr/>
          <a:lstStyle/>
          <a:p>
            <a:endParaRPr lang="en-CA"/>
          </a:p>
        </p:txBody>
      </p:sp>
      <p:sp>
        <p:nvSpPr>
          <p:cNvPr id="4" name="Text 2"/>
          <p:cNvSpPr txBox="1"/>
          <p:nvPr/>
        </p:nvSpPr>
        <p:spPr>
          <a:xfrm>
            <a:off x="777240" y="1463040"/>
            <a:ext cx="2194560" cy="274320"/>
          </a:xfrm>
          <a:prstGeom prst="rect">
            <a:avLst/>
          </a:prstGeom>
          <a:noFill/>
          <a:ln/>
        </p:spPr>
        <p:txBody>
          <a:bodyPr wrap="square" lIns="0" tIns="0" rIns="0" bIns="0" rtlCol="0" anchor="ctr"/>
          <a:lstStyle/>
          <a:p>
            <a:pPr marL="0" indent="0">
              <a:buNone/>
            </a:pPr>
            <a:r>
              <a:rPr lang="en-US" sz="1200" b="1" kern="0" spc="100" dirty="0">
                <a:solidFill>
                  <a:schemeClr val="accent3"/>
                </a:solidFill>
              </a:rPr>
              <a:t>IR-1</a:t>
            </a:r>
            <a:endParaRPr lang="en-US" sz="1200" dirty="0"/>
          </a:p>
        </p:txBody>
      </p:sp>
      <p:sp>
        <p:nvSpPr>
          <p:cNvPr id="5" name="Text 3"/>
          <p:cNvSpPr txBox="1"/>
          <p:nvPr/>
        </p:nvSpPr>
        <p:spPr>
          <a:xfrm>
            <a:off x="777240" y="1737360"/>
            <a:ext cx="2194560" cy="365760"/>
          </a:xfrm>
          <a:prstGeom prst="rect">
            <a:avLst/>
          </a:prstGeom>
          <a:noFill/>
          <a:ln/>
        </p:spPr>
        <p:txBody>
          <a:bodyPr wrap="square" lIns="0" tIns="0" rIns="0" bIns="0" rtlCol="0" anchor="ctr"/>
          <a:lstStyle/>
          <a:p>
            <a:pPr marL="0" indent="0">
              <a:buNone/>
            </a:pPr>
            <a:r>
              <a:rPr lang="en-US" sz="1600" b="1" dirty="0">
                <a:solidFill>
                  <a:schemeClr val="tx1"/>
                </a:solidFill>
              </a:rPr>
              <a:t>PII reached curated</a:t>
            </a:r>
            <a:endParaRPr lang="en-US" sz="1600" dirty="0"/>
          </a:p>
        </p:txBody>
      </p:sp>
      <p:sp>
        <p:nvSpPr>
          <p:cNvPr id="6" name="Text 4"/>
          <p:cNvSpPr txBox="1"/>
          <p:nvPr/>
        </p:nvSpPr>
        <p:spPr>
          <a:xfrm>
            <a:off x="777240" y="2148840"/>
            <a:ext cx="2194560" cy="640080"/>
          </a:xfrm>
          <a:prstGeom prst="rect">
            <a:avLst/>
          </a:prstGeom>
          <a:noFill/>
          <a:ln/>
        </p:spPr>
        <p:txBody>
          <a:bodyPr wrap="square" lIns="0" tIns="0" rIns="0" bIns="0" rtlCol="0" anchor="t"/>
          <a:lstStyle/>
          <a:p>
            <a:pPr marL="0" indent="0">
              <a:buNone/>
            </a:pPr>
            <a:r>
              <a:rPr lang="en-US" sz="1300" dirty="0">
                <a:solidFill>
                  <a:schemeClr val="tx1"/>
                </a:solidFill>
              </a:rPr>
              <a:t>Gate missed a new format</a:t>
            </a:r>
            <a:endParaRPr lang="en-US" sz="1300" dirty="0"/>
          </a:p>
        </p:txBody>
      </p:sp>
      <p:sp>
        <p:nvSpPr>
          <p:cNvPr id="7" name="scenario IR-2"/>
          <p:cNvSpPr/>
          <p:nvPr/>
        </p:nvSpPr>
        <p:spPr>
          <a:xfrm>
            <a:off x="3364992" y="1325880"/>
            <a:ext cx="2633472" cy="1600200"/>
          </a:xfrm>
          <a:prstGeom prst="roundRect">
            <a:avLst>
              <a:gd name="adj" fmla="val 4571"/>
            </a:avLst>
          </a:prstGeom>
          <a:solidFill>
            <a:schemeClr val="bg2"/>
          </a:solidFill>
          <a:ln/>
        </p:spPr>
        <p:txBody>
          <a:bodyPr/>
          <a:lstStyle/>
          <a:p>
            <a:endParaRPr lang="en-CA"/>
          </a:p>
        </p:txBody>
      </p:sp>
      <p:sp>
        <p:nvSpPr>
          <p:cNvPr id="8" name="Text 6"/>
          <p:cNvSpPr txBox="1"/>
          <p:nvPr/>
        </p:nvSpPr>
        <p:spPr>
          <a:xfrm>
            <a:off x="3593592" y="1463040"/>
            <a:ext cx="2194560" cy="274320"/>
          </a:xfrm>
          <a:prstGeom prst="rect">
            <a:avLst/>
          </a:prstGeom>
          <a:noFill/>
          <a:ln/>
        </p:spPr>
        <p:txBody>
          <a:bodyPr wrap="square" lIns="0" tIns="0" rIns="0" bIns="0" rtlCol="0" anchor="ctr"/>
          <a:lstStyle/>
          <a:p>
            <a:pPr marL="0" indent="0">
              <a:buNone/>
            </a:pPr>
            <a:r>
              <a:rPr lang="en-US" sz="1200" b="1" kern="0" spc="100" dirty="0">
                <a:solidFill>
                  <a:schemeClr val="accent3"/>
                </a:solidFill>
              </a:rPr>
              <a:t>IR-2</a:t>
            </a:r>
            <a:endParaRPr lang="en-US" sz="1200" dirty="0"/>
          </a:p>
        </p:txBody>
      </p:sp>
      <p:sp>
        <p:nvSpPr>
          <p:cNvPr id="9" name="Text 7"/>
          <p:cNvSpPr txBox="1"/>
          <p:nvPr/>
        </p:nvSpPr>
        <p:spPr>
          <a:xfrm>
            <a:off x="3593592" y="1737360"/>
            <a:ext cx="2194560" cy="365760"/>
          </a:xfrm>
          <a:prstGeom prst="rect">
            <a:avLst/>
          </a:prstGeom>
          <a:noFill/>
          <a:ln/>
        </p:spPr>
        <p:txBody>
          <a:bodyPr wrap="square" lIns="0" tIns="0" rIns="0" bIns="0" rtlCol="0" anchor="ctr"/>
          <a:lstStyle/>
          <a:p>
            <a:pPr marL="0" indent="0">
              <a:buNone/>
            </a:pPr>
            <a:r>
              <a:rPr lang="en-US" sz="1600" b="1" dirty="0">
                <a:solidFill>
                  <a:schemeClr val="tx1"/>
                </a:solidFill>
              </a:rPr>
              <a:t>Gate did not alert</a:t>
            </a:r>
            <a:endParaRPr lang="en-US" sz="1600" dirty="0"/>
          </a:p>
        </p:txBody>
      </p:sp>
      <p:sp>
        <p:nvSpPr>
          <p:cNvPr id="10" name="Text 8"/>
          <p:cNvSpPr txBox="1"/>
          <p:nvPr/>
        </p:nvSpPr>
        <p:spPr>
          <a:xfrm>
            <a:off x="3593592" y="2148840"/>
            <a:ext cx="2194560" cy="640080"/>
          </a:xfrm>
          <a:prstGeom prst="rect">
            <a:avLst/>
          </a:prstGeom>
          <a:noFill/>
          <a:ln/>
        </p:spPr>
        <p:txBody>
          <a:bodyPr wrap="square" lIns="0" tIns="0" rIns="0" bIns="0" rtlCol="0" anchor="t"/>
          <a:lstStyle/>
          <a:p>
            <a:pPr marL="0" indent="0">
              <a:buNone/>
            </a:pPr>
            <a:r>
              <a:rPr lang="en-US" sz="1300" dirty="0">
                <a:solidFill>
                  <a:schemeClr val="tx1"/>
                </a:solidFill>
              </a:rPr>
              <a:t>SNS failed or workflow skipped</a:t>
            </a:r>
            <a:endParaRPr lang="en-US" sz="1300" dirty="0"/>
          </a:p>
        </p:txBody>
      </p:sp>
      <p:sp>
        <p:nvSpPr>
          <p:cNvPr id="11" name="scenario IR-3"/>
          <p:cNvSpPr/>
          <p:nvPr/>
        </p:nvSpPr>
        <p:spPr>
          <a:xfrm>
            <a:off x="6181344" y="1325880"/>
            <a:ext cx="2633472" cy="1600200"/>
          </a:xfrm>
          <a:prstGeom prst="roundRect">
            <a:avLst>
              <a:gd name="adj" fmla="val 4571"/>
            </a:avLst>
          </a:prstGeom>
          <a:solidFill>
            <a:schemeClr val="bg2"/>
          </a:solidFill>
          <a:ln/>
        </p:spPr>
        <p:txBody>
          <a:bodyPr/>
          <a:lstStyle/>
          <a:p>
            <a:endParaRPr lang="en-CA"/>
          </a:p>
        </p:txBody>
      </p:sp>
      <p:sp>
        <p:nvSpPr>
          <p:cNvPr id="12" name="Text 10"/>
          <p:cNvSpPr txBox="1"/>
          <p:nvPr/>
        </p:nvSpPr>
        <p:spPr>
          <a:xfrm>
            <a:off x="6409944" y="1463040"/>
            <a:ext cx="2194560" cy="274320"/>
          </a:xfrm>
          <a:prstGeom prst="rect">
            <a:avLst/>
          </a:prstGeom>
          <a:noFill/>
          <a:ln/>
        </p:spPr>
        <p:txBody>
          <a:bodyPr wrap="square" lIns="0" tIns="0" rIns="0" bIns="0" rtlCol="0" anchor="ctr"/>
          <a:lstStyle/>
          <a:p>
            <a:pPr marL="0" indent="0">
              <a:buNone/>
            </a:pPr>
            <a:r>
              <a:rPr lang="en-US" sz="1200" b="1" kern="0" spc="100" dirty="0">
                <a:solidFill>
                  <a:schemeClr val="accent3"/>
                </a:solidFill>
              </a:rPr>
              <a:t>IR-3</a:t>
            </a:r>
            <a:endParaRPr lang="en-US" sz="1200" dirty="0"/>
          </a:p>
        </p:txBody>
      </p:sp>
      <p:sp>
        <p:nvSpPr>
          <p:cNvPr id="13" name="Text 11"/>
          <p:cNvSpPr txBox="1"/>
          <p:nvPr/>
        </p:nvSpPr>
        <p:spPr>
          <a:xfrm>
            <a:off x="6409944" y="1737360"/>
            <a:ext cx="2194560" cy="365760"/>
          </a:xfrm>
          <a:prstGeom prst="rect">
            <a:avLst/>
          </a:prstGeom>
          <a:noFill/>
          <a:ln/>
        </p:spPr>
        <p:txBody>
          <a:bodyPr wrap="square" lIns="0" tIns="0" rIns="0" bIns="0" rtlCol="0" anchor="ctr"/>
          <a:lstStyle/>
          <a:p>
            <a:pPr marL="0" indent="0">
              <a:buNone/>
            </a:pPr>
            <a:r>
              <a:rPr lang="en-US" sz="1600" b="1" dirty="0">
                <a:solidFill>
                  <a:schemeClr val="tx1"/>
                </a:solidFill>
              </a:rPr>
              <a:t>Access control failed</a:t>
            </a:r>
            <a:endParaRPr lang="en-US" sz="1600" dirty="0"/>
          </a:p>
        </p:txBody>
      </p:sp>
      <p:sp>
        <p:nvSpPr>
          <p:cNvPr id="14" name="Text 12"/>
          <p:cNvSpPr txBox="1"/>
          <p:nvPr/>
        </p:nvSpPr>
        <p:spPr>
          <a:xfrm>
            <a:off x="6409944" y="2148840"/>
            <a:ext cx="2194560" cy="640080"/>
          </a:xfrm>
          <a:prstGeom prst="rect">
            <a:avLst/>
          </a:prstGeom>
          <a:noFill/>
          <a:ln/>
        </p:spPr>
        <p:txBody>
          <a:bodyPr wrap="square" lIns="0" tIns="0" rIns="0" bIns="0" rtlCol="0" anchor="t"/>
          <a:lstStyle/>
          <a:p>
            <a:pPr marL="0" indent="0">
              <a:buNone/>
            </a:pPr>
            <a:r>
              <a:rPr lang="en-US" sz="1300" dirty="0">
                <a:solidFill>
                  <a:schemeClr val="tx1"/>
                </a:solidFill>
              </a:rPr>
              <a:t>Analyst saw another tenant or a PII column</a:t>
            </a:r>
            <a:endParaRPr lang="en-US" sz="1300" dirty="0"/>
          </a:p>
        </p:txBody>
      </p:sp>
      <p:sp>
        <p:nvSpPr>
          <p:cNvPr id="15" name="scenario IR-4"/>
          <p:cNvSpPr/>
          <p:nvPr/>
        </p:nvSpPr>
        <p:spPr>
          <a:xfrm>
            <a:off x="8997696" y="1325880"/>
            <a:ext cx="2633472" cy="1600200"/>
          </a:xfrm>
          <a:prstGeom prst="roundRect">
            <a:avLst>
              <a:gd name="adj" fmla="val 4571"/>
            </a:avLst>
          </a:prstGeom>
          <a:solidFill>
            <a:schemeClr val="bg2"/>
          </a:solidFill>
          <a:ln/>
        </p:spPr>
        <p:txBody>
          <a:bodyPr/>
          <a:lstStyle/>
          <a:p>
            <a:endParaRPr lang="en-CA"/>
          </a:p>
        </p:txBody>
      </p:sp>
      <p:sp>
        <p:nvSpPr>
          <p:cNvPr id="16" name="Text 14"/>
          <p:cNvSpPr txBox="1"/>
          <p:nvPr/>
        </p:nvSpPr>
        <p:spPr>
          <a:xfrm>
            <a:off x="9226296" y="1463040"/>
            <a:ext cx="2194560" cy="274320"/>
          </a:xfrm>
          <a:prstGeom prst="rect">
            <a:avLst/>
          </a:prstGeom>
          <a:noFill/>
          <a:ln/>
        </p:spPr>
        <p:txBody>
          <a:bodyPr wrap="square" lIns="0" tIns="0" rIns="0" bIns="0" rtlCol="0" anchor="ctr"/>
          <a:lstStyle/>
          <a:p>
            <a:pPr marL="0" indent="0">
              <a:buNone/>
            </a:pPr>
            <a:r>
              <a:rPr lang="en-US" sz="1200" b="1" kern="0" spc="100" dirty="0">
                <a:solidFill>
                  <a:schemeClr val="accent3"/>
                </a:solidFill>
              </a:rPr>
              <a:t>IR-4</a:t>
            </a:r>
            <a:endParaRPr lang="en-US" sz="1200" dirty="0"/>
          </a:p>
        </p:txBody>
      </p:sp>
      <p:sp>
        <p:nvSpPr>
          <p:cNvPr id="17" name="Text 15"/>
          <p:cNvSpPr txBox="1"/>
          <p:nvPr/>
        </p:nvSpPr>
        <p:spPr>
          <a:xfrm>
            <a:off x="9226296" y="1737360"/>
            <a:ext cx="2194560" cy="365760"/>
          </a:xfrm>
          <a:prstGeom prst="rect">
            <a:avLst/>
          </a:prstGeom>
          <a:noFill/>
          <a:ln/>
        </p:spPr>
        <p:txBody>
          <a:bodyPr wrap="square" lIns="0" tIns="0" rIns="0" bIns="0" rtlCol="0" anchor="ctr"/>
          <a:lstStyle/>
          <a:p>
            <a:pPr marL="0" indent="0">
              <a:buNone/>
            </a:pPr>
            <a:r>
              <a:rPr lang="en-US" sz="1600" b="1" dirty="0">
                <a:solidFill>
                  <a:schemeClr val="tx1"/>
                </a:solidFill>
              </a:rPr>
              <a:t>Security setting changed</a:t>
            </a:r>
            <a:endParaRPr lang="en-US" sz="1600" dirty="0"/>
          </a:p>
        </p:txBody>
      </p:sp>
      <p:sp>
        <p:nvSpPr>
          <p:cNvPr id="18" name="Text 16"/>
          <p:cNvSpPr txBox="1"/>
          <p:nvPr/>
        </p:nvSpPr>
        <p:spPr>
          <a:xfrm>
            <a:off x="9226296" y="2148840"/>
            <a:ext cx="2194560" cy="640080"/>
          </a:xfrm>
          <a:prstGeom prst="rect">
            <a:avLst/>
          </a:prstGeom>
          <a:noFill/>
          <a:ln/>
        </p:spPr>
        <p:txBody>
          <a:bodyPr wrap="square" lIns="0" tIns="0" rIns="0" bIns="0" rtlCol="0" anchor="t"/>
          <a:lstStyle/>
          <a:p>
            <a:pPr marL="0" indent="0">
              <a:buNone/>
            </a:pPr>
            <a:r>
              <a:rPr lang="en-US" sz="1300" dirty="0">
                <a:solidFill>
                  <a:schemeClr val="tx1"/>
                </a:solidFill>
              </a:rPr>
              <a:t>Bucket or key policy altered</a:t>
            </a:r>
            <a:endParaRPr lang="en-US" sz="1300" dirty="0"/>
          </a:p>
        </p:txBody>
      </p:sp>
      <p:sp>
        <p:nvSpPr>
          <p:cNvPr id="19" name="Shape 17"/>
          <p:cNvSpPr/>
          <p:nvPr/>
        </p:nvSpPr>
        <p:spPr>
          <a:xfrm>
            <a:off x="548640" y="3291840"/>
            <a:ext cx="502920" cy="502920"/>
          </a:xfrm>
          <a:prstGeom prst="ellipse">
            <a:avLst/>
          </a:prstGeom>
          <a:solidFill>
            <a:schemeClr val="tx2"/>
          </a:solidFill>
          <a:ln/>
        </p:spPr>
        <p:txBody>
          <a:bodyPr/>
          <a:lstStyle/>
          <a:p>
            <a:endParaRPr lang="en-CA"/>
          </a:p>
        </p:txBody>
      </p:sp>
      <p:sp>
        <p:nvSpPr>
          <p:cNvPr id="20" name="Text 18"/>
          <p:cNvSpPr txBox="1"/>
          <p:nvPr/>
        </p:nvSpPr>
        <p:spPr>
          <a:xfrm>
            <a:off x="548640" y="32918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21" name="Shape 19"/>
          <p:cNvSpPr/>
          <p:nvPr/>
        </p:nvSpPr>
        <p:spPr>
          <a:xfrm>
            <a:off x="1143000" y="3543300"/>
            <a:ext cx="1188720" cy="0"/>
          </a:xfrm>
          <a:prstGeom prst="line">
            <a:avLst/>
          </a:prstGeom>
          <a:noFill/>
          <a:ln w="19050">
            <a:solidFill>
              <a:srgbClr val="C9D3DF"/>
            </a:solidFill>
            <a:prstDash val="solid"/>
          </a:ln>
        </p:spPr>
        <p:txBody>
          <a:bodyPr/>
          <a:lstStyle/>
          <a:p>
            <a:endParaRPr lang="en-CA"/>
          </a:p>
        </p:txBody>
      </p:sp>
      <p:sp>
        <p:nvSpPr>
          <p:cNvPr id="22" name="Text 20"/>
          <p:cNvSpPr txBox="1"/>
          <p:nvPr/>
        </p:nvSpPr>
        <p:spPr>
          <a:xfrm>
            <a:off x="548640" y="3931920"/>
            <a:ext cx="1737360" cy="548640"/>
          </a:xfrm>
          <a:prstGeom prst="rect">
            <a:avLst/>
          </a:prstGeom>
          <a:noFill/>
          <a:ln/>
        </p:spPr>
        <p:txBody>
          <a:bodyPr wrap="square" lIns="0" tIns="0" rIns="0" bIns="0" rtlCol="0" anchor="t"/>
          <a:lstStyle/>
          <a:p>
            <a:pPr marL="0" indent="0">
              <a:buNone/>
            </a:pPr>
            <a:r>
              <a:rPr lang="en-US" sz="1400" b="1" dirty="0">
                <a:solidFill>
                  <a:schemeClr val="tx1"/>
                </a:solidFill>
              </a:rPr>
              <a:t>Detect and triage</a:t>
            </a:r>
            <a:endParaRPr lang="en-US" sz="1400" dirty="0"/>
          </a:p>
        </p:txBody>
      </p:sp>
      <p:sp>
        <p:nvSpPr>
          <p:cNvPr id="23" name="Text 21"/>
          <p:cNvSpPr txBox="1"/>
          <p:nvPr/>
        </p:nvSpPr>
        <p:spPr>
          <a:xfrm>
            <a:off x="548640" y="4480560"/>
            <a:ext cx="1737360" cy="274320"/>
          </a:xfrm>
          <a:prstGeom prst="rect">
            <a:avLst/>
          </a:prstGeom>
          <a:noFill/>
          <a:ln/>
        </p:spPr>
        <p:txBody>
          <a:bodyPr wrap="square" lIns="0" tIns="0" rIns="0" bIns="0" rtlCol="0" anchor="ctr"/>
          <a:lstStyle/>
          <a:p>
            <a:pPr marL="0" indent="0">
              <a:buNone/>
            </a:pPr>
            <a:r>
              <a:rPr lang="en-US" sz="1200" b="1" dirty="0">
                <a:solidFill>
                  <a:schemeClr val="accent1"/>
                </a:solidFill>
              </a:rPr>
              <a:t>0 to 30 min</a:t>
            </a:r>
            <a:endParaRPr lang="en-US" sz="1200" dirty="0"/>
          </a:p>
        </p:txBody>
      </p:sp>
      <p:sp>
        <p:nvSpPr>
          <p:cNvPr id="24" name="Text 22"/>
          <p:cNvSpPr txBox="1"/>
          <p:nvPr/>
        </p:nvSpPr>
        <p:spPr>
          <a:xfrm>
            <a:off x="548640" y="4800600"/>
            <a:ext cx="1737360" cy="1005840"/>
          </a:xfrm>
          <a:prstGeom prst="rect">
            <a:avLst/>
          </a:prstGeom>
          <a:noFill/>
          <a:ln/>
        </p:spPr>
        <p:txBody>
          <a:bodyPr wrap="square" lIns="0" tIns="0" rIns="0" bIns="0" rtlCol="0" anchor="t"/>
          <a:lstStyle/>
          <a:p>
            <a:pPr marL="0" indent="0">
              <a:buNone/>
            </a:pPr>
            <a:r>
              <a:rPr lang="en-US" sz="1200" dirty="0">
                <a:solidFill>
                  <a:schemeClr val="tx1"/>
                </a:solidFill>
              </a:rPr>
              <a:t>Log it, set severity, find tenant and objects</a:t>
            </a:r>
            <a:endParaRPr lang="en-US" sz="1200" dirty="0"/>
          </a:p>
        </p:txBody>
      </p:sp>
      <p:sp>
        <p:nvSpPr>
          <p:cNvPr id="25" name="Shape 23"/>
          <p:cNvSpPr/>
          <p:nvPr/>
        </p:nvSpPr>
        <p:spPr>
          <a:xfrm>
            <a:off x="2423160" y="3291840"/>
            <a:ext cx="502920" cy="502920"/>
          </a:xfrm>
          <a:prstGeom prst="ellipse">
            <a:avLst/>
          </a:prstGeom>
          <a:solidFill>
            <a:schemeClr val="tx2"/>
          </a:solidFill>
          <a:ln/>
        </p:spPr>
        <p:txBody>
          <a:bodyPr/>
          <a:lstStyle/>
          <a:p>
            <a:endParaRPr lang="en-CA"/>
          </a:p>
        </p:txBody>
      </p:sp>
      <p:sp>
        <p:nvSpPr>
          <p:cNvPr id="26" name="Text 24"/>
          <p:cNvSpPr txBox="1"/>
          <p:nvPr/>
        </p:nvSpPr>
        <p:spPr>
          <a:xfrm>
            <a:off x="2423160" y="32918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27" name="Shape 25"/>
          <p:cNvSpPr/>
          <p:nvPr/>
        </p:nvSpPr>
        <p:spPr>
          <a:xfrm>
            <a:off x="3017520" y="3543300"/>
            <a:ext cx="1188720" cy="0"/>
          </a:xfrm>
          <a:prstGeom prst="line">
            <a:avLst/>
          </a:prstGeom>
          <a:noFill/>
          <a:ln w="19050">
            <a:solidFill>
              <a:srgbClr val="C9D3DF"/>
            </a:solidFill>
            <a:prstDash val="solid"/>
          </a:ln>
        </p:spPr>
        <p:txBody>
          <a:bodyPr/>
          <a:lstStyle/>
          <a:p>
            <a:endParaRPr lang="en-CA"/>
          </a:p>
        </p:txBody>
      </p:sp>
      <p:sp>
        <p:nvSpPr>
          <p:cNvPr id="28" name="Text 26"/>
          <p:cNvSpPr txBox="1"/>
          <p:nvPr/>
        </p:nvSpPr>
        <p:spPr>
          <a:xfrm>
            <a:off x="2423160" y="3931920"/>
            <a:ext cx="1737360" cy="548640"/>
          </a:xfrm>
          <a:prstGeom prst="rect">
            <a:avLst/>
          </a:prstGeom>
          <a:noFill/>
          <a:ln/>
        </p:spPr>
        <p:txBody>
          <a:bodyPr wrap="square" lIns="0" tIns="0" rIns="0" bIns="0" rtlCol="0" anchor="t"/>
          <a:lstStyle/>
          <a:p>
            <a:pPr marL="0" indent="0">
              <a:buNone/>
            </a:pPr>
            <a:r>
              <a:rPr lang="en-US" sz="1400" b="1" dirty="0">
                <a:solidFill>
                  <a:schemeClr val="tx1"/>
                </a:solidFill>
              </a:rPr>
              <a:t>Contain</a:t>
            </a:r>
            <a:endParaRPr lang="en-US" sz="1400" dirty="0"/>
          </a:p>
        </p:txBody>
      </p:sp>
      <p:sp>
        <p:nvSpPr>
          <p:cNvPr id="29" name="Text 27"/>
          <p:cNvSpPr txBox="1"/>
          <p:nvPr/>
        </p:nvSpPr>
        <p:spPr>
          <a:xfrm>
            <a:off x="2423160" y="4480560"/>
            <a:ext cx="1737360" cy="274320"/>
          </a:xfrm>
          <a:prstGeom prst="rect">
            <a:avLst/>
          </a:prstGeom>
          <a:noFill/>
          <a:ln/>
        </p:spPr>
        <p:txBody>
          <a:bodyPr wrap="square" lIns="0" tIns="0" rIns="0" bIns="0" rtlCol="0" anchor="ctr"/>
          <a:lstStyle/>
          <a:p>
            <a:pPr marL="0" indent="0">
              <a:buNone/>
            </a:pPr>
            <a:r>
              <a:rPr lang="en-US" sz="1200" b="1" dirty="0">
                <a:solidFill>
                  <a:schemeClr val="accent1"/>
                </a:solidFill>
              </a:rPr>
              <a:t>30 to 60 min</a:t>
            </a:r>
            <a:endParaRPr lang="en-US" sz="1200" dirty="0"/>
          </a:p>
        </p:txBody>
      </p:sp>
      <p:sp>
        <p:nvSpPr>
          <p:cNvPr id="30" name="Text 28"/>
          <p:cNvSpPr txBox="1"/>
          <p:nvPr/>
        </p:nvSpPr>
        <p:spPr>
          <a:xfrm>
            <a:off x="2423160" y="4800600"/>
            <a:ext cx="1737360" cy="1005840"/>
          </a:xfrm>
          <a:prstGeom prst="rect">
            <a:avLst/>
          </a:prstGeom>
          <a:noFill/>
          <a:ln/>
        </p:spPr>
        <p:txBody>
          <a:bodyPr wrap="square" lIns="0" tIns="0" rIns="0" bIns="0" rtlCol="0" anchor="t"/>
          <a:lstStyle/>
          <a:p>
            <a:pPr marL="0" indent="0">
              <a:buNone/>
            </a:pPr>
            <a:r>
              <a:rPr lang="en-US" sz="1200" dirty="0">
                <a:solidFill>
                  <a:schemeClr val="tx1"/>
                </a:solidFill>
              </a:rPr>
              <a:t>Move to quarantine, cut access, pause the gate</a:t>
            </a:r>
            <a:endParaRPr lang="en-US" sz="1200" dirty="0"/>
          </a:p>
        </p:txBody>
      </p:sp>
      <p:sp>
        <p:nvSpPr>
          <p:cNvPr id="31" name="Shape 29"/>
          <p:cNvSpPr/>
          <p:nvPr/>
        </p:nvSpPr>
        <p:spPr>
          <a:xfrm>
            <a:off x="4297680" y="3291840"/>
            <a:ext cx="502920" cy="502920"/>
          </a:xfrm>
          <a:prstGeom prst="ellipse">
            <a:avLst/>
          </a:prstGeom>
          <a:solidFill>
            <a:schemeClr val="tx2"/>
          </a:solidFill>
          <a:ln/>
        </p:spPr>
        <p:txBody>
          <a:bodyPr/>
          <a:lstStyle/>
          <a:p>
            <a:endParaRPr lang="en-CA"/>
          </a:p>
        </p:txBody>
      </p:sp>
      <p:sp>
        <p:nvSpPr>
          <p:cNvPr id="32" name="Text 30"/>
          <p:cNvSpPr txBox="1"/>
          <p:nvPr/>
        </p:nvSpPr>
        <p:spPr>
          <a:xfrm>
            <a:off x="4297680" y="32918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33" name="Shape 31"/>
          <p:cNvSpPr/>
          <p:nvPr/>
        </p:nvSpPr>
        <p:spPr>
          <a:xfrm>
            <a:off x="4892040" y="3543300"/>
            <a:ext cx="1188720" cy="0"/>
          </a:xfrm>
          <a:prstGeom prst="line">
            <a:avLst/>
          </a:prstGeom>
          <a:noFill/>
          <a:ln w="19050">
            <a:solidFill>
              <a:srgbClr val="C9D3DF"/>
            </a:solidFill>
            <a:prstDash val="solid"/>
          </a:ln>
        </p:spPr>
        <p:txBody>
          <a:bodyPr/>
          <a:lstStyle/>
          <a:p>
            <a:endParaRPr lang="en-CA"/>
          </a:p>
        </p:txBody>
      </p:sp>
      <p:sp>
        <p:nvSpPr>
          <p:cNvPr id="34" name="Text 32"/>
          <p:cNvSpPr txBox="1"/>
          <p:nvPr/>
        </p:nvSpPr>
        <p:spPr>
          <a:xfrm>
            <a:off x="4297680" y="3931920"/>
            <a:ext cx="1737360" cy="548640"/>
          </a:xfrm>
          <a:prstGeom prst="rect">
            <a:avLst/>
          </a:prstGeom>
          <a:noFill/>
          <a:ln/>
        </p:spPr>
        <p:txBody>
          <a:bodyPr wrap="square" lIns="0" tIns="0" rIns="0" bIns="0" rtlCol="0" anchor="t"/>
          <a:lstStyle/>
          <a:p>
            <a:pPr marL="0" indent="0">
              <a:buNone/>
            </a:pPr>
            <a:r>
              <a:rPr lang="en-US" sz="1400" b="1" dirty="0">
                <a:solidFill>
                  <a:schemeClr val="tx1"/>
                </a:solidFill>
              </a:rPr>
              <a:t>Investigate</a:t>
            </a:r>
            <a:endParaRPr lang="en-US" sz="1400" dirty="0"/>
          </a:p>
        </p:txBody>
      </p:sp>
      <p:sp>
        <p:nvSpPr>
          <p:cNvPr id="35" name="Text 33"/>
          <p:cNvSpPr txBox="1"/>
          <p:nvPr/>
        </p:nvSpPr>
        <p:spPr>
          <a:xfrm>
            <a:off x="4297680" y="4480560"/>
            <a:ext cx="1737360" cy="274320"/>
          </a:xfrm>
          <a:prstGeom prst="rect">
            <a:avLst/>
          </a:prstGeom>
          <a:noFill/>
          <a:ln/>
        </p:spPr>
        <p:txBody>
          <a:bodyPr wrap="square" lIns="0" tIns="0" rIns="0" bIns="0" rtlCol="0" anchor="ctr"/>
          <a:lstStyle/>
          <a:p>
            <a:pPr marL="0" indent="0">
              <a:buNone/>
            </a:pPr>
            <a:r>
              <a:rPr lang="en-US" sz="1200" b="1" dirty="0">
                <a:solidFill>
                  <a:schemeClr val="accent1"/>
                </a:solidFill>
              </a:rPr>
              <a:t>Same day</a:t>
            </a:r>
            <a:endParaRPr lang="en-US" sz="1200" dirty="0"/>
          </a:p>
        </p:txBody>
      </p:sp>
      <p:sp>
        <p:nvSpPr>
          <p:cNvPr id="36" name="Text 34"/>
          <p:cNvSpPr txBox="1"/>
          <p:nvPr/>
        </p:nvSpPr>
        <p:spPr>
          <a:xfrm>
            <a:off x="4297680" y="4800600"/>
            <a:ext cx="1737360" cy="1005840"/>
          </a:xfrm>
          <a:prstGeom prst="rect">
            <a:avLst/>
          </a:prstGeom>
          <a:noFill/>
          <a:ln/>
        </p:spPr>
        <p:txBody>
          <a:bodyPr wrap="square" lIns="0" tIns="0" rIns="0" bIns="0" rtlCol="0" anchor="t"/>
          <a:lstStyle/>
          <a:p>
            <a:pPr marL="0" indent="0">
              <a:buNone/>
            </a:pPr>
            <a:r>
              <a:rPr lang="en-US" sz="1200" dirty="0">
                <a:solidFill>
                  <a:schemeClr val="tx1"/>
                </a:solidFill>
              </a:rPr>
              <a:t>Audit Q1, Q2, Q3: who saw it, who changed it</a:t>
            </a:r>
            <a:endParaRPr lang="en-US" sz="1200" dirty="0"/>
          </a:p>
        </p:txBody>
      </p:sp>
      <p:sp>
        <p:nvSpPr>
          <p:cNvPr id="37" name="Shape 35"/>
          <p:cNvSpPr/>
          <p:nvPr/>
        </p:nvSpPr>
        <p:spPr>
          <a:xfrm>
            <a:off x="6172200" y="3291840"/>
            <a:ext cx="502920" cy="502920"/>
          </a:xfrm>
          <a:prstGeom prst="ellipse">
            <a:avLst/>
          </a:prstGeom>
          <a:solidFill>
            <a:schemeClr val="tx2"/>
          </a:solidFill>
          <a:ln/>
        </p:spPr>
        <p:txBody>
          <a:bodyPr/>
          <a:lstStyle/>
          <a:p>
            <a:endParaRPr lang="en-CA"/>
          </a:p>
        </p:txBody>
      </p:sp>
      <p:sp>
        <p:nvSpPr>
          <p:cNvPr id="38" name="Text 36"/>
          <p:cNvSpPr txBox="1"/>
          <p:nvPr/>
        </p:nvSpPr>
        <p:spPr>
          <a:xfrm>
            <a:off x="6172200" y="32918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39" name="Shape 37"/>
          <p:cNvSpPr/>
          <p:nvPr/>
        </p:nvSpPr>
        <p:spPr>
          <a:xfrm>
            <a:off x="6766560" y="3543300"/>
            <a:ext cx="1188720" cy="0"/>
          </a:xfrm>
          <a:prstGeom prst="line">
            <a:avLst/>
          </a:prstGeom>
          <a:noFill/>
          <a:ln w="19050">
            <a:solidFill>
              <a:srgbClr val="C9D3DF"/>
            </a:solidFill>
            <a:prstDash val="solid"/>
          </a:ln>
        </p:spPr>
        <p:txBody>
          <a:bodyPr/>
          <a:lstStyle/>
          <a:p>
            <a:endParaRPr lang="en-CA"/>
          </a:p>
        </p:txBody>
      </p:sp>
      <p:sp>
        <p:nvSpPr>
          <p:cNvPr id="40" name="Text 38"/>
          <p:cNvSpPr txBox="1"/>
          <p:nvPr/>
        </p:nvSpPr>
        <p:spPr>
          <a:xfrm>
            <a:off x="6172200" y="3931920"/>
            <a:ext cx="1737360" cy="548640"/>
          </a:xfrm>
          <a:prstGeom prst="rect">
            <a:avLst/>
          </a:prstGeom>
          <a:noFill/>
          <a:ln/>
        </p:spPr>
        <p:txBody>
          <a:bodyPr wrap="square" lIns="0" tIns="0" rIns="0" bIns="0" rtlCol="0" anchor="t"/>
          <a:lstStyle/>
          <a:p>
            <a:pPr marL="0" indent="0">
              <a:buNone/>
            </a:pPr>
            <a:r>
              <a:rPr lang="en-US" sz="1400" b="1" dirty="0">
                <a:solidFill>
                  <a:schemeClr val="tx1"/>
                </a:solidFill>
              </a:rPr>
              <a:t>Eradicate and recover</a:t>
            </a:r>
            <a:endParaRPr lang="en-US" sz="1400" dirty="0"/>
          </a:p>
        </p:txBody>
      </p:sp>
      <p:sp>
        <p:nvSpPr>
          <p:cNvPr id="41" name="Text 39"/>
          <p:cNvSpPr txBox="1"/>
          <p:nvPr/>
        </p:nvSpPr>
        <p:spPr>
          <a:xfrm>
            <a:off x="6172200" y="4480560"/>
            <a:ext cx="1737360" cy="274320"/>
          </a:xfrm>
          <a:prstGeom prst="rect">
            <a:avLst/>
          </a:prstGeom>
          <a:noFill/>
          <a:ln/>
        </p:spPr>
        <p:txBody>
          <a:bodyPr wrap="square" lIns="0" tIns="0" rIns="0" bIns="0" rtlCol="0" anchor="ctr"/>
          <a:lstStyle/>
          <a:p>
            <a:pPr marL="0" indent="0">
              <a:buNone/>
            </a:pPr>
            <a:r>
              <a:rPr lang="en-US" sz="1200" b="1" dirty="0">
                <a:solidFill>
                  <a:schemeClr val="accent1"/>
                </a:solidFill>
              </a:rPr>
              <a:t>1 to 3 days</a:t>
            </a:r>
            <a:endParaRPr lang="en-US" sz="1200" dirty="0"/>
          </a:p>
        </p:txBody>
      </p:sp>
      <p:sp>
        <p:nvSpPr>
          <p:cNvPr id="42" name="Text 40"/>
          <p:cNvSpPr txBox="1"/>
          <p:nvPr/>
        </p:nvSpPr>
        <p:spPr>
          <a:xfrm>
            <a:off x="6172200" y="4800600"/>
            <a:ext cx="1737360" cy="1005840"/>
          </a:xfrm>
          <a:prstGeom prst="rect">
            <a:avLst/>
          </a:prstGeom>
          <a:noFill/>
          <a:ln/>
        </p:spPr>
        <p:txBody>
          <a:bodyPr wrap="square" lIns="0" tIns="0" rIns="0" bIns="0" rtlCol="0" anchor="t"/>
          <a:lstStyle/>
          <a:p>
            <a:pPr marL="0" indent="0">
              <a:buNone/>
            </a:pPr>
            <a:r>
              <a:rPr lang="en-US" sz="1200" dirty="0">
                <a:solidFill>
                  <a:schemeClr val="tx1"/>
                </a:solidFill>
              </a:rPr>
              <a:t>Add the pattern, retest to 100% recall, redeploy</a:t>
            </a:r>
            <a:endParaRPr lang="en-US" sz="1200" dirty="0"/>
          </a:p>
        </p:txBody>
      </p:sp>
      <p:sp>
        <p:nvSpPr>
          <p:cNvPr id="43" name="Shape 41"/>
          <p:cNvSpPr/>
          <p:nvPr/>
        </p:nvSpPr>
        <p:spPr>
          <a:xfrm>
            <a:off x="8046720" y="3291840"/>
            <a:ext cx="502920" cy="502920"/>
          </a:xfrm>
          <a:prstGeom prst="ellipse">
            <a:avLst/>
          </a:prstGeom>
          <a:solidFill>
            <a:schemeClr val="tx2"/>
          </a:solidFill>
          <a:ln/>
        </p:spPr>
        <p:txBody>
          <a:bodyPr/>
          <a:lstStyle/>
          <a:p>
            <a:endParaRPr lang="en-CA"/>
          </a:p>
        </p:txBody>
      </p:sp>
      <p:sp>
        <p:nvSpPr>
          <p:cNvPr id="44" name="Text 42"/>
          <p:cNvSpPr txBox="1"/>
          <p:nvPr/>
        </p:nvSpPr>
        <p:spPr>
          <a:xfrm>
            <a:off x="8046720" y="32918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45" name="Shape 43"/>
          <p:cNvSpPr/>
          <p:nvPr/>
        </p:nvSpPr>
        <p:spPr>
          <a:xfrm>
            <a:off x="8641080" y="3543300"/>
            <a:ext cx="1188720" cy="0"/>
          </a:xfrm>
          <a:prstGeom prst="line">
            <a:avLst/>
          </a:prstGeom>
          <a:noFill/>
          <a:ln w="19050">
            <a:solidFill>
              <a:srgbClr val="C9D3DF"/>
            </a:solidFill>
            <a:prstDash val="solid"/>
          </a:ln>
        </p:spPr>
        <p:txBody>
          <a:bodyPr/>
          <a:lstStyle/>
          <a:p>
            <a:endParaRPr lang="en-CA"/>
          </a:p>
        </p:txBody>
      </p:sp>
      <p:sp>
        <p:nvSpPr>
          <p:cNvPr id="46" name="Text 44"/>
          <p:cNvSpPr txBox="1"/>
          <p:nvPr/>
        </p:nvSpPr>
        <p:spPr>
          <a:xfrm>
            <a:off x="8046720" y="3931920"/>
            <a:ext cx="1737360" cy="548640"/>
          </a:xfrm>
          <a:prstGeom prst="rect">
            <a:avLst/>
          </a:prstGeom>
          <a:noFill/>
          <a:ln/>
        </p:spPr>
        <p:txBody>
          <a:bodyPr wrap="square" lIns="0" tIns="0" rIns="0" bIns="0" rtlCol="0" anchor="t"/>
          <a:lstStyle/>
          <a:p>
            <a:pPr marL="0" indent="0">
              <a:buNone/>
            </a:pPr>
            <a:r>
              <a:rPr lang="en-US" sz="1400" b="1" dirty="0">
                <a:solidFill>
                  <a:schemeClr val="tx1"/>
                </a:solidFill>
              </a:rPr>
              <a:t>Notify</a:t>
            </a:r>
            <a:endParaRPr lang="en-US" sz="1400" dirty="0"/>
          </a:p>
        </p:txBody>
      </p:sp>
      <p:sp>
        <p:nvSpPr>
          <p:cNvPr id="47" name="Text 45"/>
          <p:cNvSpPr txBox="1"/>
          <p:nvPr/>
        </p:nvSpPr>
        <p:spPr>
          <a:xfrm>
            <a:off x="8046720" y="4480560"/>
            <a:ext cx="1737360" cy="274320"/>
          </a:xfrm>
          <a:prstGeom prst="rect">
            <a:avLst/>
          </a:prstGeom>
          <a:noFill/>
          <a:ln/>
        </p:spPr>
        <p:txBody>
          <a:bodyPr wrap="square" lIns="0" tIns="0" rIns="0" bIns="0" rtlCol="0" anchor="ctr"/>
          <a:lstStyle/>
          <a:p>
            <a:pPr marL="0" indent="0">
              <a:buNone/>
            </a:pPr>
            <a:r>
              <a:rPr lang="en-US" sz="1200" b="1" dirty="0">
                <a:solidFill>
                  <a:schemeClr val="accent1"/>
                </a:solidFill>
              </a:rPr>
              <a:t>As soon as feasible</a:t>
            </a:r>
            <a:endParaRPr lang="en-US" sz="1200" dirty="0"/>
          </a:p>
        </p:txBody>
      </p:sp>
      <p:sp>
        <p:nvSpPr>
          <p:cNvPr id="48" name="Text 46"/>
          <p:cNvSpPr txBox="1"/>
          <p:nvPr/>
        </p:nvSpPr>
        <p:spPr>
          <a:xfrm>
            <a:off x="8046720" y="4800600"/>
            <a:ext cx="1737360" cy="1005840"/>
          </a:xfrm>
          <a:prstGeom prst="rect">
            <a:avLst/>
          </a:prstGeom>
          <a:noFill/>
          <a:ln/>
        </p:spPr>
        <p:txBody>
          <a:bodyPr wrap="square" lIns="0" tIns="0" rIns="0" bIns="0" rtlCol="0" anchor="t"/>
          <a:lstStyle/>
          <a:p>
            <a:pPr marL="0" indent="0">
              <a:buNone/>
            </a:pPr>
            <a:r>
              <a:rPr lang="en-US" sz="1200" dirty="0">
                <a:solidFill>
                  <a:schemeClr val="tx1"/>
                </a:solidFill>
              </a:rPr>
              <a:t>RROSH test, OPC report, clinic, 24 month record</a:t>
            </a:r>
            <a:endParaRPr lang="en-US" sz="1200" dirty="0"/>
          </a:p>
        </p:txBody>
      </p:sp>
      <p:sp>
        <p:nvSpPr>
          <p:cNvPr id="49" name="Shape 47"/>
          <p:cNvSpPr/>
          <p:nvPr/>
        </p:nvSpPr>
        <p:spPr>
          <a:xfrm>
            <a:off x="9921240" y="3291840"/>
            <a:ext cx="502920" cy="502920"/>
          </a:xfrm>
          <a:prstGeom prst="ellipse">
            <a:avLst/>
          </a:prstGeom>
          <a:solidFill>
            <a:schemeClr val="tx2"/>
          </a:solidFill>
          <a:ln/>
        </p:spPr>
        <p:txBody>
          <a:bodyPr/>
          <a:lstStyle/>
          <a:p>
            <a:endParaRPr lang="en-CA"/>
          </a:p>
        </p:txBody>
      </p:sp>
      <p:sp>
        <p:nvSpPr>
          <p:cNvPr id="50" name="Text 48"/>
          <p:cNvSpPr txBox="1"/>
          <p:nvPr/>
        </p:nvSpPr>
        <p:spPr>
          <a:xfrm>
            <a:off x="9921240" y="32918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51" name="Text 49"/>
          <p:cNvSpPr txBox="1"/>
          <p:nvPr/>
        </p:nvSpPr>
        <p:spPr>
          <a:xfrm>
            <a:off x="9921240" y="3931920"/>
            <a:ext cx="1737360" cy="548640"/>
          </a:xfrm>
          <a:prstGeom prst="rect">
            <a:avLst/>
          </a:prstGeom>
          <a:noFill/>
          <a:ln/>
        </p:spPr>
        <p:txBody>
          <a:bodyPr wrap="square" lIns="0" tIns="0" rIns="0" bIns="0" rtlCol="0" anchor="t"/>
          <a:lstStyle/>
          <a:p>
            <a:pPr marL="0" indent="0">
              <a:buNone/>
            </a:pPr>
            <a:r>
              <a:rPr lang="en-US" sz="1400" b="1" dirty="0">
                <a:solidFill>
                  <a:schemeClr val="tx1"/>
                </a:solidFill>
              </a:rPr>
              <a:t>Review</a:t>
            </a:r>
            <a:endParaRPr lang="en-US" sz="1400" dirty="0"/>
          </a:p>
        </p:txBody>
      </p:sp>
      <p:sp>
        <p:nvSpPr>
          <p:cNvPr id="52" name="Text 50"/>
          <p:cNvSpPr txBox="1"/>
          <p:nvPr/>
        </p:nvSpPr>
        <p:spPr>
          <a:xfrm>
            <a:off x="9921240" y="4480560"/>
            <a:ext cx="1737360" cy="274320"/>
          </a:xfrm>
          <a:prstGeom prst="rect">
            <a:avLst/>
          </a:prstGeom>
          <a:noFill/>
          <a:ln/>
        </p:spPr>
        <p:txBody>
          <a:bodyPr wrap="square" lIns="0" tIns="0" rIns="0" bIns="0" rtlCol="0" anchor="ctr"/>
          <a:lstStyle/>
          <a:p>
            <a:pPr marL="0" indent="0">
              <a:buNone/>
            </a:pPr>
            <a:r>
              <a:rPr lang="en-US" sz="1200" b="1" dirty="0">
                <a:solidFill>
                  <a:schemeClr val="accent1"/>
                </a:solidFill>
              </a:rPr>
              <a:t>Within 1 week</a:t>
            </a:r>
            <a:endParaRPr lang="en-US" sz="1200" dirty="0"/>
          </a:p>
        </p:txBody>
      </p:sp>
      <p:sp>
        <p:nvSpPr>
          <p:cNvPr id="53" name="Text 51"/>
          <p:cNvSpPr txBox="1"/>
          <p:nvPr/>
        </p:nvSpPr>
        <p:spPr>
          <a:xfrm>
            <a:off x="9921240" y="4800600"/>
            <a:ext cx="1737360" cy="1005840"/>
          </a:xfrm>
          <a:prstGeom prst="rect">
            <a:avLst/>
          </a:prstGeom>
          <a:noFill/>
          <a:ln/>
        </p:spPr>
        <p:txBody>
          <a:bodyPr wrap="square" lIns="0" tIns="0" rIns="0" bIns="0" rtlCol="0" anchor="t"/>
          <a:lstStyle/>
          <a:p>
            <a:pPr marL="0" indent="0">
              <a:buNone/>
            </a:pPr>
            <a:r>
              <a:rPr lang="en-US" sz="1200" dirty="0">
                <a:solidFill>
                  <a:schemeClr val="tx1"/>
                </a:solidFill>
              </a:rPr>
              <a:t>Blameless write up, regression test</a:t>
            </a:r>
            <a:endParaRPr lang="en-US" sz="1200" dirty="0"/>
          </a:p>
        </p:txBody>
      </p:sp>
      <p:sp>
        <p:nvSpPr>
          <p:cNvPr id="54" name="Text 52"/>
          <p:cNvSpPr txBox="1"/>
          <p:nvPr/>
        </p:nvSpPr>
        <p:spPr>
          <a:xfrm>
            <a:off x="548640" y="5897880"/>
            <a:ext cx="11064240" cy="274320"/>
          </a:xfrm>
          <a:prstGeom prst="rect">
            <a:avLst/>
          </a:prstGeom>
          <a:noFill/>
          <a:ln/>
        </p:spPr>
        <p:txBody>
          <a:bodyPr wrap="square" lIns="0" tIns="0" rIns="0" bIns="0" rtlCol="0" anchor="ctr"/>
          <a:lstStyle/>
          <a:p>
            <a:pPr marL="0" indent="0">
              <a:buNone/>
            </a:pPr>
            <a:r>
              <a:rPr lang="en-US" sz="1100" i="1" dirty="0">
                <a:solidFill>
                  <a:schemeClr val="accent5"/>
                </a:solidFill>
              </a:rPr>
              <a:t>Full runbook with SQL for each phase: docs/incident-response-runbook.md</a:t>
            </a:r>
            <a:endParaRPr lang="en-US" sz="1100" dirty="0"/>
          </a:p>
        </p:txBody>
      </p:sp>
      <p:sp>
        <p:nvSpPr>
          <p:cNvPr id="5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Lessons learned and future work</a:t>
            </a:r>
            <a:endParaRPr lang="en-US" sz="3200" dirty="0"/>
          </a:p>
        </p:txBody>
      </p:sp>
      <p:sp>
        <p:nvSpPr>
          <p:cNvPr id="3" name="Text 1"/>
          <p:cNvSpPr txBox="1"/>
          <p:nvPr/>
        </p:nvSpPr>
        <p:spPr>
          <a:xfrm>
            <a:off x="548640" y="1325880"/>
            <a:ext cx="5486400" cy="274320"/>
          </a:xfrm>
          <a:prstGeom prst="rect">
            <a:avLst/>
          </a:prstGeom>
          <a:noFill/>
          <a:ln/>
        </p:spPr>
        <p:txBody>
          <a:bodyPr wrap="square" lIns="0" tIns="0" rIns="0" bIns="0" rtlCol="0" anchor="ctr"/>
          <a:lstStyle/>
          <a:p>
            <a:pPr marL="0" indent="0">
              <a:buNone/>
            </a:pPr>
            <a:r>
              <a:rPr lang="en-US" sz="1300" b="1" kern="0" spc="100" dirty="0">
                <a:solidFill>
                  <a:schemeClr val="tx2"/>
                </a:solidFill>
              </a:rPr>
              <a:t>LESSONS LEARNED</a:t>
            </a:r>
            <a:endParaRPr lang="en-US" sz="1300" dirty="0"/>
          </a:p>
        </p:txBody>
      </p:sp>
      <p:sp>
        <p:nvSpPr>
          <p:cNvPr id="4" name="Shape 2"/>
          <p:cNvSpPr/>
          <p:nvPr/>
        </p:nvSpPr>
        <p:spPr>
          <a:xfrm>
            <a:off x="548640" y="1737360"/>
            <a:ext cx="457200" cy="457200"/>
          </a:xfrm>
          <a:prstGeom prst="ellipse">
            <a:avLst/>
          </a:prstGeom>
          <a:solidFill>
            <a:schemeClr val="tx2"/>
          </a:solidFill>
          <a:ln/>
        </p:spPr>
        <p:txBody>
          <a:bodyPr/>
          <a:lstStyle/>
          <a:p>
            <a:endParaRPr lang="en-CA"/>
          </a:p>
        </p:txBody>
      </p:sp>
      <p:sp>
        <p:nvSpPr>
          <p:cNvPr id="5" name="Text 3"/>
          <p:cNvSpPr txBox="1"/>
          <p:nvPr/>
        </p:nvSpPr>
        <p:spPr>
          <a:xfrm>
            <a:off x="548640" y="173736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txBox="1"/>
          <p:nvPr/>
        </p:nvSpPr>
        <p:spPr>
          <a:xfrm>
            <a:off x="1188720" y="1719072"/>
            <a:ext cx="5120640" cy="320040"/>
          </a:xfrm>
          <a:prstGeom prst="rect">
            <a:avLst/>
          </a:prstGeom>
          <a:noFill/>
          <a:ln/>
        </p:spPr>
        <p:txBody>
          <a:bodyPr wrap="square" lIns="0" tIns="0" rIns="0" bIns="0" rtlCol="0" anchor="ctr"/>
          <a:lstStyle/>
          <a:p>
            <a:pPr marL="0" indent="0">
              <a:buNone/>
            </a:pPr>
            <a:r>
              <a:rPr lang="en-US" sz="1500" b="1" dirty="0">
                <a:solidFill>
                  <a:schemeClr val="tx1"/>
                </a:solidFill>
              </a:rPr>
              <a:t>Enable CloudTrail first</a:t>
            </a:r>
            <a:endParaRPr lang="en-US" sz="1500" dirty="0"/>
          </a:p>
        </p:txBody>
      </p:sp>
      <p:sp>
        <p:nvSpPr>
          <p:cNvPr id="7" name="Text 5"/>
          <p:cNvSpPr txBox="1"/>
          <p:nvPr/>
        </p:nvSpPr>
        <p:spPr>
          <a:xfrm>
            <a:off x="1188720" y="2057400"/>
            <a:ext cx="5120640" cy="548640"/>
          </a:xfrm>
          <a:prstGeom prst="rect">
            <a:avLst/>
          </a:prstGeom>
          <a:noFill/>
          <a:ln/>
        </p:spPr>
        <p:txBody>
          <a:bodyPr wrap="square" lIns="0" tIns="0" rIns="0" bIns="0" rtlCol="0" anchor="t"/>
          <a:lstStyle/>
          <a:p>
            <a:pPr marL="0" indent="0">
              <a:buNone/>
            </a:pPr>
            <a:r>
              <a:rPr lang="en-US" sz="1300" dirty="0">
                <a:solidFill>
                  <a:schemeClr val="tx1"/>
                </a:solidFill>
              </a:rPr>
              <a:t>It only records from the moment it is on.</a:t>
            </a:r>
            <a:endParaRPr lang="en-US" sz="1300" dirty="0"/>
          </a:p>
        </p:txBody>
      </p:sp>
      <p:sp>
        <p:nvSpPr>
          <p:cNvPr id="8" name="Shape 6"/>
          <p:cNvSpPr/>
          <p:nvPr/>
        </p:nvSpPr>
        <p:spPr>
          <a:xfrm>
            <a:off x="548640" y="2788920"/>
            <a:ext cx="457200" cy="457200"/>
          </a:xfrm>
          <a:prstGeom prst="ellipse">
            <a:avLst/>
          </a:prstGeom>
          <a:solidFill>
            <a:schemeClr val="tx2"/>
          </a:solidFill>
          <a:ln/>
        </p:spPr>
        <p:txBody>
          <a:bodyPr/>
          <a:lstStyle/>
          <a:p>
            <a:endParaRPr lang="en-CA"/>
          </a:p>
        </p:txBody>
      </p:sp>
      <p:sp>
        <p:nvSpPr>
          <p:cNvPr id="9" name="Text 7"/>
          <p:cNvSpPr txBox="1"/>
          <p:nvPr/>
        </p:nvSpPr>
        <p:spPr>
          <a:xfrm>
            <a:off x="548640" y="27889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0" name="Text 8"/>
          <p:cNvSpPr txBox="1"/>
          <p:nvPr/>
        </p:nvSpPr>
        <p:spPr>
          <a:xfrm>
            <a:off x="1188720" y="2770632"/>
            <a:ext cx="5120640" cy="320040"/>
          </a:xfrm>
          <a:prstGeom prst="rect">
            <a:avLst/>
          </a:prstGeom>
          <a:noFill/>
          <a:ln/>
        </p:spPr>
        <p:txBody>
          <a:bodyPr wrap="square" lIns="0" tIns="0" rIns="0" bIns="0" rtlCol="0" anchor="ctr"/>
          <a:lstStyle/>
          <a:p>
            <a:pPr marL="0" indent="0">
              <a:buNone/>
            </a:pPr>
            <a:r>
              <a:rPr lang="en-US" sz="1500" b="1" dirty="0">
                <a:solidFill>
                  <a:schemeClr val="tx1"/>
                </a:solidFill>
              </a:rPr>
              <a:t>Verify every console default</a:t>
            </a:r>
            <a:endParaRPr lang="en-US" sz="1500" dirty="0"/>
          </a:p>
        </p:txBody>
      </p:sp>
      <p:sp>
        <p:nvSpPr>
          <p:cNvPr id="11" name="Text 9"/>
          <p:cNvSpPr txBox="1"/>
          <p:nvPr/>
        </p:nvSpPr>
        <p:spPr>
          <a:xfrm>
            <a:off x="1188720" y="3108960"/>
            <a:ext cx="5120640" cy="548640"/>
          </a:xfrm>
          <a:prstGeom prst="rect">
            <a:avLst/>
          </a:prstGeom>
          <a:noFill/>
          <a:ln/>
        </p:spPr>
        <p:txBody>
          <a:bodyPr wrap="square" lIns="0" tIns="0" rIns="0" bIns="0" rtlCol="0" anchor="t"/>
          <a:lstStyle/>
          <a:p>
            <a:pPr marL="0" indent="0">
              <a:buNone/>
            </a:pPr>
            <a:r>
              <a:rPr lang="en-US" sz="1300" dirty="0">
                <a:solidFill>
                  <a:schemeClr val="tx1"/>
                </a:solidFill>
              </a:rPr>
              <a:t>Rotation was off; the bucket form picked DSSE KMS and versioning.</a:t>
            </a:r>
            <a:endParaRPr lang="en-US" sz="1300" dirty="0"/>
          </a:p>
        </p:txBody>
      </p:sp>
      <p:sp>
        <p:nvSpPr>
          <p:cNvPr id="12" name="Shape 10"/>
          <p:cNvSpPr/>
          <p:nvPr/>
        </p:nvSpPr>
        <p:spPr>
          <a:xfrm>
            <a:off x="548640" y="3840480"/>
            <a:ext cx="457200" cy="457200"/>
          </a:xfrm>
          <a:prstGeom prst="ellipse">
            <a:avLst/>
          </a:prstGeom>
          <a:solidFill>
            <a:schemeClr val="tx2"/>
          </a:solidFill>
          <a:ln/>
        </p:spPr>
        <p:txBody>
          <a:bodyPr/>
          <a:lstStyle/>
          <a:p>
            <a:endParaRPr lang="en-CA"/>
          </a:p>
        </p:txBody>
      </p:sp>
      <p:sp>
        <p:nvSpPr>
          <p:cNvPr id="13" name="Text 11"/>
          <p:cNvSpPr txBox="1"/>
          <p:nvPr/>
        </p:nvSpPr>
        <p:spPr>
          <a:xfrm>
            <a:off x="548640" y="384048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4" name="Text 12"/>
          <p:cNvSpPr txBox="1"/>
          <p:nvPr/>
        </p:nvSpPr>
        <p:spPr>
          <a:xfrm>
            <a:off x="1188720" y="3822192"/>
            <a:ext cx="5120640" cy="320040"/>
          </a:xfrm>
          <a:prstGeom prst="rect">
            <a:avLst/>
          </a:prstGeom>
          <a:noFill/>
          <a:ln/>
        </p:spPr>
        <p:txBody>
          <a:bodyPr wrap="square" lIns="0" tIns="0" rIns="0" bIns="0" rtlCol="0" anchor="ctr"/>
          <a:lstStyle/>
          <a:p>
            <a:pPr marL="0" indent="0">
              <a:buNone/>
            </a:pPr>
            <a:r>
              <a:rPr lang="en-US" sz="1500" b="1" dirty="0">
                <a:solidFill>
                  <a:schemeClr val="tx1"/>
                </a:solidFill>
              </a:rPr>
              <a:t>Check that a test fails for the right reason</a:t>
            </a:r>
            <a:endParaRPr lang="en-US" sz="1500" dirty="0"/>
          </a:p>
        </p:txBody>
      </p:sp>
      <p:sp>
        <p:nvSpPr>
          <p:cNvPr id="15" name="Text 13"/>
          <p:cNvSpPr txBox="1"/>
          <p:nvPr/>
        </p:nvSpPr>
        <p:spPr>
          <a:xfrm>
            <a:off x="1188720" y="4160520"/>
            <a:ext cx="5120640" cy="548640"/>
          </a:xfrm>
          <a:prstGeom prst="rect">
            <a:avLst/>
          </a:prstGeom>
          <a:noFill/>
          <a:ln/>
        </p:spPr>
        <p:txBody>
          <a:bodyPr wrap="square" lIns="0" tIns="0" rIns="0" bIns="0" rtlCol="0" anchor="t"/>
          <a:lstStyle/>
          <a:p>
            <a:pPr marL="0" indent="0">
              <a:buNone/>
            </a:pPr>
            <a:r>
              <a:rPr lang="en-US" sz="1300" dirty="0">
                <a:solidFill>
                  <a:schemeClr val="tx1"/>
                </a:solidFill>
              </a:rPr>
              <a:t>Our first SSE-S3 upload succeeded because the override was never applied.</a:t>
            </a:r>
            <a:endParaRPr lang="en-US" sz="1300" dirty="0"/>
          </a:p>
        </p:txBody>
      </p:sp>
      <p:sp>
        <p:nvSpPr>
          <p:cNvPr id="16" name="Shape 14"/>
          <p:cNvSpPr/>
          <p:nvPr/>
        </p:nvSpPr>
        <p:spPr>
          <a:xfrm>
            <a:off x="548640" y="4892040"/>
            <a:ext cx="457200" cy="457200"/>
          </a:xfrm>
          <a:prstGeom prst="ellipse">
            <a:avLst/>
          </a:prstGeom>
          <a:solidFill>
            <a:schemeClr val="tx2"/>
          </a:solidFill>
          <a:ln/>
        </p:spPr>
        <p:txBody>
          <a:bodyPr/>
          <a:lstStyle/>
          <a:p>
            <a:endParaRPr lang="en-CA"/>
          </a:p>
        </p:txBody>
      </p:sp>
      <p:sp>
        <p:nvSpPr>
          <p:cNvPr id="17" name="Text 15"/>
          <p:cNvSpPr txBox="1"/>
          <p:nvPr/>
        </p:nvSpPr>
        <p:spPr>
          <a:xfrm>
            <a:off x="548640" y="48920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8" name="Text 16"/>
          <p:cNvSpPr txBox="1"/>
          <p:nvPr/>
        </p:nvSpPr>
        <p:spPr>
          <a:xfrm>
            <a:off x="1188720" y="4873752"/>
            <a:ext cx="5120640" cy="320040"/>
          </a:xfrm>
          <a:prstGeom prst="rect">
            <a:avLst/>
          </a:prstGeom>
          <a:noFill/>
          <a:ln/>
        </p:spPr>
        <p:txBody>
          <a:bodyPr wrap="square" lIns="0" tIns="0" rIns="0" bIns="0" rtlCol="0" anchor="ctr"/>
          <a:lstStyle/>
          <a:p>
            <a:pPr marL="0" indent="0">
              <a:buNone/>
            </a:pPr>
            <a:r>
              <a:rPr lang="en-US" sz="1500" b="1" dirty="0">
                <a:solidFill>
                  <a:schemeClr val="tx1"/>
                </a:solidFill>
              </a:rPr>
              <a:t>Conventions are not controls</a:t>
            </a:r>
            <a:endParaRPr lang="en-US" sz="1500" dirty="0"/>
          </a:p>
        </p:txBody>
      </p:sp>
      <p:sp>
        <p:nvSpPr>
          <p:cNvPr id="19" name="Text 17"/>
          <p:cNvSpPr txBox="1"/>
          <p:nvPr/>
        </p:nvSpPr>
        <p:spPr>
          <a:xfrm>
            <a:off x="1188720" y="5212080"/>
            <a:ext cx="5120640" cy="548640"/>
          </a:xfrm>
          <a:prstGeom prst="rect">
            <a:avLst/>
          </a:prstGeom>
          <a:noFill/>
          <a:ln/>
        </p:spPr>
        <p:txBody>
          <a:bodyPr wrap="square" lIns="0" tIns="0" rIns="0" bIns="0" rtlCol="0" anchor="t"/>
          <a:lstStyle/>
          <a:p>
            <a:pPr marL="0" indent="0">
              <a:buNone/>
            </a:pPr>
            <a:r>
              <a:rPr lang="en-US" sz="1300" dirty="0">
                <a:solidFill>
                  <a:schemeClr val="tx1"/>
                </a:solidFill>
              </a:rPr>
              <a:t>Files once landed in curated by mistake. Zones need policy and the gate.</a:t>
            </a:r>
            <a:endParaRPr lang="en-US" sz="1300" dirty="0"/>
          </a:p>
        </p:txBody>
      </p:sp>
      <p:sp>
        <p:nvSpPr>
          <p:cNvPr id="20" name="future work"/>
          <p:cNvSpPr/>
          <p:nvPr/>
        </p:nvSpPr>
        <p:spPr>
          <a:xfrm>
            <a:off x="6766560" y="1325880"/>
            <a:ext cx="4846320" cy="4617720"/>
          </a:xfrm>
          <a:prstGeom prst="roundRect">
            <a:avLst>
              <a:gd name="adj" fmla="val 1584"/>
            </a:avLst>
          </a:prstGeom>
          <a:solidFill>
            <a:schemeClr val="bg2"/>
          </a:solidFill>
          <a:ln/>
        </p:spPr>
        <p:txBody>
          <a:bodyPr/>
          <a:lstStyle/>
          <a:p>
            <a:endParaRPr lang="en-CA"/>
          </a:p>
        </p:txBody>
      </p:sp>
      <p:sp>
        <p:nvSpPr>
          <p:cNvPr id="21" name="Text 19"/>
          <p:cNvSpPr txBox="1"/>
          <p:nvPr/>
        </p:nvSpPr>
        <p:spPr>
          <a:xfrm>
            <a:off x="7040880" y="1554480"/>
            <a:ext cx="4389120" cy="274320"/>
          </a:xfrm>
          <a:prstGeom prst="rect">
            <a:avLst/>
          </a:prstGeom>
          <a:noFill/>
          <a:ln/>
        </p:spPr>
        <p:txBody>
          <a:bodyPr wrap="square" lIns="0" tIns="0" rIns="0" bIns="0" rtlCol="0" anchor="ctr"/>
          <a:lstStyle/>
          <a:p>
            <a:pPr marL="0" indent="0">
              <a:buNone/>
            </a:pPr>
            <a:r>
              <a:rPr lang="en-US" sz="1300" b="1" kern="0" spc="100" dirty="0">
                <a:solidFill>
                  <a:schemeClr val="tx2"/>
                </a:solidFill>
              </a:rPr>
              <a:t>FUTURE WORK</a:t>
            </a:r>
            <a:endParaRPr lang="en-US" sz="1300" dirty="0"/>
          </a:p>
        </p:txBody>
      </p:sp>
      <p:sp>
        <p:nvSpPr>
          <p:cNvPr id="22" name="future 1 circle"/>
          <p:cNvSpPr/>
          <p:nvPr/>
        </p:nvSpPr>
        <p:spPr>
          <a:xfrm>
            <a:off x="7040880" y="2011680"/>
            <a:ext cx="502920" cy="502920"/>
          </a:xfrm>
          <a:prstGeom prst="ellipse">
            <a:avLst/>
          </a:prstGeom>
          <a:solidFill>
            <a:schemeClr val="tx2"/>
          </a:solidFill>
          <a:ln/>
        </p:spPr>
        <p:txBody>
          <a:bodyPr/>
          <a:lstStyle/>
          <a:p>
            <a:endParaRPr lang="en-CA"/>
          </a:p>
        </p:txBody>
      </p:sp>
      <p:pic>
        <p:nvPicPr>
          <p:cNvPr id="23" name="future 1 icon" descr="preencoded.png"/>
          <p:cNvPicPr>
            <a:picLocks noChangeAspect="1"/>
          </p:cNvPicPr>
          <p:nvPr/>
        </p:nvPicPr>
        <p:blipFill>
          <a:blip r:embed="rId3"/>
          <a:stretch>
            <a:fillRect/>
          </a:stretch>
        </p:blipFill>
        <p:spPr>
          <a:xfrm>
            <a:off x="7166610" y="2137410"/>
            <a:ext cx="251460" cy="251460"/>
          </a:xfrm>
          <a:prstGeom prst="rect">
            <a:avLst/>
          </a:prstGeom>
        </p:spPr>
      </p:pic>
      <p:sp>
        <p:nvSpPr>
          <p:cNvPr id="24" name="Text 21"/>
          <p:cNvSpPr txBox="1"/>
          <p:nvPr/>
        </p:nvSpPr>
        <p:spPr>
          <a:xfrm>
            <a:off x="7726680" y="2011680"/>
            <a:ext cx="3657600" cy="502920"/>
          </a:xfrm>
          <a:prstGeom prst="rect">
            <a:avLst/>
          </a:prstGeom>
          <a:noFill/>
          <a:ln/>
        </p:spPr>
        <p:txBody>
          <a:bodyPr wrap="square" lIns="0" tIns="0" rIns="0" bIns="0" rtlCol="0" anchor="ctr"/>
          <a:lstStyle/>
          <a:p>
            <a:pPr marL="0" indent="0">
              <a:buNone/>
            </a:pPr>
            <a:r>
              <a:rPr lang="en-US" sz="1400" dirty="0">
                <a:solidFill>
                  <a:schemeClr val="tx1"/>
                </a:solidFill>
              </a:rPr>
              <a:t>Lake Formation filters and per role IAM in a full account</a:t>
            </a:r>
            <a:endParaRPr lang="en-US" sz="1400" dirty="0"/>
          </a:p>
        </p:txBody>
      </p:sp>
      <p:sp>
        <p:nvSpPr>
          <p:cNvPr id="25" name="future 2 circle"/>
          <p:cNvSpPr/>
          <p:nvPr/>
        </p:nvSpPr>
        <p:spPr>
          <a:xfrm>
            <a:off x="7040880" y="2770632"/>
            <a:ext cx="502920" cy="502920"/>
          </a:xfrm>
          <a:prstGeom prst="ellipse">
            <a:avLst/>
          </a:prstGeom>
          <a:solidFill>
            <a:schemeClr val="tx2"/>
          </a:solidFill>
          <a:ln/>
        </p:spPr>
        <p:txBody>
          <a:bodyPr/>
          <a:lstStyle/>
          <a:p>
            <a:endParaRPr lang="en-CA"/>
          </a:p>
        </p:txBody>
      </p:sp>
      <p:pic>
        <p:nvPicPr>
          <p:cNvPr id="26" name="future 2 icon" descr="preencoded.png"/>
          <p:cNvPicPr>
            <a:picLocks noChangeAspect="1"/>
          </p:cNvPicPr>
          <p:nvPr/>
        </p:nvPicPr>
        <p:blipFill>
          <a:blip r:embed="rId4"/>
          <a:stretch>
            <a:fillRect/>
          </a:stretch>
        </p:blipFill>
        <p:spPr>
          <a:xfrm>
            <a:off x="7166610" y="2896362"/>
            <a:ext cx="251460" cy="251460"/>
          </a:xfrm>
          <a:prstGeom prst="rect">
            <a:avLst/>
          </a:prstGeom>
        </p:spPr>
      </p:pic>
      <p:sp>
        <p:nvSpPr>
          <p:cNvPr id="27" name="Text 23"/>
          <p:cNvSpPr txBox="1"/>
          <p:nvPr/>
        </p:nvSpPr>
        <p:spPr>
          <a:xfrm>
            <a:off x="7726680" y="2770632"/>
            <a:ext cx="3657600" cy="502920"/>
          </a:xfrm>
          <a:prstGeom prst="rect">
            <a:avLst/>
          </a:prstGeom>
          <a:noFill/>
          <a:ln/>
        </p:spPr>
        <p:txBody>
          <a:bodyPr wrap="square" lIns="0" tIns="0" rIns="0" bIns="0" rtlCol="0" anchor="ctr"/>
          <a:lstStyle/>
          <a:p>
            <a:pPr marL="0" indent="0">
              <a:buNone/>
            </a:pPr>
            <a:r>
              <a:rPr lang="en-US" sz="1400" dirty="0">
                <a:solidFill>
                  <a:schemeClr val="tx1"/>
                </a:solidFill>
              </a:rPr>
              <a:t>Amazon Macie discovery, reconciled with the regex gate</a:t>
            </a:r>
            <a:endParaRPr lang="en-US" sz="1400" dirty="0"/>
          </a:p>
        </p:txBody>
      </p:sp>
      <p:sp>
        <p:nvSpPr>
          <p:cNvPr id="28" name="future 3 circle"/>
          <p:cNvSpPr/>
          <p:nvPr/>
        </p:nvSpPr>
        <p:spPr>
          <a:xfrm>
            <a:off x="7040880" y="3529584"/>
            <a:ext cx="502920" cy="502920"/>
          </a:xfrm>
          <a:prstGeom prst="ellipse">
            <a:avLst/>
          </a:prstGeom>
          <a:solidFill>
            <a:schemeClr val="tx2"/>
          </a:solidFill>
          <a:ln/>
        </p:spPr>
        <p:txBody>
          <a:bodyPr/>
          <a:lstStyle/>
          <a:p>
            <a:endParaRPr lang="en-CA"/>
          </a:p>
        </p:txBody>
      </p:sp>
      <p:pic>
        <p:nvPicPr>
          <p:cNvPr id="29" name="future 3 icon" descr="preencoded.png"/>
          <p:cNvPicPr>
            <a:picLocks noChangeAspect="1"/>
          </p:cNvPicPr>
          <p:nvPr/>
        </p:nvPicPr>
        <p:blipFill>
          <a:blip r:embed="rId5"/>
          <a:stretch>
            <a:fillRect/>
          </a:stretch>
        </p:blipFill>
        <p:spPr>
          <a:xfrm>
            <a:off x="7166610" y="3655314"/>
            <a:ext cx="251460" cy="251460"/>
          </a:xfrm>
          <a:prstGeom prst="rect">
            <a:avLst/>
          </a:prstGeom>
        </p:spPr>
      </p:pic>
      <p:sp>
        <p:nvSpPr>
          <p:cNvPr id="30" name="Text 25"/>
          <p:cNvSpPr txBox="1"/>
          <p:nvPr/>
        </p:nvSpPr>
        <p:spPr>
          <a:xfrm>
            <a:off x="7726680" y="3529584"/>
            <a:ext cx="3657600" cy="502920"/>
          </a:xfrm>
          <a:prstGeom prst="rect">
            <a:avLst/>
          </a:prstGeom>
          <a:noFill/>
          <a:ln/>
        </p:spPr>
        <p:txBody>
          <a:bodyPr wrap="square" lIns="0" tIns="0" rIns="0" bIns="0" rtlCol="0" anchor="ctr"/>
          <a:lstStyle/>
          <a:p>
            <a:pPr marL="0" indent="0">
              <a:buNone/>
            </a:pPr>
            <a:r>
              <a:rPr lang="en-US" sz="1400" dirty="0">
                <a:solidFill>
                  <a:schemeClr val="tx1"/>
                </a:solidFill>
              </a:rPr>
              <a:t>CloudWatch alarms on gate failures and AccessDenied spikes</a:t>
            </a:r>
            <a:endParaRPr lang="en-US" sz="1400" dirty="0"/>
          </a:p>
        </p:txBody>
      </p:sp>
      <p:sp>
        <p:nvSpPr>
          <p:cNvPr id="31" name="future 4 circle"/>
          <p:cNvSpPr/>
          <p:nvPr/>
        </p:nvSpPr>
        <p:spPr>
          <a:xfrm>
            <a:off x="7040880" y="4288536"/>
            <a:ext cx="502920" cy="502920"/>
          </a:xfrm>
          <a:prstGeom prst="ellipse">
            <a:avLst/>
          </a:prstGeom>
          <a:solidFill>
            <a:schemeClr val="tx2"/>
          </a:solidFill>
          <a:ln/>
        </p:spPr>
        <p:txBody>
          <a:bodyPr/>
          <a:lstStyle/>
          <a:p>
            <a:endParaRPr lang="en-CA"/>
          </a:p>
        </p:txBody>
      </p:sp>
      <p:pic>
        <p:nvPicPr>
          <p:cNvPr id="32" name="future 4 icon" descr="preencoded.png"/>
          <p:cNvPicPr>
            <a:picLocks noChangeAspect="1"/>
          </p:cNvPicPr>
          <p:nvPr/>
        </p:nvPicPr>
        <p:blipFill>
          <a:blip r:embed="rId6"/>
          <a:stretch>
            <a:fillRect/>
          </a:stretch>
        </p:blipFill>
        <p:spPr>
          <a:xfrm>
            <a:off x="7166610" y="4414266"/>
            <a:ext cx="251460" cy="251460"/>
          </a:xfrm>
          <a:prstGeom prst="rect">
            <a:avLst/>
          </a:prstGeom>
        </p:spPr>
      </p:pic>
      <p:sp>
        <p:nvSpPr>
          <p:cNvPr id="33" name="Text 27"/>
          <p:cNvSpPr txBox="1"/>
          <p:nvPr/>
        </p:nvSpPr>
        <p:spPr>
          <a:xfrm>
            <a:off x="7726680" y="4288536"/>
            <a:ext cx="3657600" cy="502920"/>
          </a:xfrm>
          <a:prstGeom prst="rect">
            <a:avLst/>
          </a:prstGeom>
          <a:noFill/>
          <a:ln/>
        </p:spPr>
        <p:txBody>
          <a:bodyPr wrap="square" lIns="0" tIns="0" rIns="0" bIns="0" rtlCol="0" anchor="ctr"/>
          <a:lstStyle/>
          <a:p>
            <a:pPr marL="0" indent="0">
              <a:buNone/>
            </a:pPr>
            <a:r>
              <a:rPr lang="en-US" sz="1400" dirty="0">
                <a:solidFill>
                  <a:schemeClr val="tx1"/>
                </a:solidFill>
              </a:rPr>
              <a:t>Partial masking of health card numbers for corporate analysts</a:t>
            </a:r>
            <a:endParaRPr lang="en-US" sz="1400" dirty="0"/>
          </a:p>
        </p:txBody>
      </p:sp>
      <p:sp>
        <p:nvSpPr>
          <p:cNvPr id="34" name="future 5 circle"/>
          <p:cNvSpPr/>
          <p:nvPr/>
        </p:nvSpPr>
        <p:spPr>
          <a:xfrm>
            <a:off x="7040880" y="5047488"/>
            <a:ext cx="502920" cy="502920"/>
          </a:xfrm>
          <a:prstGeom prst="ellipse">
            <a:avLst/>
          </a:prstGeom>
          <a:solidFill>
            <a:schemeClr val="tx2"/>
          </a:solidFill>
          <a:ln/>
        </p:spPr>
        <p:txBody>
          <a:bodyPr/>
          <a:lstStyle/>
          <a:p>
            <a:endParaRPr lang="en-CA"/>
          </a:p>
        </p:txBody>
      </p:sp>
      <p:pic>
        <p:nvPicPr>
          <p:cNvPr id="35" name="future 5 icon" descr="preencoded.png"/>
          <p:cNvPicPr>
            <a:picLocks noChangeAspect="1"/>
          </p:cNvPicPr>
          <p:nvPr/>
        </p:nvPicPr>
        <p:blipFill>
          <a:blip r:embed="rId7"/>
          <a:stretch>
            <a:fillRect/>
          </a:stretch>
        </p:blipFill>
        <p:spPr>
          <a:xfrm>
            <a:off x="7166610" y="5173218"/>
            <a:ext cx="251460" cy="251460"/>
          </a:xfrm>
          <a:prstGeom prst="rect">
            <a:avLst/>
          </a:prstGeom>
        </p:spPr>
      </p:pic>
      <p:sp>
        <p:nvSpPr>
          <p:cNvPr id="36" name="Text 29"/>
          <p:cNvSpPr txBox="1"/>
          <p:nvPr/>
        </p:nvSpPr>
        <p:spPr>
          <a:xfrm>
            <a:off x="7726680" y="5047488"/>
            <a:ext cx="3657600" cy="502920"/>
          </a:xfrm>
          <a:prstGeom prst="rect">
            <a:avLst/>
          </a:prstGeom>
          <a:noFill/>
          <a:ln/>
        </p:spPr>
        <p:txBody>
          <a:bodyPr wrap="square" lIns="0" tIns="0" rIns="0" bIns="0" rtlCol="0" anchor="ctr"/>
          <a:lstStyle/>
          <a:p>
            <a:pPr marL="0" indent="0">
              <a:buNone/>
            </a:pPr>
            <a:r>
              <a:rPr lang="en-US" sz="1400" dirty="0">
                <a:solidFill>
                  <a:schemeClr val="tx1"/>
                </a:solidFill>
              </a:rPr>
              <a:t>S3 lifecycle rules for retention and deletion</a:t>
            </a:r>
            <a:endParaRPr lang="en-US" sz="1400" dirty="0"/>
          </a:p>
        </p:txBody>
      </p:sp>
      <p:sp>
        <p:nvSpPr>
          <p:cNvPr id="3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822960"/>
            <a:ext cx="10698480" cy="822960"/>
          </a:xfrm>
          <a:prstGeom prst="rect">
            <a:avLst/>
          </a:prstGeom>
          <a:noFill/>
          <a:ln/>
        </p:spPr>
        <p:txBody>
          <a:bodyPr wrap="square" lIns="0" tIns="0" rIns="0" bIns="0" rtlCol="0" anchor="ctr"/>
          <a:lstStyle/>
          <a:p>
            <a:pPr marL="0" indent="0">
              <a:buNone/>
            </a:pPr>
            <a:r>
              <a:rPr lang="en-US" sz="4000" b="1" dirty="0">
                <a:solidFill>
                  <a:schemeClr val="bg1"/>
                </a:solidFill>
              </a:rPr>
              <a:t>Guardrails built, and proven to hold</a:t>
            </a:r>
            <a:endParaRPr lang="en-US" sz="4000" dirty="0"/>
          </a:p>
        </p:txBody>
      </p:sp>
      <p:sp>
        <p:nvSpPr>
          <p:cNvPr id="3" name="result 1"/>
          <p:cNvSpPr/>
          <p:nvPr/>
        </p:nvSpPr>
        <p:spPr>
          <a:xfrm>
            <a:off x="731520" y="2011680"/>
            <a:ext cx="2514600" cy="1920240"/>
          </a:xfrm>
          <a:prstGeom prst="roundRect">
            <a:avLst>
              <a:gd name="adj" fmla="val 3810"/>
            </a:avLst>
          </a:prstGeom>
          <a:solidFill>
            <a:srgbClr val="1E3254"/>
          </a:solidFill>
          <a:ln/>
        </p:spPr>
        <p:txBody>
          <a:bodyPr/>
          <a:lstStyle/>
          <a:p>
            <a:endParaRPr lang="en-CA"/>
          </a:p>
        </p:txBody>
      </p:sp>
      <p:sp>
        <p:nvSpPr>
          <p:cNvPr id="4" name="Text 2"/>
          <p:cNvSpPr txBox="1"/>
          <p:nvPr/>
        </p:nvSpPr>
        <p:spPr>
          <a:xfrm>
            <a:off x="960120" y="2194560"/>
            <a:ext cx="2103120" cy="731520"/>
          </a:xfrm>
          <a:prstGeom prst="rect">
            <a:avLst/>
          </a:prstGeom>
          <a:noFill/>
          <a:ln/>
        </p:spPr>
        <p:txBody>
          <a:bodyPr wrap="square" lIns="0" tIns="0" rIns="0" bIns="0" rtlCol="0" anchor="ctr"/>
          <a:lstStyle/>
          <a:p>
            <a:pPr marL="0" indent="0">
              <a:buNone/>
            </a:pPr>
            <a:r>
              <a:rPr lang="en-US" sz="3400" b="1" dirty="0">
                <a:solidFill>
                  <a:schemeClr val="accent1"/>
                </a:solidFill>
              </a:rPr>
              <a:t>Enforced</a:t>
            </a:r>
            <a:endParaRPr lang="en-US" sz="3400" dirty="0"/>
          </a:p>
        </p:txBody>
      </p:sp>
      <p:sp>
        <p:nvSpPr>
          <p:cNvPr id="5" name="Text 3"/>
          <p:cNvSpPr txBox="1"/>
          <p:nvPr/>
        </p:nvSpPr>
        <p:spPr>
          <a:xfrm>
            <a:off x="960120" y="2971800"/>
            <a:ext cx="2103120" cy="822960"/>
          </a:xfrm>
          <a:prstGeom prst="rect">
            <a:avLst/>
          </a:prstGeom>
          <a:noFill/>
          <a:ln/>
        </p:spPr>
        <p:txBody>
          <a:bodyPr wrap="square" lIns="0" tIns="0" rIns="0" bIns="0" rtlCol="0" anchor="t"/>
          <a:lstStyle/>
          <a:p>
            <a:pPr marL="0" indent="0">
              <a:buNone/>
            </a:pPr>
            <a:r>
              <a:rPr lang="en-US" sz="1400" dirty="0">
                <a:solidFill>
                  <a:schemeClr val="bg1"/>
                </a:solidFill>
              </a:rPr>
              <a:t>encryption with a customer managed key</a:t>
            </a:r>
            <a:endParaRPr lang="en-US" sz="1400" dirty="0"/>
          </a:p>
        </p:txBody>
      </p:sp>
      <p:sp>
        <p:nvSpPr>
          <p:cNvPr id="6" name="result 2"/>
          <p:cNvSpPr/>
          <p:nvPr/>
        </p:nvSpPr>
        <p:spPr>
          <a:xfrm>
            <a:off x="3474720" y="2011680"/>
            <a:ext cx="2514600" cy="1920240"/>
          </a:xfrm>
          <a:prstGeom prst="roundRect">
            <a:avLst>
              <a:gd name="adj" fmla="val 3810"/>
            </a:avLst>
          </a:prstGeom>
          <a:solidFill>
            <a:srgbClr val="1E3254"/>
          </a:solidFill>
          <a:ln/>
        </p:spPr>
        <p:txBody>
          <a:bodyPr/>
          <a:lstStyle/>
          <a:p>
            <a:endParaRPr lang="en-CA"/>
          </a:p>
        </p:txBody>
      </p:sp>
      <p:sp>
        <p:nvSpPr>
          <p:cNvPr id="7" name="Text 5"/>
          <p:cNvSpPr txBox="1"/>
          <p:nvPr/>
        </p:nvSpPr>
        <p:spPr>
          <a:xfrm>
            <a:off x="3703320" y="2194560"/>
            <a:ext cx="2103120" cy="731520"/>
          </a:xfrm>
          <a:prstGeom prst="rect">
            <a:avLst/>
          </a:prstGeom>
          <a:noFill/>
          <a:ln/>
        </p:spPr>
        <p:txBody>
          <a:bodyPr wrap="square" lIns="0" tIns="0" rIns="0" bIns="0" rtlCol="0" anchor="ctr"/>
          <a:lstStyle/>
          <a:p>
            <a:pPr marL="0" indent="0">
              <a:buNone/>
            </a:pPr>
            <a:r>
              <a:rPr lang="en-US" sz="3400" b="1" dirty="0">
                <a:solidFill>
                  <a:schemeClr val="accent1"/>
                </a:solidFill>
              </a:rPr>
              <a:t>14 / 14</a:t>
            </a:r>
            <a:endParaRPr lang="en-US" sz="3400" dirty="0"/>
          </a:p>
        </p:txBody>
      </p:sp>
      <p:sp>
        <p:nvSpPr>
          <p:cNvPr id="8" name="Text 6"/>
          <p:cNvSpPr txBox="1"/>
          <p:nvPr/>
        </p:nvSpPr>
        <p:spPr>
          <a:xfrm>
            <a:off x="3703320" y="2971800"/>
            <a:ext cx="2103120" cy="822960"/>
          </a:xfrm>
          <a:prstGeom prst="rect">
            <a:avLst/>
          </a:prstGeom>
          <a:noFill/>
          <a:ln/>
        </p:spPr>
        <p:txBody>
          <a:bodyPr wrap="square" lIns="0" tIns="0" rIns="0" bIns="0" rtlCol="0" anchor="t"/>
          <a:lstStyle/>
          <a:p>
            <a:pPr marL="0" indent="0">
              <a:buNone/>
            </a:pPr>
            <a:r>
              <a:rPr lang="en-US" sz="1400" dirty="0">
                <a:solidFill>
                  <a:schemeClr val="bg1"/>
                </a:solidFill>
              </a:rPr>
              <a:t>PII rows blocked, with masked alerts</a:t>
            </a:r>
            <a:endParaRPr lang="en-US" sz="1400" dirty="0"/>
          </a:p>
        </p:txBody>
      </p:sp>
      <p:sp>
        <p:nvSpPr>
          <p:cNvPr id="9" name="result 3"/>
          <p:cNvSpPr/>
          <p:nvPr/>
        </p:nvSpPr>
        <p:spPr>
          <a:xfrm>
            <a:off x="6217920" y="2011680"/>
            <a:ext cx="2514600" cy="1920240"/>
          </a:xfrm>
          <a:prstGeom prst="roundRect">
            <a:avLst>
              <a:gd name="adj" fmla="val 3810"/>
            </a:avLst>
          </a:prstGeom>
          <a:solidFill>
            <a:srgbClr val="1E3254"/>
          </a:solidFill>
          <a:ln/>
        </p:spPr>
        <p:txBody>
          <a:bodyPr/>
          <a:lstStyle/>
          <a:p>
            <a:endParaRPr lang="en-CA"/>
          </a:p>
        </p:txBody>
      </p:sp>
      <p:sp>
        <p:nvSpPr>
          <p:cNvPr id="10" name="Text 8"/>
          <p:cNvSpPr txBox="1"/>
          <p:nvPr/>
        </p:nvSpPr>
        <p:spPr>
          <a:xfrm>
            <a:off x="6446520" y="2194560"/>
            <a:ext cx="2103120" cy="731520"/>
          </a:xfrm>
          <a:prstGeom prst="rect">
            <a:avLst/>
          </a:prstGeom>
          <a:noFill/>
          <a:ln/>
        </p:spPr>
        <p:txBody>
          <a:bodyPr wrap="square" lIns="0" tIns="0" rIns="0" bIns="0" rtlCol="0" anchor="ctr"/>
          <a:lstStyle/>
          <a:p>
            <a:pPr marL="0" indent="0">
              <a:buNone/>
            </a:pPr>
            <a:r>
              <a:rPr lang="en-US" sz="3400" b="1" dirty="0">
                <a:solidFill>
                  <a:schemeClr val="accent1"/>
                </a:solidFill>
              </a:rPr>
              <a:t>7 / 7</a:t>
            </a:r>
            <a:endParaRPr lang="en-US" sz="3400" dirty="0"/>
          </a:p>
        </p:txBody>
      </p:sp>
      <p:sp>
        <p:nvSpPr>
          <p:cNvPr id="11" name="Text 9"/>
          <p:cNvSpPr txBox="1"/>
          <p:nvPr/>
        </p:nvSpPr>
        <p:spPr>
          <a:xfrm>
            <a:off x="6446520" y="2971800"/>
            <a:ext cx="2103120" cy="822960"/>
          </a:xfrm>
          <a:prstGeom prst="rect">
            <a:avLst/>
          </a:prstGeom>
          <a:noFill/>
          <a:ln/>
        </p:spPr>
        <p:txBody>
          <a:bodyPr wrap="square" lIns="0" tIns="0" rIns="0" bIns="0" rtlCol="0" anchor="t"/>
          <a:lstStyle/>
          <a:p>
            <a:pPr marL="0" indent="0">
              <a:buNone/>
            </a:pPr>
            <a:r>
              <a:rPr lang="en-US" sz="1400" dirty="0">
                <a:solidFill>
                  <a:schemeClr val="bg1"/>
                </a:solidFill>
              </a:rPr>
              <a:t>access separation tests passed</a:t>
            </a:r>
            <a:endParaRPr lang="en-US" sz="1400" dirty="0"/>
          </a:p>
        </p:txBody>
      </p:sp>
      <p:sp>
        <p:nvSpPr>
          <p:cNvPr id="12" name="result 4"/>
          <p:cNvSpPr/>
          <p:nvPr/>
        </p:nvSpPr>
        <p:spPr>
          <a:xfrm>
            <a:off x="8961120" y="2011680"/>
            <a:ext cx="2514600" cy="1920240"/>
          </a:xfrm>
          <a:prstGeom prst="roundRect">
            <a:avLst>
              <a:gd name="adj" fmla="val 3810"/>
            </a:avLst>
          </a:prstGeom>
          <a:solidFill>
            <a:srgbClr val="1E3254"/>
          </a:solidFill>
          <a:ln/>
        </p:spPr>
        <p:txBody>
          <a:bodyPr/>
          <a:lstStyle/>
          <a:p>
            <a:endParaRPr lang="en-CA"/>
          </a:p>
        </p:txBody>
      </p:sp>
      <p:sp>
        <p:nvSpPr>
          <p:cNvPr id="13" name="Text 11"/>
          <p:cNvSpPr txBox="1"/>
          <p:nvPr/>
        </p:nvSpPr>
        <p:spPr>
          <a:xfrm>
            <a:off x="9189720" y="2194560"/>
            <a:ext cx="2103120" cy="731520"/>
          </a:xfrm>
          <a:prstGeom prst="rect">
            <a:avLst/>
          </a:prstGeom>
          <a:noFill/>
          <a:ln/>
        </p:spPr>
        <p:txBody>
          <a:bodyPr wrap="square" lIns="0" tIns="0" rIns="0" bIns="0" rtlCol="0" anchor="ctr"/>
          <a:lstStyle/>
          <a:p>
            <a:pPr marL="0" indent="0">
              <a:buNone/>
            </a:pPr>
            <a:r>
              <a:rPr lang="en-US" sz="3400" b="1" dirty="0">
                <a:solidFill>
                  <a:schemeClr val="accent1"/>
                </a:solidFill>
              </a:rPr>
              <a:t>3</a:t>
            </a:r>
            <a:endParaRPr lang="en-US" sz="3400" dirty="0"/>
          </a:p>
        </p:txBody>
      </p:sp>
      <p:sp>
        <p:nvSpPr>
          <p:cNvPr id="14" name="Text 12"/>
          <p:cNvSpPr txBox="1"/>
          <p:nvPr/>
        </p:nvSpPr>
        <p:spPr>
          <a:xfrm>
            <a:off x="9189720" y="2971800"/>
            <a:ext cx="2103120" cy="822960"/>
          </a:xfrm>
          <a:prstGeom prst="rect">
            <a:avLst/>
          </a:prstGeom>
          <a:noFill/>
          <a:ln/>
        </p:spPr>
        <p:txBody>
          <a:bodyPr wrap="square" lIns="0" tIns="0" rIns="0" bIns="0" rtlCol="0" anchor="t"/>
          <a:lstStyle/>
          <a:p>
            <a:pPr marL="0" indent="0">
              <a:buNone/>
            </a:pPr>
            <a:r>
              <a:rPr lang="en-US" sz="1400" dirty="0">
                <a:solidFill>
                  <a:schemeClr val="bg1"/>
                </a:solidFill>
              </a:rPr>
              <a:t>audit questions answered from CloudTrail</a:t>
            </a:r>
            <a:endParaRPr lang="en-US" sz="1400" dirty="0"/>
          </a:p>
        </p:txBody>
      </p:sp>
      <p:sp>
        <p:nvSpPr>
          <p:cNvPr id="15" name="Text 13"/>
          <p:cNvSpPr txBox="1"/>
          <p:nvPr/>
        </p:nvSpPr>
        <p:spPr>
          <a:xfrm>
            <a:off x="731520" y="4480560"/>
            <a:ext cx="7315200" cy="640080"/>
          </a:xfrm>
          <a:prstGeom prst="rect">
            <a:avLst/>
          </a:prstGeom>
          <a:noFill/>
          <a:ln/>
        </p:spPr>
        <p:txBody>
          <a:bodyPr wrap="square" lIns="0" tIns="0" rIns="0" bIns="0" rtlCol="0" anchor="ctr"/>
          <a:lstStyle/>
          <a:p>
            <a:pPr marL="0" indent="0">
              <a:buNone/>
            </a:pPr>
            <a:r>
              <a:rPr lang="en-US" sz="3000" b="1" dirty="0">
                <a:solidFill>
                  <a:schemeClr val="bg1"/>
                </a:solidFill>
              </a:rPr>
              <a:t>Thank you. Questions?</a:t>
            </a:r>
            <a:endParaRPr lang="en-US" sz="3000" dirty="0"/>
          </a:p>
        </p:txBody>
      </p:sp>
      <p:sp>
        <p:nvSpPr>
          <p:cNvPr id="17" name="Text 15"/>
          <p:cNvSpPr txBox="1"/>
          <p:nvPr/>
        </p:nvSpPr>
        <p:spPr>
          <a:xfrm>
            <a:off x="731520" y="6035040"/>
            <a:ext cx="10058400" cy="274320"/>
          </a:xfrm>
          <a:prstGeom prst="rect">
            <a:avLst/>
          </a:prstGeom>
          <a:noFill/>
          <a:ln/>
        </p:spPr>
        <p:txBody>
          <a:bodyPr wrap="square" lIns="0" tIns="0" rIns="0" bIns="0" rtlCol="0" anchor="ctr"/>
          <a:lstStyle/>
          <a:p>
            <a:pPr marL="0" indent="0">
              <a:buNone/>
            </a:pPr>
            <a:r>
              <a:rPr lang="en-US" sz="1200" dirty="0">
                <a:solidFill>
                  <a:srgbClr val="8FA3BC"/>
                </a:solidFill>
              </a:rPr>
              <a:t>Qawiyy A. Rabiu (N10038749)  ·  Saheedat O. Abbas (N10038753)  ·  Group H</a:t>
            </a:r>
            <a:endParaRPr lang="en-US" sz="1200" dirty="0"/>
          </a:p>
        </p:txBody>
      </p:sp>
    </p:spTree>
  </p:cSld>
  <p:clrMapOvr>
    <a:masterClrMapping/>
  </p:clrMapOvr>
</p:sld>
</file>

<file path=ppt/theme/theme1.xml><?xml version="1.0" encoding="utf-8"?>
<a:theme xmlns:a="http://schemas.openxmlformats.org/drawingml/2006/main" name="Marrowick SecureVault">
  <a:themeElements>
    <a:clrScheme name="Marrowick SecureVault">
      <a:dk1>
        <a:srgbClr val="13213C"/>
      </a:dk1>
      <a:lt1>
        <a:srgbClr val="FFFFFF"/>
      </a:lt1>
      <a:dk2>
        <a:srgbClr val="1D6F8A"/>
      </a:dk2>
      <a:lt2>
        <a:srgbClr val="F3F5F8"/>
      </a:lt2>
      <a:accent1>
        <a:srgbClr val="E8912D"/>
      </a:accent1>
      <a:accent2>
        <a:srgbClr val="1D6F8A"/>
      </a:accent2>
      <a:accent3>
        <a:srgbClr val="B03A2E"/>
      </a:accent3>
      <a:accent4>
        <a:srgbClr val="2E7D4F"/>
      </a:accent4>
      <a:accent5>
        <a:srgbClr val="5B6B82"/>
      </a:accent5>
      <a:accent6>
        <a:srgbClr val="E3E9F0"/>
      </a:accent6>
      <a:hlink>
        <a:srgbClr val="1D6F8A"/>
      </a:hlink>
      <a:folHlink>
        <a:srgbClr val="5B6B82"/>
      </a:folHlink>
    </a:clrScheme>
    <a:fontScheme name="Marrowick SecureVaul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3234</Words>
  <Application>Microsoft Office PowerPoint</Application>
  <PresentationFormat>Widescreen</PresentationFormat>
  <Paragraphs>369</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Marrowick SecureVault</vt:lpstr>
      <vt:lpstr>PowerPoint Presentation</vt:lpstr>
      <vt:lpstr>Meet Group H</vt:lpstr>
      <vt:lpstr>Agenda</vt:lpstr>
      <vt:lpstr>Problem statement</vt:lpstr>
      <vt:lpstr>Objectives and success criteria</vt:lpstr>
      <vt:lpstr>How the platform works</vt:lpstr>
      <vt:lpstr>Encryption that is enforced, not just enabled</vt:lpstr>
      <vt:lpstr>Live: the PII gate blocks a bad batch</vt:lpstr>
      <vt:lpstr>PII gate results: 14 of 14 caught, zero false alarms</vt:lpstr>
      <vt:lpstr>Each analyst sees only what their role allows</vt:lpstr>
      <vt:lpstr>Every access leaves an auditable trail</vt:lpstr>
      <vt:lpstr>What the lab blocked, and what we did instead</vt:lpstr>
      <vt:lpstr>Controls mapped to PIPEDA principles</vt:lpstr>
      <vt:lpstr>If a control fails: the incident response runbook</vt:lpstr>
      <vt:lpstr>Lessons learned and future work</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Marrowick SecureVault, Group H</dc:title>
  <dc:subject>PptxGenJS Presentation</dc:subject>
  <dc:creator>Qawiyy A. Rabiu and Saheedat O. Abbas</dc:creator>
  <cp:lastModifiedBy>saheedat abbas</cp:lastModifiedBy>
  <cp:revision>2</cp:revision>
  <dcterms:created xsi:type="dcterms:W3CDTF">2026-10-22T20:55:14Z</dcterms:created>
  <dcterms:modified xsi:type="dcterms:W3CDTF">2026-10-22T21:00:40Z</dcterms:modified>
</cp:coreProperties>
</file>