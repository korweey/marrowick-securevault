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E8138C9-7961-4EA1-2BFA-A04D29E183CB}">
          <p14:sldIdLst>
            <p14:sldId id="256"/>
            <p14:sldId id="257"/>
            <p14:sldId id="258"/>
            <p14:sldId id="259"/>
            <p14:sldId id="260"/>
          </p14:sldIdLst>
        </p14:section>
        <p14:section name="Solution" id="{E1FC8A29-1B2E-56DF-D54F-02840E61DDF2}">
          <p14:sldIdLst>
            <p14:sldId id="261"/>
          </p14:sldIdLst>
        </p14:section>
        <p14:section name="Controls tested" id="{4A9A8C02-02B5-FAB1-44BA-4F4AE1E761A4}">
          <p14:sldIdLst>
            <p14:sldId id="262"/>
            <p14:sldId id="263"/>
            <p14:sldId id="264"/>
            <p14:sldId id="265"/>
            <p14:sldId id="266"/>
          </p14:sldIdLst>
        </p14:section>
        <p14:section name="Governance" id="{0BC0FB5F-9229-06A9-0BA2-860C717CCB29}">
          <p14:sldIdLst>
            <p14:sldId id="267"/>
            <p14:sldId id="268"/>
            <p14:sldId id="269"/>
          </p14:sldIdLst>
        </p14:section>
        <p14:section name="Close" id="{BA4EB102-FF26-024C-D78C-5A9911E37242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52" autoAdjust="0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52" y="5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213C"/>
                </a:solidFill>
                <a:latin typeface="+mn-lt"/>
              </a:defRPr>
            </a:pPr>
            <a:r>
              <a:rPr lang="en-US" sz="1400" b="0" i="0" u="none" strike="noStrike">
                <a:solidFill>
                  <a:srgbClr val="13213C"/>
                </a:solidFill>
                <a:latin typeface="+mn-lt"/>
              </a:rPr>
              <a:t>Findings by PII type (24 matches across the 14 rows)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Matches</c:v>
                </c:pt>
              </c:strCache>
            </c:strRef>
          </c:tx>
          <c:spPr>
            <a:solidFill>
              <a:srgbClr val="1D6F8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3213C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Health card</c:v>
                </c:pt>
                <c:pt idx="1">
                  <c:v>Email</c:v>
                </c:pt>
                <c:pt idx="2">
                  <c:v>Street address</c:v>
                </c:pt>
                <c:pt idx="3">
                  <c:v>SIN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8</c:v>
                </c:pt>
                <c:pt idx="2">
                  <c:v>5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8C-4878-BC1D-0B53576FFBA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3213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19570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CCGC 5506 Data Engineering  ·  Group H  ·  Marrowick SecureVault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accent1"/>
                </a:solidFill>
              </a:rPr>
              <a:t>CCGC 5506 EMERGING TECHNOLOGY·  MIDTERM PROJECT 4  ·  GROUP H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bg1"/>
                </a:solidFill>
              </a:rPr>
              <a:t>Marrowick SecureVault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37744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EB"/>
                </a:solidFill>
              </a:rPr>
              <a:t>Governance, security and compliance guardrails for a multi tenant health analytics data lake on AWS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94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Qawiyy A. Rabiu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605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EB"/>
                </a:solidFill>
              </a:rPr>
              <a:t>N10038749  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3794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Saheedat O. Abbas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41605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EB"/>
                </a:solidFill>
              </a:rPr>
              <a:t>N10038753  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6035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C"/>
                </a:solidFill>
              </a:rPr>
              <a:t>Humber Polytechnic  · October 23, 2026  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732520" y="1463040"/>
            <a:ext cx="2743200" cy="2743200"/>
          </a:xfrm>
          <a:prstGeom prst="ellipse">
            <a:avLst/>
          </a:prstGeom>
          <a:solidFill>
            <a:srgbClr val="1E3254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11" name="shield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14884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Meet Group H</a:t>
            </a:r>
            <a:endParaRPr lang="en-US" sz="3200" dirty="0"/>
          </a:p>
        </p:txBody>
      </p:sp>
      <p:sp>
        <p:nvSpPr>
          <p:cNvPr id="3" name="team card 1"/>
          <p:cNvSpPr/>
          <p:nvPr/>
        </p:nvSpPr>
        <p:spPr>
          <a:xfrm>
            <a:off x="548640" y="1325880"/>
            <a:ext cx="5349240" cy="4754880"/>
          </a:xfrm>
          <a:prstGeom prst="roundRect">
            <a:avLst>
              <a:gd name="adj" fmla="val 153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" name="team 1 circle"/>
          <p:cNvSpPr/>
          <p:nvPr/>
        </p:nvSpPr>
        <p:spPr>
          <a:xfrm>
            <a:off x="868680" y="160020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5" name="team 1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180594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74520" y="16002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Qawiyy A. Rabiu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874520" y="20116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N10038749  ·  Cloud Security Engineer (Build and Deployment)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8892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Built the KMS key, S3 zones, bucket policies and CloudTrail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Developed and deployed the PII gate: Lambda, Step Functions, SNS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Built the Glue catalog and Athena access views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Drafted the IAM policy set; set up the GitHub repository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5440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Presents: problem, architecture, encryption, IAM, lessons</a:t>
            </a:r>
            <a:endParaRPr lang="en-US" sz="1300" dirty="0"/>
          </a:p>
        </p:txBody>
      </p:sp>
      <p:sp>
        <p:nvSpPr>
          <p:cNvPr id="10" name="team card 2"/>
          <p:cNvSpPr/>
          <p:nvPr/>
        </p:nvSpPr>
        <p:spPr>
          <a:xfrm>
            <a:off x="6263640" y="1325880"/>
            <a:ext cx="5349240" cy="4754880"/>
          </a:xfrm>
          <a:prstGeom prst="roundRect">
            <a:avLst>
              <a:gd name="adj" fmla="val 153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1" name="team 2 circle"/>
          <p:cNvSpPr/>
          <p:nvPr/>
        </p:nvSpPr>
        <p:spPr>
          <a:xfrm>
            <a:off x="6583680" y="160020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12" name="team 2 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9420" y="180594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589520" y="16002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Saheedat O. Abbas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7589520" y="20116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N10038753  ·  Security Test and Compliance Analyst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0" y="278892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Ran the encryption enforcement test (SSE-S3 upload denied)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Ran all six gate tests; analysed 14 of 14 detection against the answer key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Ran access tests T0 to T5b and audit queries Q1 to Q3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Mapped controls to PIPEDA; tested the runbook scenarios; signed off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6583680" y="5440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Presents: PII gate demo, access, audit, compliance, close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Agenda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4356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Problem statement and objectives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81965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Why Marrowick needs guardrails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56032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8" name="Text 6"/>
          <p:cNvSpPr txBox="1"/>
          <p:nvPr/>
        </p:nvSpPr>
        <p:spPr>
          <a:xfrm>
            <a:off x="54864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5786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Architecture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96265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How data moves through the platform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2" name="Text 10"/>
          <p:cNvSpPr txBox="1"/>
          <p:nvPr/>
        </p:nvSpPr>
        <p:spPr>
          <a:xfrm>
            <a:off x="548640" y="3703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7216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Encryption that is enforced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410565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Customer managed key and bucket policies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8463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 txBox="1"/>
          <p:nvPr/>
        </p:nvSpPr>
        <p:spPr>
          <a:xfrm>
            <a:off x="548640" y="4846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8646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The PII gate (live demo)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24865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A bad batch is caught and quarantined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63640" y="141732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 txBox="1"/>
          <p:nvPr/>
        </p:nvSpPr>
        <p:spPr>
          <a:xfrm>
            <a:off x="6263640" y="1417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05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223760" y="14356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Access separation and audit trail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181965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Who can see what, and proof of who did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63640" y="256032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4" name="Text 22"/>
          <p:cNvSpPr txBox="1"/>
          <p:nvPr/>
        </p:nvSpPr>
        <p:spPr>
          <a:xfrm>
            <a:off x="626364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06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25786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IAM, compliance and incident response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7223760" y="296265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Honest scope, PIPEDA mapping, runbook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263640" y="370332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8" name="Text 26"/>
          <p:cNvSpPr txBox="1"/>
          <p:nvPr/>
        </p:nvSpPr>
        <p:spPr>
          <a:xfrm>
            <a:off x="6263640" y="3703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07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7223760" y="37216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Lessons learned and Q&amp;A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7223760" y="410565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What we would do next</a:t>
            </a:r>
            <a:endParaRPr lang="en-US" sz="14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Problem statement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Marrowick Health Analytics</a:t>
            </a:r>
            <a:r>
              <a:rPr lang="en-US" sz="1700" dirty="0">
                <a:solidFill>
                  <a:schemeClr val="tx1"/>
                </a:solidFill>
              </a:rPr>
              <a:t> ingests de-identified encounter and billing data from independent clinic partners into one shared analytics platform. </a:t>
            </a:r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To pass a partner security review, it must prove with evidence, not just policy, that the data is protected.</a:t>
            </a:r>
            <a:endParaRPr lang="en-US" sz="1700" dirty="0"/>
          </a:p>
        </p:txBody>
      </p:sp>
      <p:sp>
        <p:nvSpPr>
          <p:cNvPr id="4" name="stat clinic partners"/>
          <p:cNvSpPr/>
          <p:nvPr/>
        </p:nvSpPr>
        <p:spPr>
          <a:xfrm>
            <a:off x="548640" y="3429000"/>
            <a:ext cx="1508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 txBox="1"/>
          <p:nvPr/>
        </p:nvSpPr>
        <p:spPr>
          <a:xfrm>
            <a:off x="685800" y="352044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</a:rPr>
              <a:t>3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06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clinic partners</a:t>
            </a:r>
            <a:endParaRPr lang="en-US" sz="1300" dirty="0"/>
          </a:p>
        </p:txBody>
      </p:sp>
      <p:sp>
        <p:nvSpPr>
          <p:cNvPr id="7" name="stat synthetic encounters"/>
          <p:cNvSpPr/>
          <p:nvPr/>
        </p:nvSpPr>
        <p:spPr>
          <a:xfrm>
            <a:off x="2240280" y="3429000"/>
            <a:ext cx="1508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8" name="Text 6"/>
          <p:cNvSpPr txBox="1"/>
          <p:nvPr/>
        </p:nvSpPr>
        <p:spPr>
          <a:xfrm>
            <a:off x="2377440" y="352044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</a:rPr>
              <a:t>615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377440" y="4206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synthetic encounters</a:t>
            </a:r>
            <a:endParaRPr lang="en-US" sz="1300" dirty="0"/>
          </a:p>
        </p:txBody>
      </p:sp>
      <p:sp>
        <p:nvSpPr>
          <p:cNvPr id="10" name="stat seeded PII rows"/>
          <p:cNvSpPr/>
          <p:nvPr/>
        </p:nvSpPr>
        <p:spPr>
          <a:xfrm>
            <a:off x="3931920" y="3429000"/>
            <a:ext cx="1508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1" name="Text 9"/>
          <p:cNvSpPr txBox="1"/>
          <p:nvPr/>
        </p:nvSpPr>
        <p:spPr>
          <a:xfrm>
            <a:off x="4069080" y="352044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3"/>
                </a:solidFill>
              </a:rPr>
              <a:t>14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069080" y="4206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seeded PII rows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1206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chemeClr val="tx2"/>
                </a:solidFill>
              </a:rPr>
              <a:t>Our workstream: build the guardrails around the lake, then prove they hold.</a:t>
            </a:r>
            <a:endParaRPr lang="en-US" sz="1500" dirty="0"/>
          </a:p>
        </p:txBody>
      </p:sp>
      <p:sp>
        <p:nvSpPr>
          <p:cNvPr id="14" name="risk 1"/>
          <p:cNvSpPr/>
          <p:nvPr/>
        </p:nvSpPr>
        <p:spPr>
          <a:xfrm>
            <a:off x="5897880" y="1371600"/>
            <a:ext cx="269748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5" name="risk 1 circle"/>
          <p:cNvSpPr/>
          <p:nvPr/>
        </p:nvSpPr>
        <p:spPr>
          <a:xfrm>
            <a:off x="6126480" y="160020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16" name="risk 1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5070" y="1748790"/>
            <a:ext cx="297180" cy="29718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6126480" y="2286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Identifiers in free text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126480" y="26517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Intake clerks paste names, health card numbers, SINs and emails into notes_field.</a:t>
            </a:r>
            <a:endParaRPr lang="en-US" sz="1300" dirty="0"/>
          </a:p>
        </p:txBody>
      </p:sp>
      <p:sp>
        <p:nvSpPr>
          <p:cNvPr id="19" name="risk 2"/>
          <p:cNvSpPr/>
          <p:nvPr/>
        </p:nvSpPr>
        <p:spPr>
          <a:xfrm>
            <a:off x="8778240" y="1371600"/>
            <a:ext cx="269748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0" name="risk 2 circle"/>
          <p:cNvSpPr/>
          <p:nvPr/>
        </p:nvSpPr>
        <p:spPr>
          <a:xfrm>
            <a:off x="9006840" y="160020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21" name="risk 2 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5430" y="1748790"/>
            <a:ext cx="297180" cy="29718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9006840" y="2286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Cross clinic exposure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9006840" y="26517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One clinic's analysts must never see another clinic's patients.</a:t>
            </a:r>
            <a:endParaRPr lang="en-US" sz="1300" dirty="0"/>
          </a:p>
        </p:txBody>
      </p:sp>
      <p:sp>
        <p:nvSpPr>
          <p:cNvPr id="24" name="risk 3"/>
          <p:cNvSpPr/>
          <p:nvPr/>
        </p:nvSpPr>
        <p:spPr>
          <a:xfrm>
            <a:off x="5897880" y="3657600"/>
            <a:ext cx="269748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5" name="risk 3 circle"/>
          <p:cNvSpPr/>
          <p:nvPr/>
        </p:nvSpPr>
        <p:spPr>
          <a:xfrm>
            <a:off x="6126480" y="388620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26" name="risk 3 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5070" y="4034790"/>
            <a:ext cx="297180" cy="29718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126480" y="4572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Weak encryption</a:t>
            </a:r>
            <a:endParaRPr lang="en-US" sz="1600" dirty="0"/>
          </a:p>
        </p:txBody>
      </p:sp>
      <p:sp>
        <p:nvSpPr>
          <p:cNvPr id="28" name="Text 23"/>
          <p:cNvSpPr txBox="1"/>
          <p:nvPr/>
        </p:nvSpPr>
        <p:spPr>
          <a:xfrm>
            <a:off x="6126480" y="49377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Default encryption can be overridden by a single upload setting.</a:t>
            </a:r>
            <a:endParaRPr lang="en-US" sz="1300" dirty="0"/>
          </a:p>
        </p:txBody>
      </p:sp>
      <p:sp>
        <p:nvSpPr>
          <p:cNvPr id="29" name="risk 4"/>
          <p:cNvSpPr/>
          <p:nvPr/>
        </p:nvSpPr>
        <p:spPr>
          <a:xfrm>
            <a:off x="8778240" y="3657600"/>
            <a:ext cx="269748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0" name="risk 4 circle"/>
          <p:cNvSpPr/>
          <p:nvPr/>
        </p:nvSpPr>
        <p:spPr>
          <a:xfrm>
            <a:off x="9006840" y="388620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31" name="risk 4 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55430" y="4034790"/>
            <a:ext cx="297180" cy="29718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006840" y="4572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 proof of access</a:t>
            </a:r>
            <a:endParaRPr lang="en-US" sz="1600" dirty="0"/>
          </a:p>
        </p:txBody>
      </p:sp>
      <p:sp>
        <p:nvSpPr>
          <p:cNvPr id="33" name="Text 27"/>
          <p:cNvSpPr txBox="1"/>
          <p:nvPr/>
        </p:nvSpPr>
        <p:spPr>
          <a:xfrm>
            <a:off x="9006840" y="49377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A reviewer will ask who accessed which data, and when.</a:t>
            </a:r>
            <a:endParaRPr lang="en-US" sz="13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Objectives and success criteria</a:t>
            </a:r>
            <a:endParaRPr lang="en-US" sz="3200" dirty="0"/>
          </a:p>
        </p:txBody>
      </p:sp>
      <p:sp>
        <p:nvSpPr>
          <p:cNvPr id="3" name="objective 1"/>
          <p:cNvSpPr/>
          <p:nvPr/>
        </p:nvSpPr>
        <p:spPr>
          <a:xfrm>
            <a:off x="548640" y="1325880"/>
            <a:ext cx="2633472" cy="416052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" name="objective 1 circle"/>
          <p:cNvSpPr/>
          <p:nvPr/>
        </p:nvSpPr>
        <p:spPr>
          <a:xfrm>
            <a:off x="777240" y="155448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5" name="objective 1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72593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3774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Encryption at rest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8346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Every tenant bucket uses SSE KMS with our customer managed key, and the bucket policy enforces it.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3891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chemeClr val="accent1"/>
                </a:solidFill>
              </a:rPr>
              <a:t>PASS IF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64515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An upload asking for weaker encryption is denied.</a:t>
            </a:r>
            <a:endParaRPr lang="en-US" sz="1300" dirty="0"/>
          </a:p>
        </p:txBody>
      </p:sp>
      <p:sp>
        <p:nvSpPr>
          <p:cNvPr id="10" name="objective 2"/>
          <p:cNvSpPr/>
          <p:nvPr/>
        </p:nvSpPr>
        <p:spPr>
          <a:xfrm>
            <a:off x="3364992" y="1325880"/>
            <a:ext cx="2633472" cy="416052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1" name="objective 2 circle"/>
          <p:cNvSpPr/>
          <p:nvPr/>
        </p:nvSpPr>
        <p:spPr>
          <a:xfrm>
            <a:off x="3593592" y="155448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12" name="objective 2 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5042" y="1725930"/>
            <a:ext cx="342900" cy="3429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93592" y="23774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Automated PII gate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593592" y="28346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Any batch containing PII or PHI is quarantined, the team is alerted, and it never reaches curated.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3593592" y="43891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chemeClr val="accent1"/>
                </a:solidFill>
              </a:rPr>
              <a:t>PASS IF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3593592" y="464515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All 14 seeded rows caught, zero clean rows flagged.</a:t>
            </a:r>
            <a:endParaRPr lang="en-US" sz="1300" dirty="0"/>
          </a:p>
        </p:txBody>
      </p:sp>
      <p:sp>
        <p:nvSpPr>
          <p:cNvPr id="17" name="objective 3"/>
          <p:cNvSpPr/>
          <p:nvPr/>
        </p:nvSpPr>
        <p:spPr>
          <a:xfrm>
            <a:off x="6181344" y="1325880"/>
            <a:ext cx="2633472" cy="416052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8" name="objective 3 circle"/>
          <p:cNvSpPr/>
          <p:nvPr/>
        </p:nvSpPr>
        <p:spPr>
          <a:xfrm>
            <a:off x="6409944" y="155448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19" name="objective 3 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1394" y="1725930"/>
            <a:ext cx="342900" cy="3429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09944" y="23774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Access separation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6409944" y="28346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Clinic analysts see only their clinic; corporate analysts see all clinics but no PII columns.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6409944" y="43891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chemeClr val="accent1"/>
                </a:solidFill>
              </a:rPr>
              <a:t>PASS IF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6409944" y="464515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Every restricted query returns 0 rows or is refused.</a:t>
            </a:r>
            <a:endParaRPr lang="en-US" sz="1300" dirty="0"/>
          </a:p>
        </p:txBody>
      </p:sp>
      <p:sp>
        <p:nvSpPr>
          <p:cNvPr id="24" name="objective 4"/>
          <p:cNvSpPr/>
          <p:nvPr/>
        </p:nvSpPr>
        <p:spPr>
          <a:xfrm>
            <a:off x="8997696" y="1325880"/>
            <a:ext cx="2633472" cy="416052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5" name="objective 4 circle"/>
          <p:cNvSpPr/>
          <p:nvPr/>
        </p:nvSpPr>
        <p:spPr>
          <a:xfrm>
            <a:off x="9226296" y="155448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26" name="objective 4 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97746" y="1725930"/>
            <a:ext cx="342900" cy="3429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226296" y="23774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Audit trail</a:t>
            </a:r>
            <a:endParaRPr lang="en-US" sz="1700" dirty="0"/>
          </a:p>
        </p:txBody>
      </p:sp>
      <p:sp>
        <p:nvSpPr>
          <p:cNvPr id="28" name="Text 22"/>
          <p:cNvSpPr txBox="1"/>
          <p:nvPr/>
        </p:nvSpPr>
        <p:spPr>
          <a:xfrm>
            <a:off x="9226296" y="28346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CloudTrail records every access and change, and we can query it with Athena.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9226296" y="43891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chemeClr val="accent1"/>
                </a:solidFill>
              </a:rPr>
              <a:t>PASS IF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9226296" y="464515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At least two audit questions answered with evidence.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Plus, a governance package: least privilege IAM policies, a PIPEDA compliance mapping and an incident response runbook.</a:t>
            </a:r>
            <a:endParaRPr lang="en-US" sz="15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How the platform works</a:t>
            </a:r>
            <a:endParaRPr lang="en-US" sz="3200" dirty="0"/>
          </a:p>
        </p:txBody>
      </p:sp>
      <p:pic>
        <p:nvPicPr>
          <p:cNvPr id="3" name="architecture diagram" descr="/tmp/claude-0/-home-claude/82c33e58-f614-51a9-bcbb-11a0c7e9ca33/scratchpad/deck2/img/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143000"/>
            <a:ext cx="10607040" cy="48661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Source: architecture/Marrowick_Architecture.drawio  ·  Region us-east-1  ·  All services serverless and pay per use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Encryption that is enforced, not just enabled</a:t>
            </a:r>
            <a:endParaRPr lang="en-US" sz="3200" dirty="0"/>
          </a:p>
        </p:txBody>
      </p:sp>
      <p:sp>
        <p:nvSpPr>
          <p:cNvPr id="3" name="encryption card 1"/>
          <p:cNvSpPr/>
          <p:nvPr/>
        </p:nvSpPr>
        <p:spPr>
          <a:xfrm>
            <a:off x="548640" y="1325880"/>
            <a:ext cx="4937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" name="encryption 1 circle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5" name="encryption 1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373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50876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Customer managed key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856232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SSE KMS with Bucket Key on all three zones. Key policy separates duties: voclabs administers, LabRole only uses. Rotation every 365 days.</a:t>
            </a:r>
            <a:endParaRPr lang="en-US" sz="1300" dirty="0"/>
          </a:p>
        </p:txBody>
      </p:sp>
      <p:sp>
        <p:nvSpPr>
          <p:cNvPr id="8" name="encryption card 2"/>
          <p:cNvSpPr/>
          <p:nvPr/>
        </p:nvSpPr>
        <p:spPr>
          <a:xfrm>
            <a:off x="548640" y="2926080"/>
            <a:ext cx="4937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9" name="encryption 2 circle"/>
          <p:cNvSpPr/>
          <p:nvPr/>
        </p:nvSpPr>
        <p:spPr>
          <a:xfrm>
            <a:off x="777240" y="320040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10" name="encryption 2 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33756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08760" y="310896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Bucket policies deny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1508760" y="3456432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Any non-HTTPS request, any upload not encrypted with KMS, and any upload naming a different key.</a:t>
            </a:r>
            <a:endParaRPr lang="en-US" sz="1300" dirty="0"/>
          </a:p>
        </p:txBody>
      </p:sp>
      <p:sp>
        <p:nvSpPr>
          <p:cNvPr id="13" name="encryption card 3"/>
          <p:cNvSpPr/>
          <p:nvPr/>
        </p:nvSpPr>
        <p:spPr>
          <a:xfrm>
            <a:off x="548640" y="4526280"/>
            <a:ext cx="4937760" cy="1417320"/>
          </a:xfrm>
          <a:prstGeom prst="roundRect">
            <a:avLst>
              <a:gd name="adj" fmla="val 5161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encryption 3 circle"/>
          <p:cNvSpPr/>
          <p:nvPr/>
        </p:nvSpPr>
        <p:spPr>
          <a:xfrm>
            <a:off x="777240" y="48006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15" name="encryption 3 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93776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08760" y="470916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Tested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508760" y="5056632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Upload of test-sse-s3.txt with an SSE-S3 override: Access denied.</a:t>
            </a:r>
            <a:endParaRPr lang="en-US" sz="1300" dirty="0"/>
          </a:p>
        </p:txBody>
      </p:sp>
      <p:pic>
        <p:nvPicPr>
          <p:cNvPr id="18" name="access denied screenshot" descr="/tmp/claude-0/-home-claude/82c33e58-f614-51a9-bcbb-11a0c7e9ca33/scratchpad/deck2/img/deni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0" y="1325880"/>
            <a:ext cx="5760720" cy="2041549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852160" y="34290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Evidence: evidence/week1/20, upload refused by the bucket policy</a:t>
            </a:r>
            <a:endParaRPr lang="en-US" sz="1100" dirty="0"/>
          </a:p>
        </p:txBody>
      </p:sp>
      <p:sp>
        <p:nvSpPr>
          <p:cNvPr id="20" name="why it matters"/>
          <p:cNvSpPr/>
          <p:nvPr/>
        </p:nvSpPr>
        <p:spPr>
          <a:xfrm>
            <a:off x="5852160" y="3931920"/>
            <a:ext cx="576072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1" name="Text 15"/>
          <p:cNvSpPr txBox="1"/>
          <p:nvPr/>
        </p:nvSpPr>
        <p:spPr>
          <a:xfrm>
            <a:off x="6080760" y="4069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Why this matters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080760" y="443484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Default encryption only applies when the uploader does not ask for something else. A deny in the bucket policy overrides any IAM allow, so a weaker request is refused for every caller.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Live: the PII gate blocks a bad batch</a:t>
            </a:r>
            <a:endParaRPr lang="en-US" sz="3200" dirty="0"/>
          </a:p>
        </p:txBody>
      </p:sp>
      <p:sp>
        <p:nvSpPr>
          <p:cNvPr id="3" name="live demo pill"/>
          <p:cNvSpPr/>
          <p:nvPr/>
        </p:nvSpPr>
        <p:spPr>
          <a:xfrm>
            <a:off x="10287000" y="457200"/>
            <a:ext cx="1325880" cy="411480"/>
          </a:xfrm>
          <a:prstGeom prst="roundRect">
            <a:avLst>
              <a:gd name="adj" fmla="val 44444"/>
            </a:avLst>
          </a:prstGeom>
          <a:solidFill>
            <a:schemeClr val="accent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" name="Text 2"/>
          <p:cNvSpPr txBox="1"/>
          <p:nvPr/>
        </p:nvSpPr>
        <p:spPr>
          <a:xfrm>
            <a:off x="10287000" y="45720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LIVE DEMO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325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Scan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16002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Lambda checks free text for health card, SIN, email and street address patterns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0" name="Text 8"/>
          <p:cNvSpPr txBox="1"/>
          <p:nvPr/>
        </p:nvSpPr>
        <p:spPr>
          <a:xfrm>
            <a:off x="54864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9842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Decide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225856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PII found? One bad row blocks the whole batch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688336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Text 12"/>
          <p:cNvSpPr txBox="1"/>
          <p:nvPr/>
        </p:nvSpPr>
        <p:spPr>
          <a:xfrm>
            <a:off x="548640" y="2688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264261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Quarantine and alert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91693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Batch copied to quarantine; SNS emails the team with IDs only, no PII values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346704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8" name="Text 16"/>
          <p:cNvSpPr txBox="1"/>
          <p:nvPr/>
        </p:nvSpPr>
        <p:spPr>
          <a:xfrm>
            <a:off x="548640" y="3346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33009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Blocked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357530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The run fails on purpose with PIIDetected; PromoteToCurated never runs</a:t>
            </a:r>
            <a:endParaRPr lang="en-US" sz="1200" dirty="0"/>
          </a:p>
        </p:txBody>
      </p:sp>
      <p:pic>
        <p:nvPicPr>
          <p:cNvPr id="21" name="SNS alert screenshot" descr="/tmp/claude-0/-home-claude/82c33e58-f614-51a9-bcbb-11a0c7e9ca33/scratchpad/deck2/img/s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14800"/>
            <a:ext cx="5760720" cy="1860779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48640" y="6035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The real alert: flagged encounter IDs and finding types, no PII values</a:t>
            </a:r>
            <a:endParaRPr lang="en-US" sz="1100" dirty="0"/>
          </a:p>
        </p:txBody>
      </p:sp>
      <p:pic>
        <p:nvPicPr>
          <p:cNvPr id="23" name="Step Functions graph screenshot" descr="/tmp/claude-0/-home-claude/82c33e58-f614-51a9-bcbb-11a0c7e9ca33/scratchpad/deck2/img/gate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325880"/>
            <a:ext cx="4892040" cy="421964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6720840" y="562356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Execution test1-clinic-a-raw: Failed at GateBlocked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PII gate results: 14 of 14 caught, zero false alarms</a:t>
            </a:r>
            <a:endParaRPr lang="en-US" sz="3200" dirty="0"/>
          </a:p>
        </p:txBody>
      </p:sp>
      <p:sp>
        <p:nvSpPr>
          <p:cNvPr id="3" name="big stat"/>
          <p:cNvSpPr/>
          <p:nvPr/>
        </p:nvSpPr>
        <p:spPr>
          <a:xfrm>
            <a:off x="548640" y="132588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" name="Text 2"/>
          <p:cNvSpPr txBox="1"/>
          <p:nvPr/>
        </p:nvSpPr>
        <p:spPr>
          <a:xfrm>
            <a:off x="777240" y="14630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14 / 14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5146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seeded PII rows caught, checked against the instructor answer key</a:t>
            </a:r>
            <a:endParaRPr lang="en-US" sz="1400" dirty="0"/>
          </a:p>
        </p:txBody>
      </p:sp>
      <p:sp>
        <p:nvSpPr>
          <p:cNvPr id="6" name="metric precision"/>
          <p:cNvSpPr/>
          <p:nvPr/>
        </p:nvSpPr>
        <p:spPr>
          <a:xfrm>
            <a:off x="548640" y="3703320"/>
            <a:ext cx="1097280" cy="11430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 txBox="1"/>
          <p:nvPr/>
        </p:nvSpPr>
        <p:spPr>
          <a:xfrm>
            <a:off x="640080" y="37947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2"/>
                </a:solidFill>
              </a:rPr>
              <a:t>1.00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43434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precision</a:t>
            </a:r>
            <a:endParaRPr lang="en-US" sz="1100" dirty="0"/>
          </a:p>
        </p:txBody>
      </p:sp>
      <p:sp>
        <p:nvSpPr>
          <p:cNvPr id="9" name="metric recall"/>
          <p:cNvSpPr/>
          <p:nvPr/>
        </p:nvSpPr>
        <p:spPr>
          <a:xfrm>
            <a:off x="1764792" y="3703320"/>
            <a:ext cx="1097280" cy="11430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0" name="Text 8"/>
          <p:cNvSpPr txBox="1"/>
          <p:nvPr/>
        </p:nvSpPr>
        <p:spPr>
          <a:xfrm>
            <a:off x="1856232" y="37947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2"/>
                </a:solidFill>
              </a:rPr>
              <a:t>1.00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810512" y="43434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recall</a:t>
            </a:r>
            <a:endParaRPr lang="en-US" sz="1100" dirty="0"/>
          </a:p>
        </p:txBody>
      </p:sp>
      <p:sp>
        <p:nvSpPr>
          <p:cNvPr id="12" name="metric false positives"/>
          <p:cNvSpPr/>
          <p:nvPr/>
        </p:nvSpPr>
        <p:spPr>
          <a:xfrm>
            <a:off x="2980944" y="3703320"/>
            <a:ext cx="1097280" cy="11430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3" name="Text 11"/>
          <p:cNvSpPr txBox="1"/>
          <p:nvPr/>
        </p:nvSpPr>
        <p:spPr>
          <a:xfrm>
            <a:off x="3072384" y="37947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2"/>
                </a:solidFill>
              </a:rPr>
              <a:t>0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026664" y="43434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false positives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0292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3 raw batches blocked, 3 steward redacted batches promoted. Rerun offline on Oct 21 with python3 tests/test_pii_scan.py.</a:t>
            </a:r>
            <a:endParaRPr lang="en-US" sz="130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4480560" y="1280160"/>
          <a:ext cx="713232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3931920"/>
          <a:ext cx="7132320" cy="1719072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Clinic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Flagged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Seeded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Findings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Gate result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3213C"/>
                          </a:solidFill>
                        </a:rPr>
                        <a:t>clinic-a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3213C"/>
                          </a:solidFill>
                        </a:rPr>
                        <a:t>191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3213C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3213C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3213C"/>
                          </a:solidFill>
                        </a:rPr>
                        <a:t>health card 3, email 4, address 3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3213C"/>
                          </a:solidFill>
                        </a:rPr>
                        <a:t>Blocked, then promoted after redaction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3213C"/>
                          </a:solidFill>
                        </a:rPr>
                        <a:t>clinic-b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3213C"/>
                          </a:solidFill>
                        </a:rPr>
                        <a:t>243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3213C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3213C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3213C"/>
                          </a:solidFill>
                        </a:rPr>
                        <a:t>health card 5, email 2, address 2, SIN 1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3213C"/>
                          </a:solidFill>
                        </a:rPr>
                        <a:t>Blocked, then promoted after redaction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3213C"/>
                          </a:solidFill>
                        </a:rPr>
                        <a:t>clinic-c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3213C"/>
                          </a:solidFill>
                        </a:rPr>
                        <a:t>181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3213C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3213C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3213C"/>
                          </a:solidFill>
                        </a:rPr>
                        <a:t>email 2, health card 2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3213C"/>
                          </a:solidFill>
                        </a:rPr>
                        <a:t>Blocked, then promoted after redaction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Each analyst sees only what their role allows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2779776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Restricted query we attempted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T0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Baseline (admin)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Count all curated rows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615 rows, 3 clinics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</a:rPr>
                        <a:t>Pass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T1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Clinic analyst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Count rows by clinic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Only clinic-a, 191 rows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</a:rPr>
                        <a:t>Pass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T2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Clinic analyst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Rows where clinic = clinic-b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0 rows returned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</a:rPr>
                        <a:t>Pass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T3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Clinic analyst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SELECT notes_field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Refused: COLUMN_NOT_FOUND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</a:rPr>
                        <a:t>Pass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T4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Corporate analyst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Count rows by clinic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191 / 243 / 181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</a:rPr>
                        <a:t>Pass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T5a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Corporate analyst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SELECT notes_field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Refused: COLUMN_NOT_FOUND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</a:rPr>
                        <a:t>Pass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T5b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Corporate analyst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SELECT patient_ref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Refused: COLUMN_NOT_FOUND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</a:rPr>
                        <a:t>Pass</a:t>
                      </a:r>
                      <a:endParaRPr lang="en-US" sz="13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seven of seven"/>
          <p:cNvSpPr/>
          <p:nvPr/>
        </p:nvSpPr>
        <p:spPr>
          <a:xfrm>
            <a:off x="548640" y="4251960"/>
            <a:ext cx="3291840" cy="1783080"/>
          </a:xfrm>
          <a:prstGeom prst="roundRect">
            <a:avLst>
              <a:gd name="adj" fmla="val 4103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" name="Text 2"/>
          <p:cNvSpPr txBox="1"/>
          <p:nvPr/>
        </p:nvSpPr>
        <p:spPr>
          <a:xfrm>
            <a:off x="777240" y="43891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7 of 7 passed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48920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A refused query is the pass: the restricted data never came back.</a:t>
            </a:r>
            <a:endParaRPr lang="en-US" sz="1300" dirty="0"/>
          </a:p>
        </p:txBody>
      </p:sp>
      <p:pic>
        <p:nvPicPr>
          <p:cNvPr id="7" name="T3 refused screenshot" descr="/tmp/claude-0/-home-claude/82c33e58-f614-51a9-bcbb-11a0c7e9ca33/scratchpad/deck2/img/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251960"/>
            <a:ext cx="7498080" cy="124241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114800" y="56235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Real result of T3 (evidence/week2/43). Enforced with Athena views because Lake Formation is blocked in the Learner Lab.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Every access leaves an auditable trail</a:t>
            </a:r>
            <a:endParaRPr lang="en-US" sz="3200" dirty="0"/>
          </a:p>
        </p:txBody>
      </p:sp>
      <p:sp>
        <p:nvSpPr>
          <p:cNvPr id="3" name="audit Q1"/>
          <p:cNvSpPr/>
          <p:nvPr/>
        </p:nvSpPr>
        <p:spPr>
          <a:xfrm>
            <a:off x="548640" y="132588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" name="Text 2"/>
          <p:cNvSpPr txBox="1"/>
          <p:nvPr/>
        </p:nvSpPr>
        <p:spPr>
          <a:xfrm>
            <a:off x="777240" y="1463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chemeClr val="tx2"/>
                </a:solidFill>
              </a:rPr>
              <a:t>Q1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373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accessed curated clinic-c data?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945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The pipeline copy, the Glue crawler, then 3 analyst queries, each with identity and time.</a:t>
            </a:r>
            <a:endParaRPr lang="en-US" sz="1300" dirty="0"/>
          </a:p>
        </p:txBody>
      </p:sp>
      <p:sp>
        <p:nvSpPr>
          <p:cNvPr id="7" name="audit Q2"/>
          <p:cNvSpPr/>
          <p:nvPr/>
        </p:nvSpPr>
        <p:spPr>
          <a:xfrm>
            <a:off x="4297680" y="132588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8" name="Text 6"/>
          <p:cNvSpPr txBox="1"/>
          <p:nvPr/>
        </p:nvSpPr>
        <p:spPr>
          <a:xfrm>
            <a:off x="4526280" y="1463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chemeClr val="tx2"/>
                </a:solidFill>
              </a:rPr>
              <a:t>Q2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7373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changed bucket security?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1945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4 bucket policy changes and 1 encryption change, with who made each and when.</a:t>
            </a:r>
            <a:endParaRPr lang="en-US" sz="1300" dirty="0"/>
          </a:p>
        </p:txBody>
      </p:sp>
      <p:sp>
        <p:nvSpPr>
          <p:cNvPr id="11" name="audit Q3  ·  ANOMALY"/>
          <p:cNvSpPr/>
          <p:nvPr/>
        </p:nvSpPr>
        <p:spPr>
          <a:xfrm>
            <a:off x="8046720" y="132588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2" name="Text 10"/>
          <p:cNvSpPr txBox="1"/>
          <p:nvPr/>
        </p:nvSpPr>
        <p:spPr>
          <a:xfrm>
            <a:off x="8275320" y="1463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chemeClr val="accent1"/>
                </a:solidFill>
              </a:rPr>
              <a:t>Q3  ·  ANOMALY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75320" y="17373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Any probing of security services?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1945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A burst of denied Lake Formation calls within 5 minutes, flagged for review.</a:t>
            </a:r>
            <a:endParaRPr lang="en-US" sz="1300" dirty="0"/>
          </a:p>
        </p:txBody>
      </p:sp>
      <p:pic>
        <p:nvPicPr>
          <p:cNvPr id="15" name="audit Q1 screenshot" descr="/tmp/claude-0/-home-claude/82c33e58-f614-51a9-bcbb-11a0c7e9ca33/scratchpad/deck2/img/audit_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474720"/>
            <a:ext cx="11064240" cy="2041616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48640" y="56235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Q1 result from CloudTrail via Athena (evidence/week2/51). Data events scoped to the three tenant buckets; log file validation on; times in UTC.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the lab blocked, and what we did instead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2798064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Blocked in the Learner Lab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What we did instead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Creating IAM roles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Wrote one least privilege policy per role as JSON; every service ran as LabRole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E8912D"/>
                          </a:solidFill>
                        </a:rPr>
                        <a:t>Design only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Lake Formation (GetDataLakeSettings denied)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Athena views plus the full data cells filter design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D6F8A"/>
                          </a:solidFill>
                        </a:rPr>
                        <a:t>Tested 7 of 7; views are weaker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Tagged principals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3213C"/>
                          </a:solidFill>
                        </a:rPr>
                        <a:t>Per tenant isolation statements in the bucket policies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E8912D"/>
                          </a:solidFill>
                        </a:rPr>
                        <a:t>Deployed, not testable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34340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Why views are weaker: anyone who can read the base table or the S3 objects can bypass a view. In production, analysts get Lake Formation filters plus an explicit deny on direct S3 access.</a:t>
            </a:r>
            <a:endParaRPr lang="en-US" sz="1400" dirty="0"/>
          </a:p>
        </p:txBody>
      </p:sp>
      <p:sp>
        <p:nvSpPr>
          <p:cNvPr id="5" name="enforced card"/>
          <p:cNvSpPr/>
          <p:nvPr/>
        </p:nvSpPr>
        <p:spPr>
          <a:xfrm>
            <a:off x="7680960" y="1325880"/>
            <a:ext cx="3931920" cy="2240280"/>
          </a:xfrm>
          <a:prstGeom prst="roundRect">
            <a:avLst>
              <a:gd name="adj" fmla="val 3265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 txBox="1"/>
          <p:nvPr/>
        </p:nvSpPr>
        <p:spPr>
          <a:xfrm>
            <a:off x="7909560" y="1463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Enforced regardless of IAM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909560" y="192024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KMS key policy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Bucket policies (a deny beats any allow)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The PII gate logic itself</a:t>
            </a:r>
            <a:endParaRPr lang="en-US" sz="1400" dirty="0"/>
          </a:p>
        </p:txBody>
      </p:sp>
      <p:sp>
        <p:nvSpPr>
          <p:cNvPr id="8" name="designed card"/>
          <p:cNvSpPr/>
          <p:nvPr/>
        </p:nvSpPr>
        <p:spPr>
          <a:xfrm>
            <a:off x="7680960" y="3749040"/>
            <a:ext cx="393192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9" name="Text 6"/>
          <p:cNvSpPr txBox="1"/>
          <p:nvPr/>
        </p:nvSpPr>
        <p:spPr>
          <a:xfrm>
            <a:off x="7909560" y="3886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Designed as JSON (iam/roles)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4297680"/>
            <a:ext cx="3566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Clinic A analyst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Corporate analyst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PII scan Lambda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PII gate Step Functions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Curated Glue crawler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Controls mapped to PIPEDA principles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2420782"/>
              </p:ext>
            </p:extLst>
          </p:nvPr>
        </p:nvGraphicFramePr>
        <p:xfrm>
          <a:off x="548640" y="1325880"/>
          <a:ext cx="7589520" cy="384048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PIPEDA principle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Control we implemented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Strength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3213C"/>
                          </a:solidFill>
                        </a:rPr>
                        <a:t>4.7 Safeguards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3213C"/>
                          </a:solidFill>
                        </a:rPr>
                        <a:t>SSE KMS with rotation; policies deny non-TLS, non KMS and wrong key uploads; SNS alert on gate failure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</a:rPr>
                        <a:t>Strong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3213C"/>
                          </a:solidFill>
                        </a:rPr>
                        <a:t>4.4 Limiting collection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3213C"/>
                          </a:solidFill>
                        </a:rPr>
                        <a:t>Regex PII gate blocks identifiers from analytics; answer key removed before ingestion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</a:rPr>
                        <a:t>Strong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3213C"/>
                          </a:solidFill>
                        </a:rPr>
                        <a:t>4.5 Limiting use and disclosure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3213C"/>
                          </a:solidFill>
                        </a:rPr>
                        <a:t>Clinic analysts see only their rows; corporate analysts see no PII columns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</a:rPr>
                        <a:t>Strong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3213C"/>
                          </a:solidFill>
                        </a:rPr>
                        <a:t>4.1 Accountability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3213C"/>
                          </a:solidFill>
                        </a:rPr>
                        <a:t>CloudTrail records who did every action; log file validation detects tampering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8912D"/>
                          </a:solidFill>
                        </a:rPr>
                        <a:t>Partial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3213C"/>
                          </a:solidFill>
                        </a:rPr>
                        <a:t>4.6 Accuracy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3213C"/>
                          </a:solidFill>
                        </a:rPr>
                        <a:t>Original kept, steward fix saved as a new _v2 object; 615 in, 615 catalogued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8912D"/>
                          </a:solidFill>
                        </a:rPr>
                        <a:t>Partial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3213C"/>
                          </a:solidFill>
                        </a:rPr>
                        <a:t>Breach safeguards (s.10.1)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3213C"/>
                          </a:solidFill>
                        </a:rPr>
                        <a:t>Runbook covers RROSH assessment, OPC report, notification, 24-month record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8912D"/>
                          </a:solidFill>
                        </a:rPr>
                        <a:t>Partial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not covered"/>
          <p:cNvSpPr/>
          <p:nvPr/>
        </p:nvSpPr>
        <p:spPr>
          <a:xfrm>
            <a:off x="8412480" y="1325880"/>
            <a:ext cx="3200400" cy="38862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" name="Text 2"/>
          <p:cNvSpPr txBox="1"/>
          <p:nvPr/>
        </p:nvSpPr>
        <p:spPr>
          <a:xfrm>
            <a:off x="864108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Not covered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920240"/>
            <a:ext cx="2743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4.2 Identifying purposes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4.3 Consent (held by the clinics)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4.9 Individual access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Retention and deletion rules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PII the regex cannot see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PHIPA (Ontario health law)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6235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A learning exercise on synthetic data, not a compliance certification. Full table: docs/compliance-mapping.md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If a control fails: the incident response runbook</a:t>
            </a:r>
            <a:endParaRPr lang="en-US" sz="3200" dirty="0"/>
          </a:p>
        </p:txBody>
      </p:sp>
      <p:sp>
        <p:nvSpPr>
          <p:cNvPr id="3" name="scenario IR-1"/>
          <p:cNvSpPr/>
          <p:nvPr/>
        </p:nvSpPr>
        <p:spPr>
          <a:xfrm>
            <a:off x="548640" y="1325880"/>
            <a:ext cx="263347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" name="Text 2"/>
          <p:cNvSpPr txBox="1"/>
          <p:nvPr/>
        </p:nvSpPr>
        <p:spPr>
          <a:xfrm>
            <a:off x="777240" y="1463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chemeClr val="accent3"/>
                </a:solidFill>
              </a:rPr>
              <a:t>IR-1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37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PII reached curated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Gate missed a new format</a:t>
            </a:r>
            <a:endParaRPr lang="en-US" sz="1300" dirty="0"/>
          </a:p>
        </p:txBody>
      </p:sp>
      <p:sp>
        <p:nvSpPr>
          <p:cNvPr id="7" name="scenario IR-2"/>
          <p:cNvSpPr/>
          <p:nvPr/>
        </p:nvSpPr>
        <p:spPr>
          <a:xfrm>
            <a:off x="3364992" y="1325880"/>
            <a:ext cx="263347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8" name="Text 6"/>
          <p:cNvSpPr txBox="1"/>
          <p:nvPr/>
        </p:nvSpPr>
        <p:spPr>
          <a:xfrm>
            <a:off x="3593592" y="1463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chemeClr val="accent3"/>
                </a:solidFill>
              </a:rPr>
              <a:t>IR-2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593592" y="1737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Gate did not alert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93592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SNS failed or workflow skipped</a:t>
            </a:r>
            <a:endParaRPr lang="en-US" sz="1300" dirty="0"/>
          </a:p>
        </p:txBody>
      </p:sp>
      <p:sp>
        <p:nvSpPr>
          <p:cNvPr id="11" name="scenario IR-3"/>
          <p:cNvSpPr/>
          <p:nvPr/>
        </p:nvSpPr>
        <p:spPr>
          <a:xfrm>
            <a:off x="6181344" y="1325880"/>
            <a:ext cx="263347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2" name="Text 10"/>
          <p:cNvSpPr txBox="1"/>
          <p:nvPr/>
        </p:nvSpPr>
        <p:spPr>
          <a:xfrm>
            <a:off x="6409944" y="1463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chemeClr val="accent3"/>
                </a:solidFill>
              </a:rPr>
              <a:t>IR-3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9944" y="1737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Access control failed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9944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Analyst saw another tenant or a PII column</a:t>
            </a:r>
            <a:endParaRPr lang="en-US" sz="1300" dirty="0"/>
          </a:p>
        </p:txBody>
      </p:sp>
      <p:sp>
        <p:nvSpPr>
          <p:cNvPr id="15" name="scenario IR-4"/>
          <p:cNvSpPr/>
          <p:nvPr/>
        </p:nvSpPr>
        <p:spPr>
          <a:xfrm>
            <a:off x="8997696" y="1325880"/>
            <a:ext cx="263347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 txBox="1"/>
          <p:nvPr/>
        </p:nvSpPr>
        <p:spPr>
          <a:xfrm>
            <a:off x="9226296" y="1463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chemeClr val="accent3"/>
                </a:solidFill>
              </a:rPr>
              <a:t>IR-4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226296" y="1737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Security setting changed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26296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Bucket or key policy altered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29184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 txBox="1"/>
          <p:nvPr/>
        </p:nvSpPr>
        <p:spPr>
          <a:xfrm>
            <a:off x="54864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143000" y="3543300"/>
            <a:ext cx="1188720" cy="0"/>
          </a:xfrm>
          <a:prstGeom prst="line">
            <a:avLst/>
          </a:prstGeom>
          <a:noFill/>
          <a:ln w="19050">
            <a:solidFill>
              <a:srgbClr val="C9D3DF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Text 20"/>
          <p:cNvSpPr txBox="1"/>
          <p:nvPr/>
        </p:nvSpPr>
        <p:spPr>
          <a:xfrm>
            <a:off x="548640" y="3931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Detect and triage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480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0 to 30 min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006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Log it, set severity, find tenant and objects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423160" y="329184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6" name="Text 24"/>
          <p:cNvSpPr txBox="1"/>
          <p:nvPr/>
        </p:nvSpPr>
        <p:spPr>
          <a:xfrm>
            <a:off x="242316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017520" y="3543300"/>
            <a:ext cx="1188720" cy="0"/>
          </a:xfrm>
          <a:prstGeom prst="line">
            <a:avLst/>
          </a:prstGeom>
          <a:noFill/>
          <a:ln w="19050">
            <a:solidFill>
              <a:srgbClr val="C9D3DF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8" name="Text 26"/>
          <p:cNvSpPr txBox="1"/>
          <p:nvPr/>
        </p:nvSpPr>
        <p:spPr>
          <a:xfrm>
            <a:off x="2423160" y="3931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Contain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423160" y="4480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30 to 60 min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2423160" y="48006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Move to quarantine, cut access, pause the gate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297680" y="329184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2" name="Text 30"/>
          <p:cNvSpPr txBox="1"/>
          <p:nvPr/>
        </p:nvSpPr>
        <p:spPr>
          <a:xfrm>
            <a:off x="429768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892040" y="3543300"/>
            <a:ext cx="1188720" cy="0"/>
          </a:xfrm>
          <a:prstGeom prst="line">
            <a:avLst/>
          </a:prstGeom>
          <a:noFill/>
          <a:ln w="19050">
            <a:solidFill>
              <a:srgbClr val="C9D3DF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4" name="Text 32"/>
          <p:cNvSpPr txBox="1"/>
          <p:nvPr/>
        </p:nvSpPr>
        <p:spPr>
          <a:xfrm>
            <a:off x="4297680" y="3931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Investigate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297680" y="4480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Same day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297680" y="48006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Audit Q1, Q2, Q3: who saw it, who changed it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172200" y="329184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8" name="Text 36"/>
          <p:cNvSpPr txBox="1"/>
          <p:nvPr/>
        </p:nvSpPr>
        <p:spPr>
          <a:xfrm>
            <a:off x="617220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766560" y="3543300"/>
            <a:ext cx="1188720" cy="0"/>
          </a:xfrm>
          <a:prstGeom prst="line">
            <a:avLst/>
          </a:prstGeom>
          <a:noFill/>
          <a:ln w="19050">
            <a:solidFill>
              <a:srgbClr val="C9D3DF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0" name="Text 38"/>
          <p:cNvSpPr txBox="1"/>
          <p:nvPr/>
        </p:nvSpPr>
        <p:spPr>
          <a:xfrm>
            <a:off x="6172200" y="3931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Eradicate and recover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6172200" y="4480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 to 3 days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6172200" y="48006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Add the pattern, retest to 100% recall, redeploy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29184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4" name="Text 42"/>
          <p:cNvSpPr txBox="1"/>
          <p:nvPr/>
        </p:nvSpPr>
        <p:spPr>
          <a:xfrm>
            <a:off x="804672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8641080" y="3543300"/>
            <a:ext cx="1188720" cy="0"/>
          </a:xfrm>
          <a:prstGeom prst="line">
            <a:avLst/>
          </a:prstGeom>
          <a:noFill/>
          <a:ln w="19050">
            <a:solidFill>
              <a:srgbClr val="C9D3DF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6" name="Text 44"/>
          <p:cNvSpPr txBox="1"/>
          <p:nvPr/>
        </p:nvSpPr>
        <p:spPr>
          <a:xfrm>
            <a:off x="8046720" y="3931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Notify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8046720" y="4480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As soon as feasible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8046720" y="48006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RROSH test, OPC report, clinic, 24 month record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921240" y="329184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0" name="Text 48"/>
          <p:cNvSpPr txBox="1"/>
          <p:nvPr/>
        </p:nvSpPr>
        <p:spPr>
          <a:xfrm>
            <a:off x="992124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9921240" y="3931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Review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9921240" y="4480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Within 1 week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9921240" y="48006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Blameless write up, regression test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Full runbook with SQL for each phase: docs/incident-response-runbook.md</a:t>
            </a:r>
            <a:endParaRPr lang="en-US" sz="1100" dirty="0"/>
          </a:p>
        </p:txBody>
      </p:sp>
      <p:sp>
        <p:nvSpPr>
          <p:cNvPr id="5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Lessons learned and future work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chemeClr val="tx2"/>
                </a:solidFill>
              </a:rPr>
              <a:t>LESSONS LEARNED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1907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Enable CloudTrail first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574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It only records from the moment it is 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9" name="Text 7"/>
          <p:cNvSpPr txBox="1"/>
          <p:nvPr/>
        </p:nvSpPr>
        <p:spPr>
          <a:xfrm>
            <a:off x="5486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77063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Verify every console default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1089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Rotation was off; the bucket form picked DSSE KMS and versioning.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3" name="Text 11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82219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Check that a test fails for the right reason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1605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Our first SSE-S3 upload succeeded because the override was never applied.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89204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7" name="Text 15"/>
          <p:cNvSpPr txBox="1"/>
          <p:nvPr/>
        </p:nvSpPr>
        <p:spPr>
          <a:xfrm>
            <a:off x="54864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87375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Conventions are not controls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52120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Files once landed in curated by mistake. Zones need policy and the gate.</a:t>
            </a:r>
            <a:endParaRPr lang="en-US" sz="1300" dirty="0"/>
          </a:p>
        </p:txBody>
      </p:sp>
      <p:sp>
        <p:nvSpPr>
          <p:cNvPr id="20" name="future work"/>
          <p:cNvSpPr/>
          <p:nvPr/>
        </p:nvSpPr>
        <p:spPr>
          <a:xfrm>
            <a:off x="6766560" y="1325880"/>
            <a:ext cx="4846320" cy="4617720"/>
          </a:xfrm>
          <a:prstGeom prst="roundRect">
            <a:avLst>
              <a:gd name="adj" fmla="val 158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1" name="Text 19"/>
          <p:cNvSpPr txBox="1"/>
          <p:nvPr/>
        </p:nvSpPr>
        <p:spPr>
          <a:xfrm>
            <a:off x="7040880" y="1554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chemeClr val="tx2"/>
                </a:solidFill>
              </a:rPr>
              <a:t>FUTURE WORK</a:t>
            </a:r>
            <a:endParaRPr lang="en-US" sz="1300" dirty="0"/>
          </a:p>
        </p:txBody>
      </p:sp>
      <p:sp>
        <p:nvSpPr>
          <p:cNvPr id="22" name="future 1 circle"/>
          <p:cNvSpPr/>
          <p:nvPr/>
        </p:nvSpPr>
        <p:spPr>
          <a:xfrm>
            <a:off x="7040880" y="20116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23" name="future 1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6610" y="2137410"/>
            <a:ext cx="251460" cy="2514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7726680" y="2011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Lake Formation filters and per role IAM in a full account</a:t>
            </a:r>
            <a:endParaRPr lang="en-US" sz="1400" dirty="0"/>
          </a:p>
        </p:txBody>
      </p:sp>
      <p:sp>
        <p:nvSpPr>
          <p:cNvPr id="25" name="future 2 circle"/>
          <p:cNvSpPr/>
          <p:nvPr/>
        </p:nvSpPr>
        <p:spPr>
          <a:xfrm>
            <a:off x="7040880" y="2770632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26" name="future 2 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6610" y="2896362"/>
            <a:ext cx="251460" cy="25146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7726680" y="277063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Amazon Macie discovery, reconciled with the regex gate</a:t>
            </a:r>
            <a:endParaRPr lang="en-US" sz="1400" dirty="0"/>
          </a:p>
        </p:txBody>
      </p:sp>
      <p:sp>
        <p:nvSpPr>
          <p:cNvPr id="28" name="future 3 circle"/>
          <p:cNvSpPr/>
          <p:nvPr/>
        </p:nvSpPr>
        <p:spPr>
          <a:xfrm>
            <a:off x="7040880" y="3529584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29" name="future 3 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6610" y="3655314"/>
            <a:ext cx="251460" cy="25146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7726680" y="3529584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CloudWatch alarms on gate failures and AccessDenied spikes</a:t>
            </a:r>
            <a:endParaRPr lang="en-US" sz="1400" dirty="0"/>
          </a:p>
        </p:txBody>
      </p:sp>
      <p:sp>
        <p:nvSpPr>
          <p:cNvPr id="31" name="future 4 circle"/>
          <p:cNvSpPr/>
          <p:nvPr/>
        </p:nvSpPr>
        <p:spPr>
          <a:xfrm>
            <a:off x="7040880" y="4288536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32" name="future 4 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6610" y="4414266"/>
            <a:ext cx="251460" cy="251460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7726680" y="428853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Partial masking of health card numbers for corporate analysts</a:t>
            </a:r>
            <a:endParaRPr lang="en-US" sz="1400" dirty="0"/>
          </a:p>
        </p:txBody>
      </p:sp>
      <p:sp>
        <p:nvSpPr>
          <p:cNvPr id="34" name="future 5 circle"/>
          <p:cNvSpPr/>
          <p:nvPr/>
        </p:nvSpPr>
        <p:spPr>
          <a:xfrm>
            <a:off x="7040880" y="504748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35" name="future 5 icon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6610" y="5173218"/>
            <a:ext cx="251460" cy="25146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7726680" y="504748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S3 lifecycle rules for retention and deletion</a:t>
            </a:r>
            <a:endParaRPr lang="en-US" sz="14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</a:rPr>
              <a:t>Guardrails built, and proven to hold</a:t>
            </a:r>
            <a:endParaRPr lang="en-US" sz="4000" dirty="0"/>
          </a:p>
        </p:txBody>
      </p:sp>
      <p:sp>
        <p:nvSpPr>
          <p:cNvPr id="3" name="result 1"/>
          <p:cNvSpPr/>
          <p:nvPr/>
        </p:nvSpPr>
        <p:spPr>
          <a:xfrm>
            <a:off x="731520" y="201168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1E3254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" name="Text 2"/>
          <p:cNvSpPr txBox="1"/>
          <p:nvPr/>
        </p:nvSpPr>
        <p:spPr>
          <a:xfrm>
            <a:off x="960120" y="21945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Enforced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9718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encryption with a customer managed key</a:t>
            </a:r>
            <a:endParaRPr lang="en-US" sz="1400" dirty="0"/>
          </a:p>
        </p:txBody>
      </p:sp>
      <p:sp>
        <p:nvSpPr>
          <p:cNvPr id="6" name="result 2"/>
          <p:cNvSpPr/>
          <p:nvPr/>
        </p:nvSpPr>
        <p:spPr>
          <a:xfrm>
            <a:off x="3474720" y="201168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1E3254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 txBox="1"/>
          <p:nvPr/>
        </p:nvSpPr>
        <p:spPr>
          <a:xfrm>
            <a:off x="3703320" y="21945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14 / 14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703320" y="29718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PII rows blocked, with masked alerts</a:t>
            </a:r>
            <a:endParaRPr lang="en-US" sz="1400" dirty="0"/>
          </a:p>
        </p:txBody>
      </p:sp>
      <p:sp>
        <p:nvSpPr>
          <p:cNvPr id="9" name="result 3"/>
          <p:cNvSpPr/>
          <p:nvPr/>
        </p:nvSpPr>
        <p:spPr>
          <a:xfrm>
            <a:off x="6217920" y="201168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1E3254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0" name="Text 8"/>
          <p:cNvSpPr txBox="1"/>
          <p:nvPr/>
        </p:nvSpPr>
        <p:spPr>
          <a:xfrm>
            <a:off x="6446520" y="21945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7 / 7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9718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access separation tests passed</a:t>
            </a:r>
            <a:endParaRPr lang="en-US" sz="1400" dirty="0"/>
          </a:p>
        </p:txBody>
      </p:sp>
      <p:sp>
        <p:nvSpPr>
          <p:cNvPr id="12" name="result 4"/>
          <p:cNvSpPr/>
          <p:nvPr/>
        </p:nvSpPr>
        <p:spPr>
          <a:xfrm>
            <a:off x="8961120" y="201168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1E3254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3" name="Text 11"/>
          <p:cNvSpPr txBox="1"/>
          <p:nvPr/>
        </p:nvSpPr>
        <p:spPr>
          <a:xfrm>
            <a:off x="9189720" y="21945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3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9189720" y="29718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audit questions answered from CloudTrail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4805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bg1"/>
                </a:solidFill>
              </a:rPr>
              <a:t>Thank you. Questions?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60350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C"/>
                </a:solidFill>
              </a:rPr>
              <a:t>Qawiyy A. Rabiu (N10038749)  ·  Saheedat O. Abbas (N10038753)  ·  Group 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rrowick SecureVault">
  <a:themeElements>
    <a:clrScheme name="Marrowick SecureVault">
      <a:dk1>
        <a:srgbClr val="13213C"/>
      </a:dk1>
      <a:lt1>
        <a:srgbClr val="FFFFFF"/>
      </a:lt1>
      <a:dk2>
        <a:srgbClr val="1D6F8A"/>
      </a:dk2>
      <a:lt2>
        <a:srgbClr val="F3F5F8"/>
      </a:lt2>
      <a:accent1>
        <a:srgbClr val="E8912D"/>
      </a:accent1>
      <a:accent2>
        <a:srgbClr val="1D6F8A"/>
      </a:accent2>
      <a:accent3>
        <a:srgbClr val="B03A2E"/>
      </a:accent3>
      <a:accent4>
        <a:srgbClr val="2E7D4F"/>
      </a:accent4>
      <a:accent5>
        <a:srgbClr val="5B6B82"/>
      </a:accent5>
      <a:accent6>
        <a:srgbClr val="E3E9F0"/>
      </a:accent6>
      <a:hlink>
        <a:srgbClr val="1D6F8A"/>
      </a:hlink>
      <a:folHlink>
        <a:srgbClr val="5B6B82"/>
      </a:folHlink>
    </a:clrScheme>
    <a:fontScheme name="Marrowick SecureVaul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1917</Words>
  <Application>Microsoft Office PowerPoint</Application>
  <PresentationFormat>Widescreen</PresentationFormat>
  <Paragraphs>353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Marrowick SecureVault</vt:lpstr>
      <vt:lpstr>PowerPoint Presentation</vt:lpstr>
      <vt:lpstr>Meet Group H</vt:lpstr>
      <vt:lpstr>Agenda</vt:lpstr>
      <vt:lpstr>Problem statement</vt:lpstr>
      <vt:lpstr>Objectives and success criteria</vt:lpstr>
      <vt:lpstr>How the platform works</vt:lpstr>
      <vt:lpstr>Encryption that is enforced, not just enabled</vt:lpstr>
      <vt:lpstr>Live: the PII gate blocks a bad batch</vt:lpstr>
      <vt:lpstr>PII gate results: 14 of 14 caught, zero false alarms</vt:lpstr>
      <vt:lpstr>Each analyst sees only what their role allows</vt:lpstr>
      <vt:lpstr>Every access leaves an auditable trail</vt:lpstr>
      <vt:lpstr>What the lab blocked, and what we did instead</vt:lpstr>
      <vt:lpstr>Controls mapped to PIPEDA principles</vt:lpstr>
      <vt:lpstr>If a control fails: the incident response runbook</vt:lpstr>
      <vt:lpstr>Lessons learned and future work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Marrowick SecureVault, Group H</dc:title>
  <dc:subject>PptxGenJS Presentation</dc:subject>
  <dc:creator>Qawiyy A. Rabiu and Saheedat O. Abbas</dc:creator>
  <cp:lastModifiedBy>Qawiyy Rabiu</cp:lastModifiedBy>
  <cp:revision>3</cp:revision>
  <dcterms:created xsi:type="dcterms:W3CDTF">2026-10-22T20:55:14Z</dcterms:created>
  <dcterms:modified xsi:type="dcterms:W3CDTF">2026-10-24T02:45:52Z</dcterms:modified>
</cp:coreProperties>
</file>